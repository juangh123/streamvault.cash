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824e96efdc34a52" /><Relationship Type="http://schemas.openxmlformats.org/officeDocument/2006/relationships/extended-properties" Target="/docProps/app.xml" Id="R6689c2ea1aa344ee" /><Relationship Type="http://schemas.openxmlformats.org/officeDocument/2006/relationships/officeDocument" Target="/ppt/presentation.xml" Id="Rffa91437f1cc446c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db5bf9798004782"/>
  </p:sldMasterIdLst>
  <p:notesMasterIdLst>
    <p:notesMasterId xmlns:r="http://schemas.openxmlformats.org/officeDocument/2006/relationships" r:id="R8faed92699114dce"/>
  </p:notesMasterIdLst>
  <p:sldIdLst>
    <p:sldId xmlns:r="http://schemas.openxmlformats.org/officeDocument/2006/relationships" id="256" r:id="Rd7ca576529844da1"/>
    <p:sldId xmlns:r="http://schemas.openxmlformats.org/officeDocument/2006/relationships" id="257" r:id="R68faaaf0b75f40c1"/>
    <p:sldId xmlns:r="http://schemas.openxmlformats.org/officeDocument/2006/relationships" id="258" r:id="Raf6724a90d614b59"/>
    <p:sldId xmlns:r="http://schemas.openxmlformats.org/officeDocument/2006/relationships" id="259" r:id="R923dee0259674c39"/>
    <p:sldId xmlns:r="http://schemas.openxmlformats.org/officeDocument/2006/relationships" id="260" r:id="R7917ffe94a374d00"/>
    <p:sldId xmlns:r="http://schemas.openxmlformats.org/officeDocument/2006/relationships" id="261" r:id="Reffdd5f489f94d3e"/>
    <p:sldId xmlns:r="http://schemas.openxmlformats.org/officeDocument/2006/relationships" id="262" r:id="Ra47589bbf78e46d9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e97441838314b0f" /><Relationship Type="http://schemas.openxmlformats.org/officeDocument/2006/relationships/slideMaster" Target="/ppt/slideMasters/slideMaster1.xml" Id="R2db5bf9798004782" /><Relationship Type="http://schemas.openxmlformats.org/officeDocument/2006/relationships/notesMaster" Target="/ppt/notesMasters/notesMaster1.xml" Id="R8faed92699114dce" /><Relationship Type="http://schemas.openxmlformats.org/officeDocument/2006/relationships/presProps" Target="/ppt/presProps.xml" Id="R04a09ffa6a264cf9" /><Relationship Type="http://schemas.openxmlformats.org/officeDocument/2006/relationships/tableStyles" Target="/ppt/tableStyles.xml" Id="Rc57c6688fe75490b" /><Relationship Type="http://schemas.openxmlformats.org/officeDocument/2006/relationships/slide" Target="/ppt/slides/slide1.xml" Id="Rd7ca576529844da1" /><Relationship Type="http://schemas.openxmlformats.org/officeDocument/2006/relationships/slide" Target="/ppt/slides/slide2.xml" Id="R68faaaf0b75f40c1" /><Relationship Type="http://schemas.openxmlformats.org/officeDocument/2006/relationships/slide" Target="/ppt/slides/slide3.xml" Id="Raf6724a90d614b59" /><Relationship Type="http://schemas.openxmlformats.org/officeDocument/2006/relationships/slide" Target="/ppt/slides/slide4.xml" Id="R923dee0259674c39" /><Relationship Type="http://schemas.openxmlformats.org/officeDocument/2006/relationships/slide" Target="/ppt/slides/slide5.xml" Id="R7917ffe94a374d00" /><Relationship Type="http://schemas.openxmlformats.org/officeDocument/2006/relationships/slide" Target="/ppt/slides/slide6.xml" Id="Reffdd5f489f94d3e" /><Relationship Type="http://schemas.openxmlformats.org/officeDocument/2006/relationships/slide" Target="/ppt/slides/slide7.xml" Id="Ra47589bbf78e46d9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e3a1a7570034e85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90733b3d7894d79" /><Relationship Type="http://schemas.openxmlformats.org/officeDocument/2006/relationships/notesMaster" Target="/ppt/notesMasters/notesMaster1.xml" Id="R3ef8b3e594dc4681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817ba00780c246b8" /><Relationship Type="http://schemas.openxmlformats.org/officeDocument/2006/relationships/notesMaster" Target="/ppt/notesMasters/notesMaster1.xml" Id="R54828f73e178430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2d7549fe05a04a6c" /><Relationship Type="http://schemas.openxmlformats.org/officeDocument/2006/relationships/notesMaster" Target="/ppt/notesMasters/notesMaster1.xml" Id="Rf4476f39e332477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fd4e47121ff4b2d" /><Relationship Type="http://schemas.openxmlformats.org/officeDocument/2006/relationships/notesMaster" Target="/ppt/notesMasters/notesMaster1.xml" Id="R313e75baef5245f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0904a14407ae4861" /><Relationship Type="http://schemas.openxmlformats.org/officeDocument/2006/relationships/notesMaster" Target="/ppt/notesMasters/notesMaster1.xml" Id="R1b44bce640944e94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b4912b11b0b4f72" /><Relationship Type="http://schemas.openxmlformats.org/officeDocument/2006/relationships/notesMaster" Target="/ppt/notesMasters/notesMaster1.xml" Id="Rceddc54a61094d1e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9e808c2d40b45af" /><Relationship Type="http://schemas.openxmlformats.org/officeDocument/2006/relationships/notesMaster" Target="/ppt/notesMasters/notesMaster1.xml" Id="R452149d73a044411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7ea95fc4c82482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0c855c6b49445b5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4f28c48cf334c25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5d8e54f5e44b6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b59872a5efa455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8cc5f6e980646a8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69393EFC-6E06-44CA-8C72-C9C046D12C0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4A41C8C5-1808-4306-A79D-3212E84D6207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A8F814ED-C266-496B-8B85-0A2A423B621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A0CEC8F-BC3D-4FE7-B271-711D5CA6A45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FD24280C-DC52-4B5D-A439-DEB96FB1A6B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55B6FDB4-F1A0-458E-8321-07510FABFC3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66EA58E2-D1DC-471A-8730-C3E3395DB00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3617AA9E-1D71-4A0E-BF72-63111A284F2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3AD2C2A4-0AC3-4263-821D-2F847A78EE4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3369494-BF78-4ADB-95BE-7204F2E8618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d270ba735934a3c" /><Relationship Type="http://schemas.openxmlformats.org/officeDocument/2006/relationships/slideLayout" Target="/ppt/slideLayouts/slideLayout1.xml" Id="R4b141b26b2aa44d9" /><Relationship Type="http://schemas.openxmlformats.org/officeDocument/2006/relationships/slideLayout" Target="/ppt/slideLayouts/slideLayout2.xml" Id="R96122bd521b14dd3" /><Relationship Type="http://schemas.openxmlformats.org/officeDocument/2006/relationships/slideLayout" Target="/ppt/slideLayouts/slideLayout3.xml" Id="Rc212eb71af804c03" /><Relationship Type="http://schemas.openxmlformats.org/officeDocument/2006/relationships/slideLayout" Target="/ppt/slideLayouts/slideLayout4.xml" Id="R54bb3a7fd05e46ee" /><Relationship Type="http://schemas.openxmlformats.org/officeDocument/2006/relationships/slideLayout" Target="/ppt/slideLayouts/slideLayout5.xml" Id="R6043162ca53740d9" /><Relationship Type="http://schemas.openxmlformats.org/officeDocument/2006/relationships/slideLayout" Target="/ppt/slideLayouts/slideLayout6.xml" Id="R4c628ed6af2641b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b141b26b2aa44d9"/>
    <p:sldLayoutId xmlns:r="http://schemas.openxmlformats.org/officeDocument/2006/relationships" id="2147483650" r:id="R96122bd521b14dd3"/>
    <p:sldLayoutId xmlns:r="http://schemas.openxmlformats.org/officeDocument/2006/relationships" id="2147483651" r:id="Rc212eb71af804c03"/>
    <p:sldLayoutId xmlns:r="http://schemas.openxmlformats.org/officeDocument/2006/relationships" id="2147483652" r:id="R54bb3a7fd05e46ee"/>
    <p:sldLayoutId xmlns:r="http://schemas.openxmlformats.org/officeDocument/2006/relationships" id="2147483653" r:id="R6043162ca53740d9"/>
    <p:sldLayoutId xmlns:r="http://schemas.openxmlformats.org/officeDocument/2006/relationships" id="2147483654" r:id="R4c628ed6af2641b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444111495294a2d" /><Relationship Type="http://schemas.openxmlformats.org/officeDocument/2006/relationships/notesSlide" Target="/ppt/notesSlides/notesSlide1.xml" Id="Rf5106c76b97a417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a50e9cfdd2c4e96" /><Relationship Type="http://schemas.openxmlformats.org/officeDocument/2006/relationships/notesSlide" Target="/ppt/notesSlides/notesSlide2.xml" Id="R82839d6537eb4417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9e70f5e9f8541a9" /><Relationship Type="http://schemas.openxmlformats.org/officeDocument/2006/relationships/notesSlide" Target="/ppt/notesSlides/notesSlide3.xml" Id="R355d263e220c42b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325d338d70842b0" /><Relationship Type="http://schemas.openxmlformats.org/officeDocument/2006/relationships/notesSlide" Target="/ppt/notesSlides/notesSlide4.xml" Id="R713e7dcb07c34f32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60951d658614b77" /><Relationship Type="http://schemas.openxmlformats.org/officeDocument/2006/relationships/notesSlide" Target="/ppt/notesSlides/notesSlide5.xml" Id="Rfcdbb8f69e2341f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ed6bb25fb8d436e" /><Relationship Type="http://schemas.openxmlformats.org/officeDocument/2006/relationships/notesSlide" Target="/ppt/notesSlides/notesSlide6.xml" Id="Ra82661c7c5e741e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265a0b5fc904e87" /><Relationship Type="http://schemas.openxmlformats.org/officeDocument/2006/relationships/notesSlide" Target="/ppt/notesSlides/notesSlide7.xml" Id="Rf84b7e49606d4781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A0F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7BDEBD8-7C8A-49C0-8302-5686A8F03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57250"/>
            <a:ext cx="857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1">
                <a:solidFill>
                  <a:srgbClr val="0AC18E"/>
                </a:solidFill>
              </a:defRPr>
            </a:defPPr>
          </a:lstStyle>
          <a:p xmlns:a="http://schemas.openxmlformats.org/drawingml/2006/main">
            <a:pPr>
              <a:defRPr sz="1050" b="1">
                <a:solidFill>
                  <a:srgbClr val="0AC18E"/>
                </a:solidFill>
              </a:defRPr>
            </a:pPr>
            <a:r>
              <a:rPr sz="1050" b="1">
                <a:solidFill>
                  <a:srgbClr val="0AC18E"/>
                </a:solidFill>
              </a:rPr>
              <a:t>BCH BLAZE 2026  ·  MAINNET + MEDIA TRACK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47F4EF4-9325-4153-B716-F1D00A830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9525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5400" b="1">
                <a:solidFill>
                  <a:srgbClr val="F1F5F9"/>
                </a:solidFill>
              </a:defRPr>
            </a:defPPr>
          </a:lstStyle>
          <a:p xmlns:a="http://schemas.openxmlformats.org/drawingml/2006/main">
            <a:pPr>
              <a:defRPr sz="5400" b="1">
                <a:solidFill>
                  <a:srgbClr val="F1F5F9"/>
                </a:solidFill>
              </a:defRPr>
            </a:pPr>
            <a:r>
              <a:rPr sz="5400" b="1">
                <a:solidFill>
                  <a:srgbClr val="F1F5F9"/>
                </a:solidFill>
              </a:rPr>
              <a:t>StreamVault.cash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2445DD-FEE0-4BAF-B0C4-2ADF297704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62250"/>
            <a:ext cx="9525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94A3B8"/>
                </a:solidFill>
              </a:defRPr>
            </a:pPr>
            <a:r>
              <a:rPr sz="1800" b="0">
                <a:solidFill>
                  <a:srgbClr val="94A3B8"/>
                </a:solidFill>
              </a:rPr>
              <a:t>Non-custodial PUSD streaming payroll &amp; subscription vault on Bitcoin Cash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7340FE-8AC5-4867-A245-B2618FAFA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952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94A3B8"/>
                </a:solidFill>
              </a:defRPr>
            </a:pPr>
            <a:r>
              <a:rPr sz="1200" b="0">
                <a:solidFill>
                  <a:srgbClr val="94A3B8"/>
                </a:solidFill>
              </a:rPr>
              <a:t>Team Autonomous Cash  ·  streamvault.cash  ·  @StreamVaultCash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060BF7-828F-4B5E-804D-C7E494001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381250"/>
            <a:ext cx="3048000" cy="2095500"/>
          </a:xfrm>
          <a:prstGeom xmlns:a="http://schemas.openxmlformats.org/drawingml/2006/main" prst="roundRect">
            <a:avLst>
              <a:gd name="adj" fmla="val 5455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34E4A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131686E-B919-4FC2-AE14-E5E5EE714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2667000"/>
            <a:ext cx="2476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0AC18E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0AC18E"/>
                </a:solidFill>
              </a:defRPr>
            </a:pPr>
            <a:r>
              <a:rPr sz="975" b="1">
                <a:solidFill>
                  <a:srgbClr val="0AC18E"/>
                </a:solidFill>
              </a:rPr>
              <a:t>VAULT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714665-0499-43FC-93F1-E0FDD895E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F1F5F9"/>
                </a:solidFill>
              </a:defRPr>
            </a:defPPr>
          </a:lstStyle>
          <a:p xmlns:a="http://schemas.openxmlformats.org/drawingml/2006/main">
            <a:pPr>
              <a:defRPr sz="2550" b="1">
                <a:solidFill>
                  <a:srgbClr val="F1F5F9"/>
                </a:solidFill>
              </a:defRPr>
            </a:pPr>
            <a:r>
              <a:rPr sz="2550" b="1">
                <a:solidFill>
                  <a:srgbClr val="F1F5F9"/>
                </a:solidFill>
              </a:rPr>
              <a:t>$1,000.00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A4396BC-A570-40D7-A50C-2EF34FB17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5052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94A3B8"/>
                </a:solidFill>
              </a:defRPr>
            </a:pPr>
            <a:r>
              <a:rPr sz="975" b="0">
                <a:solidFill>
                  <a:srgbClr val="94A3B8"/>
                </a:solidFill>
              </a:rPr>
              <a:t>PUSD locked in covenant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0CC2F34-66C0-427C-88AF-A10C49A81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38481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0">
                <a:solidFill>
                  <a:srgbClr val="818CF8"/>
                </a:solidFill>
              </a:defRPr>
            </a:defPPr>
          </a:lstStyle>
          <a:p xmlns:a="http://schemas.openxmlformats.org/drawingml/2006/main">
            <a:pPr>
              <a:defRPr sz="975" b="0">
                <a:solidFill>
                  <a:srgbClr val="818CF8"/>
                </a:solidFill>
              </a:defRPr>
            </a:pPr>
            <a:r>
              <a:rPr sz="975" b="0">
                <a:solidFill>
                  <a:srgbClr val="818CF8"/>
                </a:solidFill>
              </a:rPr>
              <a:t>$25.00 / period  ·  cancellable</a:t>
            </a:r>
          </a:p>
        </p:txBody>
      </p:sp>
    </p:spTree>
    <p:extLst>
      <p:ext uri="{BB962C8B-B14F-4D97-AF65-F5344CB8AC3E}">
        <p14:creationId xmlns:p14="http://schemas.microsoft.com/office/powerpoint/2010/main" val="130341772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A0F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4D9E03-DBD7-4726-BE05-870F17CD4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0AC18E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0AC18E"/>
                </a:solidFill>
              </a:defRPr>
            </a:pPr>
            <a:r>
              <a:rPr sz="975" b="1">
                <a:solidFill>
                  <a:srgbClr val="0AC18E"/>
                </a:solidFill>
              </a:rPr>
              <a:t>ONE-LINER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F11312-A7BE-4C49-B6EA-CD5772DAA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1047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F1F5F9"/>
                </a:solidFill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F1F5F9"/>
                </a:solidFill>
              </a:defRPr>
            </a:pPr>
            <a:r>
              <a:rPr sz="2250" b="1">
                <a:solidFill>
                  <a:srgbClr val="F1F5F9"/>
                </a:solidFill>
              </a:rPr>
              <a:t>Programmable BCH money streams that pay themselves - capped on-chain, cancellable by the payer, settled in a stablecoin.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FBFEB38-8D53-41A0-B082-BA6A9F329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32385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21E312B-647F-4A29-9A79-CD13931E4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12420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0AC18E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0AC18E"/>
                </a:solidFill>
              </a:defRPr>
            </a:pPr>
            <a:r>
              <a:rPr sz="1500" b="1">
                <a:solidFill>
                  <a:srgbClr val="0AC18E"/>
                </a:solidFill>
              </a:rPr>
              <a:t>Non-custodial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053EFA-E6CE-42F5-ADE7-5B20EA4966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486150"/>
            <a:ext cx="27813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94A3B8"/>
                </a:solidFill>
              </a:defRPr>
            </a:pPr>
            <a:r>
              <a:rPr sz="1125" b="0">
                <a:solidFill>
                  <a:srgbClr val="94A3B8"/>
                </a:solidFill>
              </a:rPr>
              <a:t>Payer keeps the claw-back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24327C-6E45-4635-82D4-E93871A8C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2857500"/>
            <a:ext cx="32385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B58F94-E097-4BD6-913D-FE04F6A3F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12420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818CF8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818CF8"/>
                </a:solidFill>
              </a:defRPr>
            </a:pPr>
            <a:r>
              <a:rPr sz="1500" b="1">
                <a:solidFill>
                  <a:srgbClr val="818CF8"/>
                </a:solidFill>
              </a:rPr>
              <a:t>PUSD settlement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716BF5-2224-4C1C-83CE-72B4D4D8ED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3900" y="3486150"/>
            <a:ext cx="27813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94A3B8"/>
                </a:solidFill>
              </a:defRPr>
            </a:pPr>
            <a:r>
              <a:rPr sz="1125" b="0">
                <a:solidFill>
                  <a:srgbClr val="94A3B8"/>
                </a:solidFill>
              </a:rPr>
              <a:t>USD-pegged CashToken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FA50143-E7BC-4186-B4C3-FD13D1FDA3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24800" y="2857500"/>
            <a:ext cx="3238500" cy="1524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59EF8F5-1C8F-4885-A90C-A9ECA772B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124200"/>
            <a:ext cx="27813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FBBF24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FBBF24"/>
                </a:solidFill>
              </a:defRPr>
            </a:pPr>
            <a:r>
              <a:rPr sz="1500" b="1">
                <a:solidFill>
                  <a:srgbClr val="FBBF24"/>
                </a:solidFill>
              </a:rPr>
              <a:t>Hard covenants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291A43-8B92-448A-A6DA-DDD5D01BFD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3486150"/>
            <a:ext cx="27813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94A3B8"/>
                </a:solidFill>
              </a:defRPr>
            </a:pPr>
            <a:r>
              <a:rPr sz="1125" b="0">
                <a:solidFill>
                  <a:srgbClr val="94A3B8"/>
                </a:solidFill>
              </a:rPr>
              <a:t>Recursive change, VM-enforced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530293-DD27-481C-B73E-2A78AE874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0"/>
            <a:ext cx="1047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125" b="0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1125" b="0">
                <a:solidFill>
                  <a:srgbClr val="94A3B8"/>
                </a:solidFill>
              </a:defRPr>
            </a:pPr>
            <a:r>
              <a:rPr sz="1125" b="0">
                <a:solidFill>
                  <a:srgbClr val="94A3B8"/>
                </a:solidFill>
              </a:rPr>
              <a:t>github.com/streamvault/streamvault.cash</a:t>
            </a:r>
          </a:p>
        </p:txBody>
      </p:sp>
    </p:spTree>
    <p:extLst>
      <p:ext uri="{BB962C8B-B14F-4D97-AF65-F5344CB8AC3E}">
        <p14:creationId xmlns:p14="http://schemas.microsoft.com/office/powerpoint/2010/main" val="1422105800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A0F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72C5ABC-CA79-4335-AD7C-E92F9AB51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0AC18E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0AC18E"/>
                </a:solidFill>
              </a:defRPr>
            </a:pPr>
            <a:r>
              <a:rPr sz="975" b="1">
                <a:solidFill>
                  <a:srgbClr val="0AC18E"/>
                </a:solidFill>
              </a:rPr>
              <a:t>THE STORY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11E2E10-1AC0-471D-B6E1-051A26A77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4775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F1F5F9"/>
                </a:solidFill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F1F5F9"/>
                </a:solidFill>
              </a:defRPr>
            </a:pPr>
            <a:r>
              <a:rPr sz="2100" b="1">
                <a:solidFill>
                  <a:srgbClr val="F1F5F9"/>
                </a:solidFill>
              </a:rPr>
              <a:t>Contractors, creators and vendors are paid in lumps - late, custodial, or both.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F18901-BE44-4F1C-B9F2-E10F9C32E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04775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28AD62-1ACA-4855-BBB9-2A060A1BE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24790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FB7185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FB7185"/>
                </a:solidFill>
              </a:defRPr>
            </a:pPr>
            <a:r>
              <a:rPr sz="1500" b="1">
                <a:solidFill>
                  <a:srgbClr val="FB7185"/>
                </a:solidFill>
              </a:rPr>
              <a:t>Cards &amp; mandates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421E58-403C-45DC-8989-8B4767BE66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2305050"/>
            <a:ext cx="609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94A3B8"/>
                </a:solidFill>
              </a:defRPr>
            </a:pPr>
            <a:r>
              <a:rPr sz="1200" b="0">
                <a:solidFill>
                  <a:srgbClr val="94A3B8"/>
                </a:solidFill>
              </a:rPr>
              <a:t>Custodial, reversible, geo-fenced.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56D2653-6F70-4F87-A2F3-C43171829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09900"/>
            <a:ext cx="104775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F8FDA1B-BD5E-4B06-A3F5-907E85A76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16230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FB7185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FB7185"/>
                </a:solidFill>
              </a:defRPr>
            </a:pPr>
            <a:r>
              <a:rPr sz="1500" b="1">
                <a:solidFill>
                  <a:srgbClr val="FB7185"/>
                </a:solidFill>
              </a:rPr>
              <a:t>Lump-sum crypto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69DBD0-E61B-4A2A-8AE8-B81C56DA9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3219450"/>
            <a:ext cx="609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94A3B8"/>
                </a:solidFill>
              </a:defRPr>
            </a:pPr>
            <a:r>
              <a:rPr sz="1200" b="0">
                <a:solidFill>
                  <a:srgbClr val="94A3B8"/>
                </a:solidFill>
              </a:rPr>
              <a:t>No schedule; all-or-nothing.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DDB6BE-2434-43EE-8307-AC26B7500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24300"/>
            <a:ext cx="104775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6E112DE-DE0A-4103-B14F-2C0F5EAE9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76700"/>
            <a:ext cx="3429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FB7185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FB7185"/>
                </a:solidFill>
              </a:defRPr>
            </a:pPr>
            <a:r>
              <a:rPr sz="1500" b="1">
                <a:solidFill>
                  <a:srgbClr val="FB7185"/>
                </a:solidFill>
              </a:rPr>
              <a:t>Streaming on EVM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1D9C31A-4B98-4BF3-9167-A2204052B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86300" y="4133850"/>
            <a:ext cx="6096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94A3B8"/>
                </a:solidFill>
              </a:defRPr>
            </a:pPr>
            <a:r>
              <a:rPr sz="1200" b="0">
                <a:solidFill>
                  <a:srgbClr val="94A3B8"/>
                </a:solidFill>
              </a:rPr>
              <a:t>Gas exceeds the tranche.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DC80FB2-84CB-4991-9FF1-28E023870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500" b="1">
                <a:solidFill>
                  <a:srgbClr val="0AC18E"/>
                </a:solidFill>
              </a:defRPr>
            </a:defPPr>
          </a:lstStyle>
          <a:p xmlns:a="http://schemas.openxmlformats.org/drawingml/2006/main">
            <a:pPr>
              <a:defRPr sz="1500" b="1">
                <a:solidFill>
                  <a:srgbClr val="0AC18E"/>
                </a:solidFill>
              </a:defRPr>
            </a:pPr>
            <a:r>
              <a:rPr sz="1500" b="1">
                <a:solidFill>
                  <a:srgbClr val="0AC18E"/>
                </a:solidFill>
              </a:rPr>
              <a:t>BCH: near-zero fees + introspection covenants = the natural rail for programmable streams.</a:t>
            </a:r>
          </a:p>
        </p:txBody>
      </p:sp>
    </p:spTree>
    <p:extLst>
      <p:ext uri="{BB962C8B-B14F-4D97-AF65-F5344CB8AC3E}">
        <p14:creationId xmlns:p14="http://schemas.microsoft.com/office/powerpoint/2010/main" val="640899966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A0F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C74F4E3-BD81-4D68-A953-5E3ED8DC3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0AC18E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0AC18E"/>
                </a:solidFill>
              </a:defRPr>
            </a:pPr>
            <a:r>
              <a:rPr sz="975" b="1">
                <a:solidFill>
                  <a:srgbClr val="0AC18E"/>
                </a:solidFill>
              </a:rPr>
              <a:t>BENEFITS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47B84C-5B53-4651-917E-C7B9828F3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F1F5F9"/>
                </a:solidFill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F1F5F9"/>
                </a:solidFill>
              </a:defRPr>
            </a:pPr>
            <a:r>
              <a:rPr sz="2250" b="1">
                <a:solidFill>
                  <a:srgbClr val="F1F5F9"/>
                </a:solidFill>
              </a:rPr>
              <a:t>One covenant, four wins.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A99AA2-0329-4A7F-A9BC-7B93CE8CF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14500"/>
            <a:ext cx="504825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4CDF45-B9B7-4E84-8521-A80346E12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81200"/>
            <a:ext cx="4514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0AC18E"/>
                </a:solidFill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0AC18E"/>
                </a:solidFill>
              </a:defRPr>
            </a:pPr>
            <a:r>
              <a:rPr sz="1800" b="1">
                <a:solidFill>
                  <a:srgbClr val="0AC18E"/>
                </a:solidFill>
              </a:rPr>
              <a:t>Payees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A68370B-CD89-4A12-8E60-552580FDE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419350"/>
            <a:ext cx="45148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94A3B8"/>
                </a:solidFill>
              </a:defRPr>
            </a:pPr>
            <a:r>
              <a:rPr sz="1275" b="0">
                <a:solidFill>
                  <a:srgbClr val="94A3B8"/>
                </a:solidFill>
              </a:rPr>
              <a:t>Withdraw on schedule - no invoice, no custodian.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1671B6-09A9-42D9-B93E-BDEB8B9EA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1714500"/>
            <a:ext cx="504825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E0B1C6A-20DC-4389-B94C-E1CE4396B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981200"/>
            <a:ext cx="4514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818CF8"/>
                </a:solidFill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818CF8"/>
                </a:solidFill>
              </a:defRPr>
            </a:pPr>
            <a:r>
              <a:rPr sz="1800" b="1">
                <a:solidFill>
                  <a:srgbClr val="818CF8"/>
                </a:solidFill>
              </a:rPr>
              <a:t>Payers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E62731-E418-4058-AEE1-1617C87A5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419350"/>
            <a:ext cx="45148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94A3B8"/>
                </a:solidFill>
              </a:defRPr>
            </a:pPr>
            <a:r>
              <a:rPr sz="1275" b="0">
                <a:solidFill>
                  <a:srgbClr val="94A3B8"/>
                </a:solidFill>
              </a:rPr>
              <a:t>Per-period ceiling; cancel and reclaim anytime.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F6964B-02C4-4426-85C1-F0286E5D8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19500"/>
            <a:ext cx="504825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3C38C5-24EB-4075-9A9C-420405235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886200"/>
            <a:ext cx="4514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FBBF24"/>
                </a:solidFill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FBBF24"/>
                </a:solidFill>
              </a:defRPr>
            </a:pPr>
            <a:r>
              <a:rPr sz="1800" b="1">
                <a:solidFill>
                  <a:srgbClr val="FBBF24"/>
                </a:solidFill>
              </a:rPr>
              <a:t>Stable value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94A71F-DB5C-4D33-A75B-626FAEC13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24350"/>
            <a:ext cx="45148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94A3B8"/>
                </a:solidFill>
              </a:defRPr>
            </a:pPr>
            <a:r>
              <a:rPr sz="1275" b="0">
                <a:solidFill>
                  <a:srgbClr val="94A3B8"/>
                </a:solidFill>
              </a:rPr>
              <a:t>Denominated in PUSD, not a volatile token.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5F0733B-C0E9-4FDD-A959-6AC0247608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3619500"/>
            <a:ext cx="504825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1AA575F-05A1-40DA-A6B4-1ECC7155BE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886200"/>
            <a:ext cx="4514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FB7185"/>
                </a:solidFill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FB7185"/>
                </a:solidFill>
              </a:defRPr>
            </a:pPr>
            <a:r>
              <a:rPr sz="1800" b="1">
                <a:solidFill>
                  <a:srgbClr val="FB7185"/>
                </a:solidFill>
              </a:rPr>
              <a:t>Any wallet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A2337F-306E-409F-8764-6560B5CFA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24350"/>
            <a:ext cx="45148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94A3B8"/>
                </a:solidFill>
              </a:defRPr>
            </a:pPr>
            <a:r>
              <a:rPr sz="1275" b="0">
                <a:solidFill>
                  <a:srgbClr val="94A3B8"/>
                </a:solidFill>
              </a:rPr>
              <a:t>Sign with Selene, Paytaca or Cashonize.</a:t>
            </a:r>
          </a:p>
        </p:txBody>
      </p:sp>
    </p:spTree>
    <p:extLst>
      <p:ext uri="{BB962C8B-B14F-4D97-AF65-F5344CB8AC3E}">
        <p14:creationId xmlns:p14="http://schemas.microsoft.com/office/powerpoint/2010/main" val="179476510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A0F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D52A9B-12F2-49A0-A85A-19683F801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0AC18E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0AC18E"/>
                </a:solidFill>
              </a:defRPr>
            </a:pPr>
            <a:r>
              <a:rPr sz="975" b="1">
                <a:solidFill>
                  <a:srgbClr val="0AC18E"/>
                </a:solidFill>
              </a:rPr>
              <a:t>BCH USAGE - CORE SCORING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86AC64-BF9D-4B4F-972F-AEEB972301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76300"/>
            <a:ext cx="10477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1">
                <a:solidFill>
                  <a:srgbClr val="F1F5F9"/>
                </a:solidFill>
              </a:defRPr>
            </a:defPPr>
          </a:lstStyle>
          <a:p xmlns:a="http://schemas.openxmlformats.org/drawingml/2006/main">
            <a:pPr>
              <a:defRPr sz="1950" b="1">
                <a:solidFill>
                  <a:srgbClr val="F1F5F9"/>
                </a:solidFill>
              </a:defRPr>
            </a:pPr>
            <a:r>
              <a:rPr sz="1950" b="1">
                <a:solidFill>
                  <a:srgbClr val="F1F5F9"/>
                </a:solidFill>
              </a:rPr>
              <a:t>Every rule is enforced by consensus, not by a server.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4BD5EC2-6F5A-4086-AB97-3A69C0EC7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1866900" cy="190500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F074C4-79C9-4668-A8F2-9AE1F98CE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241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0AC18E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0AC18E"/>
                </a:solidFill>
              </a:defRPr>
            </a:pPr>
            <a:r>
              <a:rPr sz="1350" b="1">
                <a:solidFill>
                  <a:srgbClr val="0AC18E"/>
                </a:solidFill>
              </a:rPr>
              <a:t>PUSD token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599AD44-6D6A-4EA7-95BA-F72386CAD9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43200"/>
            <a:ext cx="1524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94A3B8"/>
                </a:solidFill>
              </a:defRPr>
            </a:pPr>
            <a:r>
              <a:rPr sz="1050" b="0">
                <a:solidFill>
                  <a:srgbClr val="94A3B8"/>
                </a:solidFill>
              </a:rPr>
              <a:t>CashTokens category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E7EEBB-51CD-4848-B0F0-52E85AF00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28575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94A3B8"/>
                </a:solidFill>
              </a:defRPr>
            </a:pPr>
            <a:r>
              <a:rPr sz="1650" b="1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4CDB47-9B48-4B8E-9EB9-4F1052EC4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2095500"/>
            <a:ext cx="1866900" cy="190500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423D53A-2F86-4BF2-96EB-82EEFBF2B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3241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818CF8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818CF8"/>
                </a:solidFill>
              </a:defRPr>
            </a:pPr>
            <a:r>
              <a:rPr sz="1350" b="1">
                <a:solidFill>
                  <a:srgbClr val="818CF8"/>
                </a:solidFill>
              </a:rPr>
              <a:t>Covenant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FBFCE1-822E-40C3-86B4-5ABFED4B0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33700" y="2743200"/>
            <a:ext cx="1524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94A3B8"/>
                </a:solidFill>
              </a:defRPr>
            </a:pPr>
            <a:r>
              <a:rPr sz="1050" b="0">
                <a:solidFill>
                  <a:srgbClr val="94A3B8"/>
                </a:solidFill>
              </a:rPr>
              <a:t>amountPerPeriod + periodBlocks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08C4AF2-5E6C-4353-BE81-C6CE45FF74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8575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94A3B8"/>
                </a:solidFill>
              </a:defRPr>
            </a:pPr>
            <a:r>
              <a:rPr sz="1650" b="1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EB6A15E-5581-4F6B-B93E-D899C726B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095500"/>
            <a:ext cx="1866900" cy="190500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8880EE-60A7-45D3-88C6-64E47EEB4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3241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FBBF24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BBF24"/>
                </a:solidFill>
              </a:defRPr>
            </a:pPr>
            <a:r>
              <a:rPr sz="1350" b="1">
                <a:solidFill>
                  <a:srgbClr val="FBBF24"/>
                </a:solidFill>
              </a:rPr>
              <a:t>this.age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F06A914-71D7-4FF7-B006-0427EDE54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10150" y="2743200"/>
            <a:ext cx="1524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94A3B8"/>
                </a:solidFill>
              </a:defRPr>
            </a:pPr>
            <a:r>
              <a:rPr sz="1050" b="0">
                <a:solidFill>
                  <a:srgbClr val="94A3B8"/>
                </a:solidFill>
              </a:rPr>
              <a:t>OP_CSV gates each tranche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CE41ED0-4320-4845-94CA-910630629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8575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94A3B8"/>
                </a:solidFill>
              </a:defRPr>
            </a:pPr>
            <a:r>
              <a:rPr sz="1650" b="1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0B8915F-3462-4950-884E-2E12C6A3A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2095500"/>
            <a:ext cx="1866900" cy="190500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497E934-A7DA-4423-A7B5-9B9F0FF9C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3241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C084FC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C084FC"/>
                </a:solidFill>
              </a:defRPr>
            </a:pPr>
            <a:r>
              <a:rPr sz="1350" b="1">
                <a:solidFill>
                  <a:srgbClr val="C084FC"/>
                </a:solidFill>
              </a:rPr>
              <a:t>Recursive change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FA4A91-F9EE-4DBD-AAA3-658421AEF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2743200"/>
            <a:ext cx="1524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94A3B8"/>
                </a:solidFill>
              </a:defRPr>
            </a:pPr>
            <a:r>
              <a:rPr sz="1050" b="0">
                <a:solidFill>
                  <a:srgbClr val="94A3B8"/>
                </a:solidFill>
              </a:rPr>
              <a:t>output[1] == input[0] bytecode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7FAAAB4-55FD-4D93-8313-76681D33F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857500"/>
            <a:ext cx="285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94A3B8"/>
                </a:solidFill>
              </a:defRPr>
            </a:pPr>
            <a:r>
              <a:rPr sz="1650" b="1">
                <a:solidFill>
                  <a:srgbClr val="94A3B8"/>
                </a:solidFill>
              </a:rPr>
              <a:t>→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DED850-CE71-4DE7-9C3E-21EEE1E09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095500"/>
            <a:ext cx="1866900" cy="1905000"/>
          </a:xfrm>
          <a:prstGeom xmlns:a="http://schemas.openxmlformats.org/drawingml/2006/main" prst="roundRect">
            <a:avLst>
              <a:gd name="adj" fmla="val 6122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DE9929-5108-418E-AF99-69230763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324100"/>
            <a:ext cx="152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94A3B8"/>
                </a:solidFill>
              </a:defRPr>
            </a:pPr>
            <a:r>
              <a:rPr sz="1350" b="1">
                <a:solidFill>
                  <a:srgbClr val="94A3B8"/>
                </a:solidFill>
              </a:rPr>
              <a:t>WizardConnect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A0C4120-F3D2-4E5B-8445-978139D87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2743200"/>
            <a:ext cx="1524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050" b="0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94A3B8"/>
                </a:solidFill>
              </a:defRPr>
            </a:pPr>
            <a:r>
              <a:rPr sz="1050" b="0">
                <a:solidFill>
                  <a:srgbClr val="94A3B8"/>
                </a:solidFill>
              </a:rPr>
              <a:t>signed + broadcast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FFB252-B7B5-440F-9284-9280EE077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76750"/>
            <a:ext cx="1047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94A3B8"/>
                </a:solidFill>
              </a:defRPr>
            </a:pPr>
            <a:r>
              <a:rPr sz="1200" b="0">
                <a:solidFill>
                  <a:srgbClr val="94A3B8"/>
                </a:solidFill>
              </a:rPr>
              <a:t>PUSD is a CashToken, so the VM proves token conservation. Change is forced back into the identical covenant bytecode. A claim can never drain the vault - only the payer can cancel.</a:t>
            </a:r>
          </a:p>
        </p:txBody>
      </p:sp>
    </p:spTree>
    <p:extLst>
      <p:ext uri="{BB962C8B-B14F-4D97-AF65-F5344CB8AC3E}">
        <p14:creationId xmlns:p14="http://schemas.microsoft.com/office/powerpoint/2010/main" val="597625310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A0F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3E3F947-0AC6-4A99-AF48-05A355151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0AC18E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0AC18E"/>
                </a:solidFill>
              </a:defRPr>
            </a:pPr>
            <a:r>
              <a:rPr sz="975" b="1">
                <a:solidFill>
                  <a:srgbClr val="0AC18E"/>
                </a:solidFill>
              </a:rPr>
              <a:t>VISION &amp; ROADMAP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12F193-D1E8-4158-B402-58B646EA0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914400"/>
            <a:ext cx="1047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1">
                <a:solidFill>
                  <a:srgbClr val="F1F5F9"/>
                </a:solidFill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F1F5F9"/>
                </a:solidFill>
              </a:defRPr>
            </a:pPr>
            <a:r>
              <a:rPr sz="2100" b="1">
                <a:solidFill>
                  <a:srgbClr val="F1F5F9"/>
                </a:solidFill>
              </a:rPr>
              <a:t>From hackathon MVP to an agent money-stream protocol.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15D4022-44A6-4801-A270-EBCC7A4E5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5000"/>
            <a:ext cx="104775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83815D-0D06-45BE-B1A3-09A31237A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095500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0AC18E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0AC18E"/>
                </a:solidFill>
              </a:defRPr>
            </a:pPr>
            <a:r>
              <a:rPr sz="1650" b="1">
                <a:solidFill>
                  <a:srgbClr val="0AC18E"/>
                </a:solidFill>
              </a:rPr>
              <a:t>Phase 1 - Hackathon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D6C00C-80FD-4F95-9708-A89362D84B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2190750"/>
            <a:ext cx="609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94A3B8"/>
                </a:solidFill>
              </a:defRPr>
            </a:pPr>
            <a:r>
              <a:rPr sz="1275" b="0">
                <a:solidFill>
                  <a:srgbClr val="94A3B8"/>
                </a:solidFill>
              </a:rPr>
              <a:t>Covenant, cockpit, Chipnet + Mainnet settlement.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7CE0967-9FB5-4B74-8A4C-F8E9E9FD6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048000"/>
            <a:ext cx="104775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4BFFAB-A9D9-4704-9E87-96FBD0356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238500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0AC18E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0AC18E"/>
                </a:solidFill>
              </a:defRPr>
            </a:pPr>
            <a:r>
              <a:rPr sz="1650" b="1">
                <a:solidFill>
                  <a:srgbClr val="0AC18E"/>
                </a:solidFill>
              </a:rPr>
              <a:t>Phase 2 - SDK + MCP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F84BE3C-B553-4C8D-BBE8-5F895EE3FE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3333750"/>
            <a:ext cx="609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94A3B8"/>
                </a:solidFill>
              </a:defRPr>
            </a:pPr>
            <a:r>
              <a:rPr sz="1275" b="0">
                <a:solidFill>
                  <a:srgbClr val="94A3B8"/>
                </a:solidFill>
              </a:rPr>
              <a:t>Agents stream a per-call PUSD budget.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691F46B-F7BA-4ED0-A942-5F7B7B561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0"/>
            <a:ext cx="10477500" cy="952500"/>
          </a:xfrm>
          <a:prstGeom xmlns:a="http://schemas.openxmlformats.org/drawingml/2006/main" prst="roundRect">
            <a:avLst>
              <a:gd name="adj" fmla="val 12000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463F0D-6E55-4474-8474-542E447C96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381500"/>
            <a:ext cx="3619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1">
                <a:solidFill>
                  <a:srgbClr val="0AC18E"/>
                </a:solidFill>
              </a:defRPr>
            </a:defPPr>
          </a:lstStyle>
          <a:p xmlns:a="http://schemas.openxmlformats.org/drawingml/2006/main">
            <a:pPr>
              <a:defRPr sz="1650" b="1">
                <a:solidFill>
                  <a:srgbClr val="0AC18E"/>
                </a:solidFill>
              </a:defRPr>
            </a:pPr>
            <a:r>
              <a:rPr sz="1650" b="1">
                <a:solidFill>
                  <a:srgbClr val="0AC18E"/>
                </a:solidFill>
              </a:rPr>
              <a:t>Phase 3 - Marketplace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C393C1-3C9F-4D71-AE24-256694200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81550" y="4476750"/>
            <a:ext cx="6096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75" b="0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1275" b="0">
                <a:solidFill>
                  <a:srgbClr val="94A3B8"/>
                </a:solidFill>
              </a:defRPr>
            </a:pPr>
            <a:r>
              <a:rPr sz="1275" b="0">
                <a:solidFill>
                  <a:srgbClr val="94A3B8"/>
                </a:solidFill>
              </a:rPr>
              <a:t>Directory of PUSD-denominated recurring services.</a:t>
            </a:r>
          </a:p>
        </p:txBody>
      </p:sp>
    </p:spTree>
    <p:extLst>
      <p:ext uri="{BB962C8B-B14F-4D97-AF65-F5344CB8AC3E}">
        <p14:creationId xmlns:p14="http://schemas.microsoft.com/office/powerpoint/2010/main" val="1412555322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A0F1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CE7AF29-6D98-4274-B677-2A44CFE30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"/>
            <a:ext cx="8572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975" b="1">
                <a:solidFill>
                  <a:srgbClr val="0AC18E"/>
                </a:solidFill>
              </a:defRPr>
            </a:defPPr>
          </a:lstStyle>
          <a:p xmlns:a="http://schemas.openxmlformats.org/drawingml/2006/main">
            <a:pPr>
              <a:defRPr sz="975" b="1">
                <a:solidFill>
                  <a:srgbClr val="0AC18E"/>
                </a:solidFill>
              </a:defRPr>
            </a:pPr>
            <a:r>
              <a:rPr sz="975" b="1">
                <a:solidFill>
                  <a:srgbClr val="0AC18E"/>
                </a:solidFill>
              </a:rPr>
              <a:t>THANK YOU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1E6D872-2C60-4093-9349-BD0B26E76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619250"/>
            <a:ext cx="10477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900" b="1">
                <a:solidFill>
                  <a:srgbClr val="F1F5F9"/>
                </a:solidFill>
              </a:defRPr>
            </a:defPPr>
          </a:lstStyle>
          <a:p xmlns:a="http://schemas.openxmlformats.org/drawingml/2006/main">
            <a:pPr>
              <a:defRPr sz="3900" b="1">
                <a:solidFill>
                  <a:srgbClr val="F1F5F9"/>
                </a:solidFill>
              </a:defRPr>
            </a:pPr>
            <a:r>
              <a:rPr sz="3900" b="1">
                <a:solidFill>
                  <a:srgbClr val="F1F5F9"/>
                </a:solidFill>
              </a:rPr>
              <a:t>Try the live demo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AFF7DB-54CA-4E24-B2BF-9F4759044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67000"/>
            <a:ext cx="10477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0AC18E"/>
                </a:solidFill>
              </a:defRPr>
            </a:defPPr>
          </a:lstStyle>
          <a:p xmlns:a="http://schemas.openxmlformats.org/drawingml/2006/main">
            <a:pPr>
              <a:defRPr sz="1800" b="1">
                <a:solidFill>
                  <a:srgbClr val="0AC18E"/>
                </a:solidFill>
              </a:defRPr>
            </a:pPr>
            <a:r>
              <a:rPr sz="1800" b="1">
                <a:solidFill>
                  <a:srgbClr val="0AC18E"/>
                </a:solidFill>
              </a:rPr>
              <a:t>streamvault.cash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2787D72-563C-487B-9E27-70D76C051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29000"/>
            <a:ext cx="10477500" cy="1619250"/>
          </a:xfrm>
          <a:prstGeom xmlns:a="http://schemas.openxmlformats.org/drawingml/2006/main" prst="roundRect">
            <a:avLst>
              <a:gd name="adj" fmla="val 7059"/>
            </a:avLst>
          </a:prstGeom>
          <a:solidFill xmlns:a="http://schemas.openxmlformats.org/drawingml/2006/main">
            <a:srgbClr val="111827"/>
          </a:solidFill>
          <a:ln xmlns:a="http://schemas.openxmlformats.org/drawingml/2006/main" w="9525">
            <a:solidFill>
              <a:srgbClr val="1F2937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92828F-14E2-48D5-9B55-73B769F3B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657600"/>
            <a:ext cx="9944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1">
                <a:solidFill>
                  <a:srgbClr val="F1F5F9"/>
                </a:solidFill>
              </a:defRPr>
            </a:defPPr>
          </a:lstStyle>
          <a:p xmlns:a="http://schemas.openxmlformats.org/drawingml/2006/main">
            <a:pPr>
              <a:defRPr sz="1350" b="1">
                <a:solidFill>
                  <a:srgbClr val="F1F5F9"/>
                </a:solidFill>
              </a:defRPr>
            </a:pPr>
            <a:r>
              <a:rPr sz="1350" b="1">
                <a:solidFill>
                  <a:srgbClr val="F1F5F9"/>
                </a:solidFill>
              </a:rPr>
              <a:t>Judge walkthrough - one click, no wallet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B9BCAB-0168-4E88-914B-834A28C04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38600"/>
            <a:ext cx="99441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94A3B8"/>
                </a:solidFill>
              </a:defRPr>
            </a:pPr>
            <a:r>
              <a:rPr sz="1200" b="0">
                <a:solidFill>
                  <a:srgbClr val="94A3B8"/>
                </a:solidFill>
              </a:rPr>
              <a:t>Launch the demo stream  →  fast-forward one period  →  claim a tranche  →  cancel and reclaim 100%.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8FDD52-A929-405E-B64D-90454AE9F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1975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200" b="0">
                <a:solidFill>
                  <a:srgbClr val="94A3B8"/>
                </a:solidFill>
              </a:defRPr>
            </a:defPPr>
          </a:lstStyle>
          <a:p xmlns:a="http://schemas.openxmlformats.org/drawingml/2006/main">
            <a:pPr>
              <a:defRPr sz="1200" b="0">
                <a:solidFill>
                  <a:srgbClr val="94A3B8"/>
                </a:solidFill>
              </a:defRPr>
            </a:pPr>
            <a:r>
              <a:rPr sz="1200" b="0">
                <a:solidFill>
                  <a:srgbClr val="94A3B8"/>
                </a:solidFill>
              </a:rPr>
              <a:t>Bitcoin Cash is peer-to-peer cash for people - and now, for their money streams.</a:t>
            </a:r>
          </a:p>
        </p:txBody>
      </p:sp>
    </p:spTree>
    <p:extLst>
      <p:ext uri="{BB962C8B-B14F-4D97-AF65-F5344CB8AC3E}">
        <p14:creationId xmlns:p14="http://schemas.microsoft.com/office/powerpoint/2010/main" val="1262001784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2026-10-15T12:51:24.9360000Z</dcterms:created>
  <dcterms:modified xsi:type="dcterms:W3CDTF">2026-10-15T12:51:24.9360000Z</dcterms:modified>
</coreProperties>
</file>