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1fe837a6404ec3" /><Relationship Type="http://schemas.openxmlformats.org/officeDocument/2006/relationships/extended-properties" Target="/docProps/app.xml" Id="R343b26a159504aa8" /><Relationship Type="http://schemas.openxmlformats.org/officeDocument/2006/relationships/officeDocument" Target="/ppt/presentation.xml" Id="Rcc180ae2296d42d4" /></Relationships>
</file>

<file path=ppt/presentation.xml><?xml version="1.0" encoding="utf-8"?>
<p:presentation xmlns:p="http://schemas.openxmlformats.org/presentationml/2006/main">
  <p:sldMasterIdLst>
    <p:sldMasterId xmlns:r="http://schemas.openxmlformats.org/officeDocument/2006/relationships" id="2147483648" r:id="Rc029769c6c9a4666"/>
  </p:sldMasterIdLst>
  <p:notesMasterIdLst>
    <p:notesMasterId xmlns:r="http://schemas.openxmlformats.org/officeDocument/2006/relationships" r:id="Rfde6162cf3434d03"/>
  </p:notesMasterIdLst>
  <p:sldIdLst>
    <p:sldId xmlns:r="http://schemas.openxmlformats.org/officeDocument/2006/relationships" id="256" r:id="R0679bd7ce14a4152"/>
    <p:sldId xmlns:r="http://schemas.openxmlformats.org/officeDocument/2006/relationships" id="257" r:id="R434d508f73ab4e27"/>
    <p:sldId xmlns:r="http://schemas.openxmlformats.org/officeDocument/2006/relationships" id="258" r:id="R2ee84897b1884e5b"/>
    <p:sldId xmlns:r="http://schemas.openxmlformats.org/officeDocument/2006/relationships" id="259" r:id="R42696115b95c4b85"/>
    <p:sldId xmlns:r="http://schemas.openxmlformats.org/officeDocument/2006/relationships" id="260" r:id="R47e176988b1d423a"/>
    <p:sldId xmlns:r="http://schemas.openxmlformats.org/officeDocument/2006/relationships" id="261" r:id="Re77bfbee7c0b4262"/>
    <p:sldId xmlns:r="http://schemas.openxmlformats.org/officeDocument/2006/relationships" id="262" r:id="Rdf063b01032141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c3962e4d624add" /><Relationship Type="http://schemas.openxmlformats.org/officeDocument/2006/relationships/slideMaster" Target="/ppt/slideMasters/slideMaster1.xml" Id="Rc029769c6c9a4666" /><Relationship Type="http://schemas.openxmlformats.org/officeDocument/2006/relationships/notesMaster" Target="/ppt/notesMasters/notesMaster1.xml" Id="Rfde6162cf3434d03" /><Relationship Type="http://schemas.openxmlformats.org/officeDocument/2006/relationships/presProps" Target="/ppt/presProps.xml" Id="R3ac9bca4334c4d6e" /><Relationship Type="http://schemas.openxmlformats.org/officeDocument/2006/relationships/tableStyles" Target="/ppt/tableStyles.xml" Id="R838e73232e1945e6" /><Relationship Type="http://schemas.openxmlformats.org/officeDocument/2006/relationships/slide" Target="/ppt/slides/slide1.xml" Id="R0679bd7ce14a4152" /><Relationship Type="http://schemas.openxmlformats.org/officeDocument/2006/relationships/slide" Target="/ppt/slides/slide2.xml" Id="R434d508f73ab4e27" /><Relationship Type="http://schemas.openxmlformats.org/officeDocument/2006/relationships/slide" Target="/ppt/slides/slide3.xml" Id="R2ee84897b1884e5b" /><Relationship Type="http://schemas.openxmlformats.org/officeDocument/2006/relationships/slide" Target="/ppt/slides/slide4.xml" Id="R42696115b95c4b85" /><Relationship Type="http://schemas.openxmlformats.org/officeDocument/2006/relationships/slide" Target="/ppt/slides/slide5.xml" Id="R47e176988b1d423a" /><Relationship Type="http://schemas.openxmlformats.org/officeDocument/2006/relationships/slide" Target="/ppt/slides/slide6.xml" Id="Re77bfbee7c0b4262" /><Relationship Type="http://schemas.openxmlformats.org/officeDocument/2006/relationships/slide" Target="/ppt/slides/slide7.xml" Id="Rdf063b01032141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79da82070e4e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3b03a892d24a87" /><Relationship Type="http://schemas.openxmlformats.org/officeDocument/2006/relationships/notesMaster" Target="/ppt/notesMasters/notesMaster1.xml" Id="Rfa676258f4da4f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b9f6ff852844dc" /><Relationship Type="http://schemas.openxmlformats.org/officeDocument/2006/relationships/notesMaster" Target="/ppt/notesMasters/notesMaster1.xml" Id="R166a4b4ad8c743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e79d1c75174d35" /><Relationship Type="http://schemas.openxmlformats.org/officeDocument/2006/relationships/notesMaster" Target="/ppt/notesMasters/notesMaster1.xml" Id="R7928f7fdc9d744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04a22bfc594672" /><Relationship Type="http://schemas.openxmlformats.org/officeDocument/2006/relationships/notesMaster" Target="/ppt/notesMasters/notesMaster1.xml" Id="Rbb5537f5c56246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9f18edf4c46b1" /><Relationship Type="http://schemas.openxmlformats.org/officeDocument/2006/relationships/notesMaster" Target="/ppt/notesMasters/notesMaster1.xml" Id="R0dec3e932cc547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d85c67bcb64e84" /><Relationship Type="http://schemas.openxmlformats.org/officeDocument/2006/relationships/notesMaster" Target="/ppt/notesMasters/notesMaster1.xml" Id="R71c67d37bae2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06fd5011ff475e" /><Relationship Type="http://schemas.openxmlformats.org/officeDocument/2006/relationships/notesMaster" Target="/ppt/notesMasters/notesMaster1.xml" Id="R5267b3bbe38740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b6a353ed7e41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14fa024f8f4a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6d3165ab224c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0aa992349645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f0e9729bc647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d90fc9c33248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5826C-75B3-471A-AC4D-B9F2670041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DE474B-8E32-4815-9134-223D416DD3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F89F76-C0D2-49A6-B426-6BA28D0B8E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A816BB-2D34-4419-87E0-6C0719C2C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65AB19-8293-451A-ADD1-38E73261E4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8B77AA-8594-4943-AAD1-4D82E2D981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F9F40B-A29A-485F-A4E6-19F9A2AE4C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958BA7-715B-4E82-8866-458F52A4A8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888E89-F76A-4590-BC63-687DDB19A0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CD31A7-6BC9-461E-8CD1-4B375989DC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c65b586d6f49f2" /><Relationship Type="http://schemas.openxmlformats.org/officeDocument/2006/relationships/slideLayout" Target="/ppt/slideLayouts/slideLayout1.xml" Id="R60e710860db84b85" /><Relationship Type="http://schemas.openxmlformats.org/officeDocument/2006/relationships/slideLayout" Target="/ppt/slideLayouts/slideLayout2.xml" Id="R6df738fcb9a446b2" /><Relationship Type="http://schemas.openxmlformats.org/officeDocument/2006/relationships/slideLayout" Target="/ppt/slideLayouts/slideLayout3.xml" Id="R6d2b629167d34d6b" /><Relationship Type="http://schemas.openxmlformats.org/officeDocument/2006/relationships/slideLayout" Target="/ppt/slideLayouts/slideLayout4.xml" Id="R7e178f99c2914f87" /><Relationship Type="http://schemas.openxmlformats.org/officeDocument/2006/relationships/slideLayout" Target="/ppt/slideLayouts/slideLayout5.xml" Id="Ra9fe62dc04a14bf2" /><Relationship Type="http://schemas.openxmlformats.org/officeDocument/2006/relationships/slideLayout" Target="/ppt/slideLayouts/slideLayout6.xml" Id="R52546e72ccd94a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e710860db84b85"/>
    <p:sldLayoutId xmlns:r="http://schemas.openxmlformats.org/officeDocument/2006/relationships" id="2147483650" r:id="R6df738fcb9a446b2"/>
    <p:sldLayoutId xmlns:r="http://schemas.openxmlformats.org/officeDocument/2006/relationships" id="2147483651" r:id="R6d2b629167d34d6b"/>
    <p:sldLayoutId xmlns:r="http://schemas.openxmlformats.org/officeDocument/2006/relationships" id="2147483652" r:id="R7e178f99c2914f87"/>
    <p:sldLayoutId xmlns:r="http://schemas.openxmlformats.org/officeDocument/2006/relationships" id="2147483653" r:id="Ra9fe62dc04a14bf2"/>
    <p:sldLayoutId xmlns:r="http://schemas.openxmlformats.org/officeDocument/2006/relationships" id="2147483654" r:id="R52546e72ccd94a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5ac8783f3f4fd1" /><Relationship Type="http://schemas.openxmlformats.org/officeDocument/2006/relationships/notesSlide" Target="/ppt/notesSlides/notesSlide1.xml" Id="Rfe89a7fc5f1a4e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9dc0cf3a0448d9" /><Relationship Type="http://schemas.openxmlformats.org/officeDocument/2006/relationships/notesSlide" Target="/ppt/notesSlides/notesSlide2.xml" Id="Ra6ffb1358e6141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d689e42ee841cb" /><Relationship Type="http://schemas.openxmlformats.org/officeDocument/2006/relationships/notesSlide" Target="/ppt/notesSlides/notesSlide3.xml" Id="R7cfc4654eb0643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0260afbd1d4af2" /><Relationship Type="http://schemas.openxmlformats.org/officeDocument/2006/relationships/notesSlide" Target="/ppt/notesSlides/notesSlide4.xml" Id="Re061bc874e5147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7fddeeba714d90" /><Relationship Type="http://schemas.openxmlformats.org/officeDocument/2006/relationships/notesSlide" Target="/ppt/notesSlides/notesSlide5.xml" Id="Ra175292290c049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695b9ad80f4250" /><Relationship Type="http://schemas.openxmlformats.org/officeDocument/2006/relationships/notesSlide" Target="/ppt/notesSlides/notesSlide6.xml" Id="R21cd8e53229f49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d63c1995764d8e" /><Relationship Type="http://schemas.openxmlformats.org/officeDocument/2006/relationships/notesSlide" Target="/ppt/notesSlides/notesSlide7.xml" Id="R69c275da09ad4e86" /></Relationships>
</file>

<file path=ppt/slides/slide1.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9F1222-832D-4EAA-B939-E87EFD45C467}"/>
              </a:ext>
            </a:extLst>
          </p:cNvPr>
          <p:cNvSpPr>
            <a:spLocks xmlns:a="http://schemas.openxmlformats.org/drawingml/2006/main" noGrp="1"/>
          </p:cNvSpPr>
          <p:nvPr/>
        </p:nvSpPr>
        <p:spPr>
          <a:xfrm xmlns:a="http://schemas.openxmlformats.org/drawingml/2006/main">
            <a:off x="685800" y="8572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0AC18E"/>
                </a:solidFill>
              </a:defRPr>
            </a:defPPr>
            <a:lvl1pPr>
              <a:defRPr sz="1050" b="1">
                <a:solidFill>
                  <a:srgbClr val="0AC18E"/>
                </a:solidFill>
              </a:defRPr>
            </a:lvl1pPr>
            <a:lvl2pPr>
              <a:defRPr sz="1050" b="1">
                <a:solidFill>
                  <a:srgbClr val="0AC18E"/>
                </a:solidFill>
              </a:defRPr>
            </a:lvl2pPr>
            <a:lvl3pPr>
              <a:defRPr sz="1050" b="1">
                <a:solidFill>
                  <a:srgbClr val="0AC18E"/>
                </a:solidFill>
              </a:defRPr>
            </a:lvl3pPr>
            <a:lvl4pPr>
              <a:defRPr sz="1050" b="1">
                <a:solidFill>
                  <a:srgbClr val="0AC18E"/>
                </a:solidFill>
              </a:defRPr>
            </a:lvl4pPr>
            <a:lvl5pPr>
              <a:defRPr sz="1050" b="1">
                <a:solidFill>
                  <a:srgbClr val="0AC18E"/>
                </a:solidFill>
              </a:defRPr>
            </a:lvl5pPr>
            <a:lvl6pPr>
              <a:defRPr sz="1050" b="1">
                <a:solidFill>
                  <a:srgbClr val="0AC18E"/>
                </a:solidFill>
              </a:defRPr>
            </a:lvl6pPr>
            <a:lvl7pPr>
              <a:defRPr sz="1050" b="1">
                <a:solidFill>
                  <a:srgbClr val="0AC18E"/>
                </a:solidFill>
              </a:defRPr>
            </a:lvl7pPr>
            <a:lvl8pPr>
              <a:defRPr sz="1050" b="1">
                <a:solidFill>
                  <a:srgbClr val="0AC18E"/>
                </a:solidFill>
              </a:defRPr>
            </a:lvl8pPr>
            <a:lvl9pPr>
              <a:defRPr sz="1050" b="1">
                <a:solidFill>
                  <a:srgbClr val="0AC18E"/>
                </a:solidFill>
              </a:defRPr>
            </a:lvl9pPr>
          </a:lstStyle>
          <a:p xmlns:a="http://schemas.openxmlformats.org/drawingml/2006/main">
            <a:pPr>
              <a:defRPr sz="1050" b="1">
                <a:solidFill>
                  <a:srgbClr val="0AC18E"/>
                </a:solidFill>
              </a:defRPr>
            </a:pPr>
            <a:r>
              <a:rPr sz="1050" b="1">
                <a:solidFill>
                  <a:srgbClr val="0AC18E"/>
                </a:solidFill>
              </a:rPr>
              <a:t>BCH BLAZE 2026  ·  MAINNET + MEDIA TRACK</a:t>
            </a:r>
          </a:p>
        </p:txBody>
      </p:sp>
      <p:sp>
        <p:nvSpPr>
          <p:cNvPr id="2" name="">
            <a:extLst xmlns:a="http://schemas.openxmlformats.org/drawingml/2006/main">
              <a:ext uri="{FF2B5EF4-FFF2-40B4-BE49-F238E27FC236}">
                <a16:creationId xmlns:a16="http://schemas.microsoft.com/office/drawing/2014/main" id="{85DB8C30-1B7A-4B80-A1E7-94B6B454BD8B}"/>
              </a:ext>
            </a:extLst>
          </p:cNvPr>
          <p:cNvSpPr>
            <a:spLocks xmlns:a="http://schemas.openxmlformats.org/drawingml/2006/main" noGrp="1"/>
          </p:cNvSpPr>
          <p:nvPr/>
        </p:nvSpPr>
        <p:spPr>
          <a:xfrm xmlns:a="http://schemas.openxmlformats.org/drawingml/2006/main">
            <a:off x="685800" y="142875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F1F5F9"/>
                </a:solidFill>
              </a:defRPr>
            </a:defPPr>
            <a:lvl1pPr>
              <a:defRPr sz="5400" b="1">
                <a:solidFill>
                  <a:srgbClr val="F1F5F9"/>
                </a:solidFill>
              </a:defRPr>
            </a:lvl1pPr>
            <a:lvl2pPr>
              <a:defRPr sz="5400" b="1">
                <a:solidFill>
                  <a:srgbClr val="F1F5F9"/>
                </a:solidFill>
              </a:defRPr>
            </a:lvl2pPr>
            <a:lvl3pPr>
              <a:defRPr sz="5400" b="1">
                <a:solidFill>
                  <a:srgbClr val="F1F5F9"/>
                </a:solidFill>
              </a:defRPr>
            </a:lvl3pPr>
            <a:lvl4pPr>
              <a:defRPr sz="5400" b="1">
                <a:solidFill>
                  <a:srgbClr val="F1F5F9"/>
                </a:solidFill>
              </a:defRPr>
            </a:lvl4pPr>
            <a:lvl5pPr>
              <a:defRPr sz="5400" b="1">
                <a:solidFill>
                  <a:srgbClr val="F1F5F9"/>
                </a:solidFill>
              </a:defRPr>
            </a:lvl5pPr>
            <a:lvl6pPr>
              <a:defRPr sz="5400" b="1">
                <a:solidFill>
                  <a:srgbClr val="F1F5F9"/>
                </a:solidFill>
              </a:defRPr>
            </a:lvl6pPr>
            <a:lvl7pPr>
              <a:defRPr sz="5400" b="1">
                <a:solidFill>
                  <a:srgbClr val="F1F5F9"/>
                </a:solidFill>
              </a:defRPr>
            </a:lvl7pPr>
            <a:lvl8pPr>
              <a:defRPr sz="5400" b="1">
                <a:solidFill>
                  <a:srgbClr val="F1F5F9"/>
                </a:solidFill>
              </a:defRPr>
            </a:lvl8pPr>
            <a:lvl9pPr>
              <a:defRPr sz="5400" b="1">
                <a:solidFill>
                  <a:srgbClr val="F1F5F9"/>
                </a:solidFill>
              </a:defRPr>
            </a:lvl9pPr>
          </a:lstStyle>
          <a:p xmlns:a="http://schemas.openxmlformats.org/drawingml/2006/main">
            <a:pPr>
              <a:defRPr sz="5400" b="1">
                <a:solidFill>
                  <a:srgbClr val="F1F5F9"/>
                </a:solidFill>
              </a:defRPr>
            </a:pPr>
            <a:r>
              <a:rPr sz="5400" b="1">
                <a:solidFill>
                  <a:srgbClr val="F1F5F9"/>
                </a:solidFill>
              </a:rPr>
              <a:t>StreamVault.cash</a:t>
            </a:r>
          </a:p>
        </p:txBody>
      </p:sp>
      <p:sp>
        <p:nvSpPr>
          <p:cNvPr id="3" name="">
            <a:extLst xmlns:a="http://schemas.openxmlformats.org/drawingml/2006/main">
              <a:ext uri="{FF2B5EF4-FFF2-40B4-BE49-F238E27FC236}">
                <a16:creationId xmlns:a16="http://schemas.microsoft.com/office/drawing/2014/main" id="{DE850030-FD4A-4B11-BD0D-CFE7FE5CF3F0}"/>
              </a:ext>
            </a:extLst>
          </p:cNvPr>
          <p:cNvSpPr>
            <a:spLocks xmlns:a="http://schemas.openxmlformats.org/drawingml/2006/main" noGrp="1"/>
          </p:cNvSpPr>
          <p:nvPr/>
        </p:nvSpPr>
        <p:spPr>
          <a:xfrm xmlns:a="http://schemas.openxmlformats.org/drawingml/2006/main">
            <a:off x="685800" y="2762250"/>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94A3B8"/>
                </a:solidFill>
              </a:defRPr>
            </a:defPPr>
            <a:lvl1pPr>
              <a:defRPr sz="1800" b="0">
                <a:solidFill>
                  <a:srgbClr val="94A3B8"/>
                </a:solidFill>
              </a:defRPr>
            </a:lvl1pPr>
            <a:lvl2pPr>
              <a:defRPr sz="1800" b="0">
                <a:solidFill>
                  <a:srgbClr val="94A3B8"/>
                </a:solidFill>
              </a:defRPr>
            </a:lvl2pPr>
            <a:lvl3pPr>
              <a:defRPr sz="1800" b="0">
                <a:solidFill>
                  <a:srgbClr val="94A3B8"/>
                </a:solidFill>
              </a:defRPr>
            </a:lvl3pPr>
            <a:lvl4pPr>
              <a:defRPr sz="1800" b="0">
                <a:solidFill>
                  <a:srgbClr val="94A3B8"/>
                </a:solidFill>
              </a:defRPr>
            </a:lvl4pPr>
            <a:lvl5pPr>
              <a:defRPr sz="1800" b="0">
                <a:solidFill>
                  <a:srgbClr val="94A3B8"/>
                </a:solidFill>
              </a:defRPr>
            </a:lvl5pPr>
            <a:lvl6pPr>
              <a:defRPr sz="1800" b="0">
                <a:solidFill>
                  <a:srgbClr val="94A3B8"/>
                </a:solidFill>
              </a:defRPr>
            </a:lvl6pPr>
            <a:lvl7pPr>
              <a:defRPr sz="1800" b="0">
                <a:solidFill>
                  <a:srgbClr val="94A3B8"/>
                </a:solidFill>
              </a:defRPr>
            </a:lvl7pPr>
            <a:lvl8pPr>
              <a:defRPr sz="1800" b="0">
                <a:solidFill>
                  <a:srgbClr val="94A3B8"/>
                </a:solidFill>
              </a:defRPr>
            </a:lvl8pPr>
            <a:lvl9pPr>
              <a:defRPr sz="1800" b="0">
                <a:solidFill>
                  <a:srgbClr val="94A3B8"/>
                </a:solidFill>
              </a:defRPr>
            </a:lvl9pPr>
          </a:lstStyle>
          <a:p xmlns:a="http://schemas.openxmlformats.org/drawingml/2006/main">
            <a:pPr>
              <a:defRPr sz="1800" b="0">
                <a:solidFill>
                  <a:srgbClr val="94A3B8"/>
                </a:solidFill>
              </a:defRPr>
            </a:pPr>
            <a:r>
              <a:rPr sz="1800" b="0">
                <a:solidFill>
                  <a:srgbClr val="94A3B8"/>
                </a:solidFill>
              </a:rPr>
              <a:t>Give an AI an allowance, not your bank account. PUSD budgets on Bitcoin Cash.</a:t>
            </a:r>
          </a:p>
        </p:txBody>
      </p:sp>
      <p:sp>
        <p:nvSpPr>
          <p:cNvPr id="4" name="">
            <a:extLst xmlns:a="http://schemas.openxmlformats.org/drawingml/2006/main">
              <a:ext uri="{FF2B5EF4-FFF2-40B4-BE49-F238E27FC236}">
                <a16:creationId xmlns:a16="http://schemas.microsoft.com/office/drawing/2014/main" id="{8B4C9D6F-1AFA-4F22-8CAC-CC17653492AB}"/>
              </a:ext>
            </a:extLst>
          </p:cNvPr>
          <p:cNvSpPr>
            <a:spLocks xmlns:a="http://schemas.openxmlformats.org/drawingml/2006/main" noGrp="1"/>
          </p:cNvSpPr>
          <p:nvPr/>
        </p:nvSpPr>
        <p:spPr>
          <a:xfrm xmlns:a="http://schemas.openxmlformats.org/drawingml/2006/main">
            <a:off x="685800" y="53340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Team Autonomous Cash  ·  streamvault-cash.vercel.app  ·  @StreamVaultCash</a:t>
            </a:r>
          </a:p>
        </p:txBody>
      </p:sp>
      <p:sp>
        <p:nvSpPr>
          <p:cNvPr id="5" name="">
            <a:extLst xmlns:a="http://schemas.openxmlformats.org/drawingml/2006/main">
              <a:ext uri="{FF2B5EF4-FFF2-40B4-BE49-F238E27FC236}">
                <a16:creationId xmlns:a16="http://schemas.microsoft.com/office/drawing/2014/main" id="{0B15C30F-F0F4-4C91-B83A-9F66DA3E568A}"/>
              </a:ext>
            </a:extLst>
          </p:cNvPr>
          <p:cNvSpPr>
            <a:spLocks xmlns:a="http://schemas.openxmlformats.org/drawingml/2006/main" noGrp="1"/>
          </p:cNvSpPr>
          <p:nvPr/>
        </p:nvSpPr>
        <p:spPr>
          <a:xfrm xmlns:a="http://schemas.openxmlformats.org/drawingml/2006/main">
            <a:off x="8382000" y="2381250"/>
            <a:ext cx="3048000" cy="2095500"/>
          </a:xfrm>
          <a:prstGeom xmlns:a="http://schemas.openxmlformats.org/drawingml/2006/main" prst="roundRect">
            <a:avLst>
              <a:gd name="adj" fmla="val 5455"/>
            </a:avLst>
          </a:prstGeom>
          <a:solidFill xmlns:a="http://schemas.openxmlformats.org/drawingml/2006/main">
            <a:srgbClr val="111827"/>
          </a:solidFill>
          <a:ln xmlns:a="http://schemas.openxmlformats.org/drawingml/2006/main" w="9525">
            <a:solidFill>
              <a:srgbClr val="134E4A"/>
            </a:solidFill>
            <a:prstDash val="solid"/>
          </a:ln>
        </p:spPr>
      </p:sp>
      <p:sp>
        <p:nvSpPr>
          <p:cNvPr id="6" name="">
            <a:extLst xmlns:a="http://schemas.openxmlformats.org/drawingml/2006/main">
              <a:ext uri="{FF2B5EF4-FFF2-40B4-BE49-F238E27FC236}">
                <a16:creationId xmlns:a16="http://schemas.microsoft.com/office/drawing/2014/main" id="{0D74E9AB-7EF2-4B01-BB2C-B53EF429CFAD}"/>
              </a:ext>
            </a:extLst>
          </p:cNvPr>
          <p:cNvSpPr>
            <a:spLocks xmlns:a="http://schemas.openxmlformats.org/drawingml/2006/main" noGrp="1"/>
          </p:cNvSpPr>
          <p:nvPr/>
        </p:nvSpPr>
        <p:spPr>
          <a:xfrm xmlns:a="http://schemas.openxmlformats.org/drawingml/2006/main">
            <a:off x="8667750" y="2667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VAULT</a:t>
            </a:r>
          </a:p>
        </p:txBody>
      </p:sp>
      <p:sp>
        <p:nvSpPr>
          <p:cNvPr id="7" name="">
            <a:extLst xmlns:a="http://schemas.openxmlformats.org/drawingml/2006/main">
              <a:ext uri="{FF2B5EF4-FFF2-40B4-BE49-F238E27FC236}">
                <a16:creationId xmlns:a16="http://schemas.microsoft.com/office/drawing/2014/main" id="{83A9F118-7D0D-4144-BAF5-4E3AF54EB6F9}"/>
              </a:ext>
            </a:extLst>
          </p:cNvPr>
          <p:cNvSpPr>
            <a:spLocks xmlns:a="http://schemas.openxmlformats.org/drawingml/2006/main" noGrp="1"/>
          </p:cNvSpPr>
          <p:nvPr/>
        </p:nvSpPr>
        <p:spPr>
          <a:xfrm xmlns:a="http://schemas.openxmlformats.org/drawingml/2006/main">
            <a:off x="8667750" y="30480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1F5F9"/>
                </a:solidFill>
              </a:defRPr>
            </a:defPPr>
            <a:lvl1pPr>
              <a:defRPr sz="2550" b="1">
                <a:solidFill>
                  <a:srgbClr val="F1F5F9"/>
                </a:solidFill>
              </a:defRPr>
            </a:lvl1pPr>
            <a:lvl2pPr>
              <a:defRPr sz="2550" b="1">
                <a:solidFill>
                  <a:srgbClr val="F1F5F9"/>
                </a:solidFill>
              </a:defRPr>
            </a:lvl2pPr>
            <a:lvl3pPr>
              <a:defRPr sz="2550" b="1">
                <a:solidFill>
                  <a:srgbClr val="F1F5F9"/>
                </a:solidFill>
              </a:defRPr>
            </a:lvl3pPr>
            <a:lvl4pPr>
              <a:defRPr sz="2550" b="1">
                <a:solidFill>
                  <a:srgbClr val="F1F5F9"/>
                </a:solidFill>
              </a:defRPr>
            </a:lvl4pPr>
            <a:lvl5pPr>
              <a:defRPr sz="2550" b="1">
                <a:solidFill>
                  <a:srgbClr val="F1F5F9"/>
                </a:solidFill>
              </a:defRPr>
            </a:lvl5pPr>
            <a:lvl6pPr>
              <a:defRPr sz="2550" b="1">
                <a:solidFill>
                  <a:srgbClr val="F1F5F9"/>
                </a:solidFill>
              </a:defRPr>
            </a:lvl6pPr>
            <a:lvl7pPr>
              <a:defRPr sz="2550" b="1">
                <a:solidFill>
                  <a:srgbClr val="F1F5F9"/>
                </a:solidFill>
              </a:defRPr>
            </a:lvl7pPr>
            <a:lvl8pPr>
              <a:defRPr sz="2550" b="1">
                <a:solidFill>
                  <a:srgbClr val="F1F5F9"/>
                </a:solidFill>
              </a:defRPr>
            </a:lvl8pPr>
            <a:lvl9pPr>
              <a:defRPr sz="2550" b="1">
                <a:solidFill>
                  <a:srgbClr val="F1F5F9"/>
                </a:solidFill>
              </a:defRPr>
            </a:lvl9pPr>
          </a:lstStyle>
          <a:p xmlns:a="http://schemas.openxmlformats.org/drawingml/2006/main">
            <a:pPr>
              <a:defRPr sz="2550" b="1">
                <a:solidFill>
                  <a:srgbClr val="F1F5F9"/>
                </a:solidFill>
              </a:defRPr>
            </a:pPr>
            <a:r>
              <a:rPr sz="2550" b="1">
                <a:solidFill>
                  <a:srgbClr val="F1F5F9"/>
                </a:solidFill>
              </a:rPr>
              <a:t>2.00 PUSD</a:t>
            </a:r>
          </a:p>
        </p:txBody>
      </p:sp>
      <p:sp>
        <p:nvSpPr>
          <p:cNvPr id="8" name="">
            <a:extLst xmlns:a="http://schemas.openxmlformats.org/drawingml/2006/main">
              <a:ext uri="{FF2B5EF4-FFF2-40B4-BE49-F238E27FC236}">
                <a16:creationId xmlns:a16="http://schemas.microsoft.com/office/drawing/2014/main" id="{2FC8C1A6-6738-4DCB-8CFB-05ED7D6EE5F6}"/>
              </a:ext>
            </a:extLst>
          </p:cNvPr>
          <p:cNvSpPr>
            <a:spLocks xmlns:a="http://schemas.openxmlformats.org/drawingml/2006/main" noGrp="1"/>
          </p:cNvSpPr>
          <p:nvPr/>
        </p:nvSpPr>
        <p:spPr>
          <a:xfrm xmlns:a="http://schemas.openxmlformats.org/drawingml/2006/main">
            <a:off x="8667750" y="3505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4A3B8"/>
                </a:solidFill>
              </a:defRPr>
            </a:defPPr>
            <a:lvl1pPr>
              <a:defRPr sz="975" b="0">
                <a:solidFill>
                  <a:srgbClr val="94A3B8"/>
                </a:solidFill>
              </a:defRPr>
            </a:lvl1pPr>
            <a:lvl2pPr>
              <a:defRPr sz="975" b="0">
                <a:solidFill>
                  <a:srgbClr val="94A3B8"/>
                </a:solidFill>
              </a:defRPr>
            </a:lvl2pPr>
            <a:lvl3pPr>
              <a:defRPr sz="975" b="0">
                <a:solidFill>
                  <a:srgbClr val="94A3B8"/>
                </a:solidFill>
              </a:defRPr>
            </a:lvl3pPr>
            <a:lvl4pPr>
              <a:defRPr sz="975" b="0">
                <a:solidFill>
                  <a:srgbClr val="94A3B8"/>
                </a:solidFill>
              </a:defRPr>
            </a:lvl4pPr>
            <a:lvl5pPr>
              <a:defRPr sz="975" b="0">
                <a:solidFill>
                  <a:srgbClr val="94A3B8"/>
                </a:solidFill>
              </a:defRPr>
            </a:lvl5pPr>
            <a:lvl6pPr>
              <a:defRPr sz="975" b="0">
                <a:solidFill>
                  <a:srgbClr val="94A3B8"/>
                </a:solidFill>
              </a:defRPr>
            </a:lvl6pPr>
            <a:lvl7pPr>
              <a:defRPr sz="975" b="0">
                <a:solidFill>
                  <a:srgbClr val="94A3B8"/>
                </a:solidFill>
              </a:defRPr>
            </a:lvl7pPr>
            <a:lvl8pPr>
              <a:defRPr sz="975" b="0">
                <a:solidFill>
                  <a:srgbClr val="94A3B8"/>
                </a:solidFill>
              </a:defRPr>
            </a:lvl8pPr>
            <a:lvl9pPr>
              <a:defRPr sz="975" b="0">
                <a:solidFill>
                  <a:srgbClr val="94A3B8"/>
                </a:solidFill>
              </a:defRPr>
            </a:lvl9pPr>
          </a:lstStyle>
          <a:p xmlns:a="http://schemas.openxmlformats.org/drawingml/2006/main">
            <a:pPr>
              <a:defRPr sz="975" b="0">
                <a:solidFill>
                  <a:srgbClr val="94A3B8"/>
                </a:solidFill>
              </a:defRPr>
            </a:pPr>
            <a:r>
              <a:rPr sz="975" b="0">
                <a:solidFill>
                  <a:srgbClr val="94A3B8"/>
                </a:solidFill>
              </a:rPr>
              <a:t>PUSD locked in covenant</a:t>
            </a:r>
          </a:p>
        </p:txBody>
      </p:sp>
      <p:sp>
        <p:nvSpPr>
          <p:cNvPr id="9" name="">
            <a:extLst xmlns:a="http://schemas.openxmlformats.org/drawingml/2006/main">
              <a:ext uri="{FF2B5EF4-FFF2-40B4-BE49-F238E27FC236}">
                <a16:creationId xmlns:a16="http://schemas.microsoft.com/office/drawing/2014/main" id="{5EB61BB0-DA9F-4142-B0DA-ACD2E59AA1ED}"/>
              </a:ext>
            </a:extLst>
          </p:cNvPr>
          <p:cNvSpPr>
            <a:spLocks xmlns:a="http://schemas.openxmlformats.org/drawingml/2006/main" noGrp="1"/>
          </p:cNvSpPr>
          <p:nvPr/>
        </p:nvSpPr>
        <p:spPr>
          <a:xfrm xmlns:a="http://schemas.openxmlformats.org/drawingml/2006/main">
            <a:off x="8667750" y="38481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818CF8"/>
                </a:solidFill>
              </a:defRPr>
            </a:defPPr>
            <a:lvl1pPr>
              <a:defRPr sz="975" b="0">
                <a:solidFill>
                  <a:srgbClr val="818CF8"/>
                </a:solidFill>
              </a:defRPr>
            </a:lvl1pPr>
            <a:lvl2pPr>
              <a:defRPr sz="975" b="0">
                <a:solidFill>
                  <a:srgbClr val="818CF8"/>
                </a:solidFill>
              </a:defRPr>
            </a:lvl2pPr>
            <a:lvl3pPr>
              <a:defRPr sz="975" b="0">
                <a:solidFill>
                  <a:srgbClr val="818CF8"/>
                </a:solidFill>
              </a:defRPr>
            </a:lvl3pPr>
            <a:lvl4pPr>
              <a:defRPr sz="975" b="0">
                <a:solidFill>
                  <a:srgbClr val="818CF8"/>
                </a:solidFill>
              </a:defRPr>
            </a:lvl4pPr>
            <a:lvl5pPr>
              <a:defRPr sz="975" b="0">
                <a:solidFill>
                  <a:srgbClr val="818CF8"/>
                </a:solidFill>
              </a:defRPr>
            </a:lvl5pPr>
            <a:lvl6pPr>
              <a:defRPr sz="975" b="0">
                <a:solidFill>
                  <a:srgbClr val="818CF8"/>
                </a:solidFill>
              </a:defRPr>
            </a:lvl6pPr>
            <a:lvl7pPr>
              <a:defRPr sz="975" b="0">
                <a:solidFill>
                  <a:srgbClr val="818CF8"/>
                </a:solidFill>
              </a:defRPr>
            </a:lvl7pPr>
            <a:lvl8pPr>
              <a:defRPr sz="975" b="0">
                <a:solidFill>
                  <a:srgbClr val="818CF8"/>
                </a:solidFill>
              </a:defRPr>
            </a:lvl8pPr>
            <a:lvl9pPr>
              <a:defRPr sz="975" b="0">
                <a:solidFill>
                  <a:srgbClr val="818CF8"/>
                </a:solidFill>
              </a:defRPr>
            </a:lvl9pPr>
          </a:lstStyle>
          <a:p xmlns:a="http://schemas.openxmlformats.org/drawingml/2006/main">
            <a:pPr>
              <a:defRPr sz="975" b="0">
                <a:solidFill>
                  <a:srgbClr val="818CF8"/>
                </a:solidFill>
              </a:defRPr>
            </a:pPr>
            <a:r>
              <a:rPr sz="975" b="0">
                <a:solidFill>
                  <a:srgbClr val="818CF8"/>
                </a:solidFill>
              </a:rPr>
              <a:t>0.10 PUSD / period  ·  cancellable</a:t>
            </a:r>
          </a:p>
        </p:txBody>
      </p:sp>
    </p:spTree>
    <p:extLst>
      <p:ext uri="{BB962C8B-B14F-4D97-AF65-F5344CB8AC3E}">
        <p14:creationId xmlns:p14="http://schemas.microsoft.com/office/powerpoint/2010/main" val="1031020461"/>
      </p:ext>
    </p:extLst>
  </p:cSld>
</p:sld>
</file>

<file path=ppt/slides/slide2.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7F6CB6-1112-4151-9C46-4E26402F209F}"/>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ONE-LINER</a:t>
            </a:r>
          </a:p>
        </p:txBody>
      </p:sp>
      <p:sp>
        <p:nvSpPr>
          <p:cNvPr id="2" name="">
            <a:extLst xmlns:a="http://schemas.openxmlformats.org/drawingml/2006/main">
              <a:ext uri="{FF2B5EF4-FFF2-40B4-BE49-F238E27FC236}">
                <a16:creationId xmlns:a16="http://schemas.microsoft.com/office/drawing/2014/main" id="{4BEAF557-58AB-437C-8FAB-06FDA1FFCB77}"/>
              </a:ext>
            </a:extLst>
          </p:cNvPr>
          <p:cNvSpPr>
            <a:spLocks xmlns:a="http://schemas.openxmlformats.org/drawingml/2006/main" noGrp="1"/>
          </p:cNvSpPr>
          <p:nvPr/>
        </p:nvSpPr>
        <p:spPr>
          <a:xfrm xmlns:a="http://schemas.openxmlformats.org/drawingml/2006/main">
            <a:off x="685800" y="91440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F5F9"/>
                </a:solidFill>
              </a:defRPr>
            </a:defPPr>
            <a:lvl1pPr>
              <a:defRPr sz="2250" b="1">
                <a:solidFill>
                  <a:srgbClr val="F1F5F9"/>
                </a:solidFill>
              </a:defRPr>
            </a:lvl1pPr>
            <a:lvl2pPr>
              <a:defRPr sz="2250" b="1">
                <a:solidFill>
                  <a:srgbClr val="F1F5F9"/>
                </a:solidFill>
              </a:defRPr>
            </a:lvl2pPr>
            <a:lvl3pPr>
              <a:defRPr sz="2250" b="1">
                <a:solidFill>
                  <a:srgbClr val="F1F5F9"/>
                </a:solidFill>
              </a:defRPr>
            </a:lvl3pPr>
            <a:lvl4pPr>
              <a:defRPr sz="2250" b="1">
                <a:solidFill>
                  <a:srgbClr val="F1F5F9"/>
                </a:solidFill>
              </a:defRPr>
            </a:lvl4pPr>
            <a:lvl5pPr>
              <a:defRPr sz="2250" b="1">
                <a:solidFill>
                  <a:srgbClr val="F1F5F9"/>
                </a:solidFill>
              </a:defRPr>
            </a:lvl5pPr>
            <a:lvl6pPr>
              <a:defRPr sz="2250" b="1">
                <a:solidFill>
                  <a:srgbClr val="F1F5F9"/>
                </a:solidFill>
              </a:defRPr>
            </a:lvl6pPr>
            <a:lvl7pPr>
              <a:defRPr sz="2250" b="1">
                <a:solidFill>
                  <a:srgbClr val="F1F5F9"/>
                </a:solidFill>
              </a:defRPr>
            </a:lvl7pPr>
            <a:lvl8pPr>
              <a:defRPr sz="2250" b="1">
                <a:solidFill>
                  <a:srgbClr val="F1F5F9"/>
                </a:solidFill>
              </a:defRPr>
            </a:lvl8pPr>
            <a:lvl9pPr>
              <a:defRPr sz="2250" b="1">
                <a:solidFill>
                  <a:srgbClr val="F1F5F9"/>
                </a:solidFill>
              </a:defRPr>
            </a:lvl9pPr>
          </a:lstStyle>
          <a:p xmlns:a="http://schemas.openxmlformats.org/drawingml/2006/main">
            <a:pPr>
              <a:defRPr sz="2250" b="1">
                <a:solidFill>
                  <a:srgbClr val="F1F5F9"/>
                </a:solidFill>
              </a:defRPr>
            </a:pPr>
            <a:r>
              <a:rPr sz="2250" b="1">
                <a:solidFill>
                  <a:srgbClr val="F1F5F9"/>
                </a:solidFill>
              </a:rPr>
              <a:t>Give autonomous software a PUSD budget it cannot exceed per period - and give people the same streaming primitive.</a:t>
            </a:r>
          </a:p>
        </p:txBody>
      </p:sp>
      <p:sp>
        <p:nvSpPr>
          <p:cNvPr id="3" name="">
            <a:extLst xmlns:a="http://schemas.openxmlformats.org/drawingml/2006/main">
              <a:ext uri="{FF2B5EF4-FFF2-40B4-BE49-F238E27FC236}">
                <a16:creationId xmlns:a16="http://schemas.microsoft.com/office/drawing/2014/main" id="{0BBD738E-2791-4206-9B0B-D2FA71141E3F}"/>
              </a:ext>
            </a:extLst>
          </p:cNvPr>
          <p:cNvSpPr>
            <a:spLocks xmlns:a="http://schemas.openxmlformats.org/drawingml/2006/main" noGrp="1"/>
          </p:cNvSpPr>
          <p:nvPr/>
        </p:nvSpPr>
        <p:spPr>
          <a:xfrm xmlns:a="http://schemas.openxmlformats.org/drawingml/2006/main">
            <a:off x="685800" y="2857500"/>
            <a:ext cx="3238500" cy="1524000"/>
          </a:xfrm>
          <a:prstGeom xmlns:a="http://schemas.openxmlformats.org/drawingml/2006/main" prst="roundRect">
            <a:avLst>
              <a:gd name="adj" fmla="val 7500"/>
            </a:avLst>
          </a:prstGeom>
          <a:solidFill xmlns:a="http://schemas.openxmlformats.org/drawingml/2006/main">
            <a:srgbClr val="111827"/>
          </a:solidFill>
          <a:ln xmlns:a="http://schemas.openxmlformats.org/drawingml/2006/main" w="9525">
            <a:solidFill>
              <a:srgbClr val="1F2937"/>
            </a:solidFill>
            <a:prstDash val="solid"/>
          </a:ln>
        </p:spPr>
      </p:sp>
      <p:sp>
        <p:nvSpPr>
          <p:cNvPr id="4" name="">
            <a:extLst xmlns:a="http://schemas.openxmlformats.org/drawingml/2006/main">
              <a:ext uri="{FF2B5EF4-FFF2-40B4-BE49-F238E27FC236}">
                <a16:creationId xmlns:a16="http://schemas.microsoft.com/office/drawing/2014/main" id="{F61D117D-CD83-4DED-BA89-15C016C27B3D}"/>
              </a:ext>
            </a:extLst>
          </p:cNvPr>
          <p:cNvSpPr>
            <a:spLocks xmlns:a="http://schemas.openxmlformats.org/drawingml/2006/main" noGrp="1"/>
          </p:cNvSpPr>
          <p:nvPr/>
        </p:nvSpPr>
        <p:spPr>
          <a:xfrm xmlns:a="http://schemas.openxmlformats.org/drawingml/2006/main">
            <a:off x="914400" y="312420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AC18E"/>
                </a:solidFill>
              </a:defRPr>
            </a:defPPr>
            <a:lvl1pPr>
              <a:defRPr sz="1500" b="1">
                <a:solidFill>
                  <a:srgbClr val="0AC18E"/>
                </a:solidFill>
              </a:defRPr>
            </a:lvl1pPr>
            <a:lvl2pPr>
              <a:defRPr sz="1500" b="1">
                <a:solidFill>
                  <a:srgbClr val="0AC18E"/>
                </a:solidFill>
              </a:defRPr>
            </a:lvl2pPr>
            <a:lvl3pPr>
              <a:defRPr sz="1500" b="1">
                <a:solidFill>
                  <a:srgbClr val="0AC18E"/>
                </a:solidFill>
              </a:defRPr>
            </a:lvl3pPr>
            <a:lvl4pPr>
              <a:defRPr sz="1500" b="1">
                <a:solidFill>
                  <a:srgbClr val="0AC18E"/>
                </a:solidFill>
              </a:defRPr>
            </a:lvl4pPr>
            <a:lvl5pPr>
              <a:defRPr sz="1500" b="1">
                <a:solidFill>
                  <a:srgbClr val="0AC18E"/>
                </a:solidFill>
              </a:defRPr>
            </a:lvl5pPr>
            <a:lvl6pPr>
              <a:defRPr sz="1500" b="1">
                <a:solidFill>
                  <a:srgbClr val="0AC18E"/>
                </a:solidFill>
              </a:defRPr>
            </a:lvl6pPr>
            <a:lvl7pPr>
              <a:defRPr sz="1500" b="1">
                <a:solidFill>
                  <a:srgbClr val="0AC18E"/>
                </a:solidFill>
              </a:defRPr>
            </a:lvl7pPr>
            <a:lvl8pPr>
              <a:defRPr sz="1500" b="1">
                <a:solidFill>
                  <a:srgbClr val="0AC18E"/>
                </a:solidFill>
              </a:defRPr>
            </a:lvl8pPr>
            <a:lvl9pPr>
              <a:defRPr sz="1500" b="1">
                <a:solidFill>
                  <a:srgbClr val="0AC18E"/>
                </a:solidFill>
              </a:defRPr>
            </a:lvl9pPr>
          </a:lstStyle>
          <a:p xmlns:a="http://schemas.openxmlformats.org/drawingml/2006/main">
            <a:pPr>
              <a:defRPr sz="1500" b="1">
                <a:solidFill>
                  <a:srgbClr val="0AC18E"/>
                </a:solidFill>
              </a:defRPr>
            </a:pPr>
            <a:r>
              <a:rPr sz="1500" b="1">
                <a:solidFill>
                  <a:srgbClr val="0AC18E"/>
                </a:solidFill>
              </a:rPr>
              <a:t>Runaway agents</a:t>
            </a:r>
          </a:p>
        </p:txBody>
      </p:sp>
      <p:sp>
        <p:nvSpPr>
          <p:cNvPr id="5" name="">
            <a:extLst xmlns:a="http://schemas.openxmlformats.org/drawingml/2006/main">
              <a:ext uri="{FF2B5EF4-FFF2-40B4-BE49-F238E27FC236}">
                <a16:creationId xmlns:a16="http://schemas.microsoft.com/office/drawing/2014/main" id="{6FEEEAD3-9C2E-4EE1-98CB-CF783CA11462}"/>
              </a:ext>
            </a:extLst>
          </p:cNvPr>
          <p:cNvSpPr>
            <a:spLocks xmlns:a="http://schemas.openxmlformats.org/drawingml/2006/main" noGrp="1"/>
          </p:cNvSpPr>
          <p:nvPr/>
        </p:nvSpPr>
        <p:spPr>
          <a:xfrm xmlns:a="http://schemas.openxmlformats.org/drawingml/2006/main">
            <a:off x="914400" y="3486150"/>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A prompt is not a financial control</a:t>
            </a:r>
          </a:p>
        </p:txBody>
      </p:sp>
      <p:sp>
        <p:nvSpPr>
          <p:cNvPr id="6" name="">
            <a:extLst xmlns:a="http://schemas.openxmlformats.org/drawingml/2006/main">
              <a:ext uri="{FF2B5EF4-FFF2-40B4-BE49-F238E27FC236}">
                <a16:creationId xmlns:a16="http://schemas.microsoft.com/office/drawing/2014/main" id="{9A1526A2-EF76-47C3-B4F3-B57C582EF2E0}"/>
              </a:ext>
            </a:extLst>
          </p:cNvPr>
          <p:cNvSpPr>
            <a:spLocks xmlns:a="http://schemas.openxmlformats.org/drawingml/2006/main" noGrp="1"/>
          </p:cNvSpPr>
          <p:nvPr/>
        </p:nvSpPr>
        <p:spPr>
          <a:xfrm xmlns:a="http://schemas.openxmlformats.org/drawingml/2006/main">
            <a:off x="4305300" y="2857500"/>
            <a:ext cx="3238500" cy="1524000"/>
          </a:xfrm>
          <a:prstGeom xmlns:a="http://schemas.openxmlformats.org/drawingml/2006/main" prst="roundRect">
            <a:avLst>
              <a:gd name="adj" fmla="val 7500"/>
            </a:avLst>
          </a:prstGeom>
          <a:solidFill xmlns:a="http://schemas.openxmlformats.org/drawingml/2006/main">
            <a:srgbClr val="111827"/>
          </a:solidFill>
          <a:ln xmlns:a="http://schemas.openxmlformats.org/drawingml/2006/main" w="9525">
            <a:solidFill>
              <a:srgbClr val="1F2937"/>
            </a:solidFill>
            <a:prstDash val="solid"/>
          </a:ln>
        </p:spPr>
      </p:sp>
      <p:sp>
        <p:nvSpPr>
          <p:cNvPr id="7" name="">
            <a:extLst xmlns:a="http://schemas.openxmlformats.org/drawingml/2006/main">
              <a:ext uri="{FF2B5EF4-FFF2-40B4-BE49-F238E27FC236}">
                <a16:creationId xmlns:a16="http://schemas.microsoft.com/office/drawing/2014/main" id="{273408C5-D193-443C-9A42-7EA8658D0A4F}"/>
              </a:ext>
            </a:extLst>
          </p:cNvPr>
          <p:cNvSpPr>
            <a:spLocks xmlns:a="http://schemas.openxmlformats.org/drawingml/2006/main" noGrp="1"/>
          </p:cNvSpPr>
          <p:nvPr/>
        </p:nvSpPr>
        <p:spPr>
          <a:xfrm xmlns:a="http://schemas.openxmlformats.org/drawingml/2006/main">
            <a:off x="4533900" y="312420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818CF8"/>
                </a:solidFill>
              </a:defRPr>
            </a:defPPr>
            <a:lvl1pPr>
              <a:defRPr sz="1500" b="1">
                <a:solidFill>
                  <a:srgbClr val="818CF8"/>
                </a:solidFill>
              </a:defRPr>
            </a:lvl1pPr>
            <a:lvl2pPr>
              <a:defRPr sz="1500" b="1">
                <a:solidFill>
                  <a:srgbClr val="818CF8"/>
                </a:solidFill>
              </a:defRPr>
            </a:lvl2pPr>
            <a:lvl3pPr>
              <a:defRPr sz="1500" b="1">
                <a:solidFill>
                  <a:srgbClr val="818CF8"/>
                </a:solidFill>
              </a:defRPr>
            </a:lvl3pPr>
            <a:lvl4pPr>
              <a:defRPr sz="1500" b="1">
                <a:solidFill>
                  <a:srgbClr val="818CF8"/>
                </a:solidFill>
              </a:defRPr>
            </a:lvl4pPr>
            <a:lvl5pPr>
              <a:defRPr sz="1500" b="1">
                <a:solidFill>
                  <a:srgbClr val="818CF8"/>
                </a:solidFill>
              </a:defRPr>
            </a:lvl5pPr>
            <a:lvl6pPr>
              <a:defRPr sz="1500" b="1">
                <a:solidFill>
                  <a:srgbClr val="818CF8"/>
                </a:solidFill>
              </a:defRPr>
            </a:lvl6pPr>
            <a:lvl7pPr>
              <a:defRPr sz="1500" b="1">
                <a:solidFill>
                  <a:srgbClr val="818CF8"/>
                </a:solidFill>
              </a:defRPr>
            </a:lvl7pPr>
            <a:lvl8pPr>
              <a:defRPr sz="1500" b="1">
                <a:solidFill>
                  <a:srgbClr val="818CF8"/>
                </a:solidFill>
              </a:defRPr>
            </a:lvl8pPr>
            <a:lvl9pPr>
              <a:defRPr sz="1500" b="1">
                <a:solidFill>
                  <a:srgbClr val="818CF8"/>
                </a:solidFill>
              </a:defRPr>
            </a:lvl9pPr>
          </a:lstStyle>
          <a:p xmlns:a="http://schemas.openxmlformats.org/drawingml/2006/main">
            <a:pPr>
              <a:defRPr sz="1500" b="1">
                <a:solidFill>
                  <a:srgbClr val="818CF8"/>
                </a:solidFill>
              </a:defRPr>
            </a:pPr>
            <a:r>
              <a:rPr sz="1500" b="1">
                <a:solidFill>
                  <a:srgbClr val="818CF8"/>
                </a:solidFill>
              </a:rPr>
              <a:t>PUSD budget</a:t>
            </a:r>
          </a:p>
        </p:txBody>
      </p:sp>
      <p:sp>
        <p:nvSpPr>
          <p:cNvPr id="8" name="">
            <a:extLst xmlns:a="http://schemas.openxmlformats.org/drawingml/2006/main">
              <a:ext uri="{FF2B5EF4-FFF2-40B4-BE49-F238E27FC236}">
                <a16:creationId xmlns:a16="http://schemas.microsoft.com/office/drawing/2014/main" id="{580C7DB0-0385-4EA5-897C-57444C39791D}"/>
              </a:ext>
            </a:extLst>
          </p:cNvPr>
          <p:cNvSpPr>
            <a:spLocks xmlns:a="http://schemas.openxmlformats.org/drawingml/2006/main" noGrp="1"/>
          </p:cNvSpPr>
          <p:nvPr/>
        </p:nvSpPr>
        <p:spPr>
          <a:xfrm xmlns:a="http://schemas.openxmlformats.org/drawingml/2006/main">
            <a:off x="4533900" y="3486150"/>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USD-pegged CashToken</a:t>
            </a:r>
          </a:p>
        </p:txBody>
      </p:sp>
      <p:sp>
        <p:nvSpPr>
          <p:cNvPr id="9" name="">
            <a:extLst xmlns:a="http://schemas.openxmlformats.org/drawingml/2006/main">
              <a:ext uri="{FF2B5EF4-FFF2-40B4-BE49-F238E27FC236}">
                <a16:creationId xmlns:a16="http://schemas.microsoft.com/office/drawing/2014/main" id="{B641F20A-668E-4AB7-882D-EB146AC84176}"/>
              </a:ext>
            </a:extLst>
          </p:cNvPr>
          <p:cNvSpPr>
            <a:spLocks xmlns:a="http://schemas.openxmlformats.org/drawingml/2006/main" noGrp="1"/>
          </p:cNvSpPr>
          <p:nvPr/>
        </p:nvSpPr>
        <p:spPr>
          <a:xfrm xmlns:a="http://schemas.openxmlformats.org/drawingml/2006/main">
            <a:off x="7924800" y="2857500"/>
            <a:ext cx="3238500" cy="1524000"/>
          </a:xfrm>
          <a:prstGeom xmlns:a="http://schemas.openxmlformats.org/drawingml/2006/main" prst="roundRect">
            <a:avLst>
              <a:gd name="adj" fmla="val 7500"/>
            </a:avLst>
          </a:prstGeom>
          <a:solidFill xmlns:a="http://schemas.openxmlformats.org/drawingml/2006/main">
            <a:srgbClr val="111827"/>
          </a:solidFill>
          <a:ln xmlns:a="http://schemas.openxmlformats.org/drawingml/2006/main" w="9525">
            <a:solidFill>
              <a:srgbClr val="1F2937"/>
            </a:solidFill>
            <a:prstDash val="solid"/>
          </a:ln>
        </p:spPr>
      </p:sp>
      <p:sp>
        <p:nvSpPr>
          <p:cNvPr id="10" name="">
            <a:extLst xmlns:a="http://schemas.openxmlformats.org/drawingml/2006/main">
              <a:ext uri="{FF2B5EF4-FFF2-40B4-BE49-F238E27FC236}">
                <a16:creationId xmlns:a16="http://schemas.microsoft.com/office/drawing/2014/main" id="{EA5A80B8-4210-4F01-94D0-658A17050D3A}"/>
              </a:ext>
            </a:extLst>
          </p:cNvPr>
          <p:cNvSpPr>
            <a:spLocks xmlns:a="http://schemas.openxmlformats.org/drawingml/2006/main" noGrp="1"/>
          </p:cNvSpPr>
          <p:nvPr/>
        </p:nvSpPr>
        <p:spPr>
          <a:xfrm xmlns:a="http://schemas.openxmlformats.org/drawingml/2006/main">
            <a:off x="8153400" y="312420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BBF24"/>
                </a:solidFill>
              </a:defRPr>
            </a:defPPr>
            <a:lvl1pPr>
              <a:defRPr sz="1500" b="1">
                <a:solidFill>
                  <a:srgbClr val="FBBF24"/>
                </a:solidFill>
              </a:defRPr>
            </a:lvl1pPr>
            <a:lvl2pPr>
              <a:defRPr sz="1500" b="1">
                <a:solidFill>
                  <a:srgbClr val="FBBF24"/>
                </a:solidFill>
              </a:defRPr>
            </a:lvl2pPr>
            <a:lvl3pPr>
              <a:defRPr sz="1500" b="1">
                <a:solidFill>
                  <a:srgbClr val="FBBF24"/>
                </a:solidFill>
              </a:defRPr>
            </a:lvl3pPr>
            <a:lvl4pPr>
              <a:defRPr sz="1500" b="1">
                <a:solidFill>
                  <a:srgbClr val="FBBF24"/>
                </a:solidFill>
              </a:defRPr>
            </a:lvl4pPr>
            <a:lvl5pPr>
              <a:defRPr sz="1500" b="1">
                <a:solidFill>
                  <a:srgbClr val="FBBF24"/>
                </a:solidFill>
              </a:defRPr>
            </a:lvl5pPr>
            <a:lvl6pPr>
              <a:defRPr sz="1500" b="1">
                <a:solidFill>
                  <a:srgbClr val="FBBF24"/>
                </a:solidFill>
              </a:defRPr>
            </a:lvl6pPr>
            <a:lvl7pPr>
              <a:defRPr sz="1500" b="1">
                <a:solidFill>
                  <a:srgbClr val="FBBF24"/>
                </a:solidFill>
              </a:defRPr>
            </a:lvl7pPr>
            <a:lvl8pPr>
              <a:defRPr sz="1500" b="1">
                <a:solidFill>
                  <a:srgbClr val="FBBF24"/>
                </a:solidFill>
              </a:defRPr>
            </a:lvl8pPr>
            <a:lvl9pPr>
              <a:defRPr sz="1500" b="1">
                <a:solidFill>
                  <a:srgbClr val="FBBF24"/>
                </a:solidFill>
              </a:defRPr>
            </a:lvl9pPr>
          </a:lstStyle>
          <a:p xmlns:a="http://schemas.openxmlformats.org/drawingml/2006/main">
            <a:pPr>
              <a:defRPr sz="1500" b="1">
                <a:solidFill>
                  <a:srgbClr val="FBBF24"/>
                </a:solidFill>
              </a:defRPr>
            </a:pPr>
            <a:r>
              <a:rPr sz="1500" b="1">
                <a:solidFill>
                  <a:srgbClr val="FBBF24"/>
                </a:solidFill>
              </a:rPr>
              <a:t>Hard covenants</a:t>
            </a:r>
          </a:p>
        </p:txBody>
      </p:sp>
      <p:sp>
        <p:nvSpPr>
          <p:cNvPr id="11" name="">
            <a:extLst xmlns:a="http://schemas.openxmlformats.org/drawingml/2006/main">
              <a:ext uri="{FF2B5EF4-FFF2-40B4-BE49-F238E27FC236}">
                <a16:creationId xmlns:a16="http://schemas.microsoft.com/office/drawing/2014/main" id="{F207D55B-678D-4E20-B5FD-ECFAE138CB93}"/>
              </a:ext>
            </a:extLst>
          </p:cNvPr>
          <p:cNvSpPr>
            <a:spLocks xmlns:a="http://schemas.openxmlformats.org/drawingml/2006/main" noGrp="1"/>
          </p:cNvSpPr>
          <p:nvPr/>
        </p:nvSpPr>
        <p:spPr>
          <a:xfrm xmlns:a="http://schemas.openxmlformats.org/drawingml/2006/main">
            <a:off x="8153400" y="3486150"/>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Recursive change, VM-enforced</a:t>
            </a:r>
          </a:p>
        </p:txBody>
      </p:sp>
      <p:sp>
        <p:nvSpPr>
          <p:cNvPr id="12" name="">
            <a:extLst xmlns:a="http://schemas.openxmlformats.org/drawingml/2006/main">
              <a:ext uri="{FF2B5EF4-FFF2-40B4-BE49-F238E27FC236}">
                <a16:creationId xmlns:a16="http://schemas.microsoft.com/office/drawing/2014/main" id="{2EE2DB79-27B2-43EC-B3CF-910CADE6FA5B}"/>
              </a:ext>
            </a:extLst>
          </p:cNvPr>
          <p:cNvSpPr>
            <a:spLocks xmlns:a="http://schemas.openxmlformats.org/drawingml/2006/main" noGrp="1"/>
          </p:cNvSpPr>
          <p:nvPr/>
        </p:nvSpPr>
        <p:spPr>
          <a:xfrm xmlns:a="http://schemas.openxmlformats.org/drawingml/2006/main">
            <a:off x="685800" y="53340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github.com/juangh123/streamvault.cash</a:t>
            </a:r>
          </a:p>
        </p:txBody>
      </p:sp>
    </p:spTree>
    <p:extLst>
      <p:ext uri="{BB962C8B-B14F-4D97-AF65-F5344CB8AC3E}">
        <p14:creationId xmlns:p14="http://schemas.microsoft.com/office/powerpoint/2010/main" val="136851150"/>
      </p:ext>
    </p:extLst>
  </p:cSld>
</p:sld>
</file>

<file path=ppt/slides/slide3.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6ECB20-71C4-4EE9-9619-29474CF9D80B}"/>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THE STORY</a:t>
            </a:r>
          </a:p>
        </p:txBody>
      </p:sp>
      <p:sp>
        <p:nvSpPr>
          <p:cNvPr id="2" name="">
            <a:extLst xmlns:a="http://schemas.openxmlformats.org/drawingml/2006/main">
              <a:ext uri="{FF2B5EF4-FFF2-40B4-BE49-F238E27FC236}">
                <a16:creationId xmlns:a16="http://schemas.microsoft.com/office/drawing/2014/main" id="{C5E8297B-6CF1-4392-A890-3E94DC5D7E81}"/>
              </a:ext>
            </a:extLst>
          </p:cNvPr>
          <p:cNvSpPr>
            <a:spLocks xmlns:a="http://schemas.openxmlformats.org/drawingml/2006/main" noGrp="1"/>
          </p:cNvSpPr>
          <p:nvPr/>
        </p:nvSpPr>
        <p:spPr>
          <a:xfrm xmlns:a="http://schemas.openxmlformats.org/drawingml/2006/main">
            <a:off x="685800" y="87630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1F5F9"/>
                </a:solidFill>
              </a:defRPr>
            </a:defPPr>
            <a:lvl1pPr>
              <a:defRPr sz="2100" b="1">
                <a:solidFill>
                  <a:srgbClr val="F1F5F9"/>
                </a:solidFill>
              </a:defRPr>
            </a:lvl1pPr>
            <a:lvl2pPr>
              <a:defRPr sz="2100" b="1">
                <a:solidFill>
                  <a:srgbClr val="F1F5F9"/>
                </a:solidFill>
              </a:defRPr>
            </a:lvl2pPr>
            <a:lvl3pPr>
              <a:defRPr sz="2100" b="1">
                <a:solidFill>
                  <a:srgbClr val="F1F5F9"/>
                </a:solidFill>
              </a:defRPr>
            </a:lvl3pPr>
            <a:lvl4pPr>
              <a:defRPr sz="2100" b="1">
                <a:solidFill>
                  <a:srgbClr val="F1F5F9"/>
                </a:solidFill>
              </a:defRPr>
            </a:lvl4pPr>
            <a:lvl5pPr>
              <a:defRPr sz="2100" b="1">
                <a:solidFill>
                  <a:srgbClr val="F1F5F9"/>
                </a:solidFill>
              </a:defRPr>
            </a:lvl5pPr>
            <a:lvl6pPr>
              <a:defRPr sz="2100" b="1">
                <a:solidFill>
                  <a:srgbClr val="F1F5F9"/>
                </a:solidFill>
              </a:defRPr>
            </a:lvl6pPr>
            <a:lvl7pPr>
              <a:defRPr sz="2100" b="1">
                <a:solidFill>
                  <a:srgbClr val="F1F5F9"/>
                </a:solidFill>
              </a:defRPr>
            </a:lvl7pPr>
            <a:lvl8pPr>
              <a:defRPr sz="2100" b="1">
                <a:solidFill>
                  <a:srgbClr val="F1F5F9"/>
                </a:solidFill>
              </a:defRPr>
            </a:lvl8pPr>
            <a:lvl9pPr>
              <a:defRPr sz="2100" b="1">
                <a:solidFill>
                  <a:srgbClr val="F1F5F9"/>
                </a:solidFill>
              </a:defRPr>
            </a:lvl9pPr>
          </a:lstStyle>
          <a:p xmlns:a="http://schemas.openxmlformats.org/drawingml/2006/main">
            <a:pPr>
              <a:defRPr sz="2100" b="1">
                <a:solidFill>
                  <a:srgbClr val="F1F5F9"/>
                </a:solidFill>
              </a:defRPr>
            </a:pPr>
            <a:r>
              <a:rPr sz="2100" b="1">
                <a:solidFill>
                  <a:srgbClr val="F1F5F9"/>
                </a:solidFill>
              </a:rPr>
              <a:t>AI agents and payroll share the same trust gap: a wallet can spend everything it can reach.</a:t>
            </a:r>
          </a:p>
        </p:txBody>
      </p:sp>
      <p:sp>
        <p:nvSpPr>
          <p:cNvPr id="3" name="">
            <a:extLst xmlns:a="http://schemas.openxmlformats.org/drawingml/2006/main">
              <a:ext uri="{FF2B5EF4-FFF2-40B4-BE49-F238E27FC236}">
                <a16:creationId xmlns:a16="http://schemas.microsoft.com/office/drawing/2014/main" id="{CC7FF40D-C9E5-46A9-90F8-D310C78723E7}"/>
              </a:ext>
            </a:extLst>
          </p:cNvPr>
          <p:cNvSpPr>
            <a:spLocks xmlns:a="http://schemas.openxmlformats.org/drawingml/2006/main" noGrp="1"/>
          </p:cNvSpPr>
          <p:nvPr/>
        </p:nvSpPr>
        <p:spPr>
          <a:xfrm xmlns:a="http://schemas.openxmlformats.org/drawingml/2006/main">
            <a:off x="685800" y="2095500"/>
            <a:ext cx="10477500" cy="723900"/>
          </a:xfrm>
          <a:prstGeom xmlns:a="http://schemas.openxmlformats.org/drawingml/2006/main" prst="roundRect">
            <a:avLst>
              <a:gd name="adj" fmla="val 15789"/>
            </a:avLst>
          </a:prstGeom>
          <a:solidFill xmlns:a="http://schemas.openxmlformats.org/drawingml/2006/main">
            <a:srgbClr val="111827"/>
          </a:solidFill>
          <a:ln xmlns:a="http://schemas.openxmlformats.org/drawingml/2006/main" w="9525">
            <a:solidFill>
              <a:srgbClr val="1F2937"/>
            </a:solidFill>
            <a:prstDash val="solid"/>
          </a:ln>
        </p:spPr>
      </p:sp>
      <p:sp>
        <p:nvSpPr>
          <p:cNvPr id="4" name="">
            <a:extLst xmlns:a="http://schemas.openxmlformats.org/drawingml/2006/main">
              <a:ext uri="{FF2B5EF4-FFF2-40B4-BE49-F238E27FC236}">
                <a16:creationId xmlns:a16="http://schemas.microsoft.com/office/drawing/2014/main" id="{427E999E-1547-443D-A976-6DB027F09067}"/>
              </a:ext>
            </a:extLst>
          </p:cNvPr>
          <p:cNvSpPr>
            <a:spLocks xmlns:a="http://schemas.openxmlformats.org/drawingml/2006/main" noGrp="1"/>
          </p:cNvSpPr>
          <p:nvPr/>
        </p:nvSpPr>
        <p:spPr>
          <a:xfrm xmlns:a="http://schemas.openxmlformats.org/drawingml/2006/main">
            <a:off x="952500" y="22479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B7185"/>
                </a:solidFill>
              </a:defRPr>
            </a:defPPr>
            <a:lvl1pPr>
              <a:defRPr sz="1500" b="1">
                <a:solidFill>
                  <a:srgbClr val="FB7185"/>
                </a:solidFill>
              </a:defRPr>
            </a:lvl1pPr>
            <a:lvl2pPr>
              <a:defRPr sz="1500" b="1">
                <a:solidFill>
                  <a:srgbClr val="FB7185"/>
                </a:solidFill>
              </a:defRPr>
            </a:lvl2pPr>
            <a:lvl3pPr>
              <a:defRPr sz="1500" b="1">
                <a:solidFill>
                  <a:srgbClr val="FB7185"/>
                </a:solidFill>
              </a:defRPr>
            </a:lvl3pPr>
            <a:lvl4pPr>
              <a:defRPr sz="1500" b="1">
                <a:solidFill>
                  <a:srgbClr val="FB7185"/>
                </a:solidFill>
              </a:defRPr>
            </a:lvl4pPr>
            <a:lvl5pPr>
              <a:defRPr sz="1500" b="1">
                <a:solidFill>
                  <a:srgbClr val="FB7185"/>
                </a:solidFill>
              </a:defRPr>
            </a:lvl5pPr>
            <a:lvl6pPr>
              <a:defRPr sz="1500" b="1">
                <a:solidFill>
                  <a:srgbClr val="FB7185"/>
                </a:solidFill>
              </a:defRPr>
            </a:lvl6pPr>
            <a:lvl7pPr>
              <a:defRPr sz="1500" b="1">
                <a:solidFill>
                  <a:srgbClr val="FB7185"/>
                </a:solidFill>
              </a:defRPr>
            </a:lvl7pPr>
            <a:lvl8pPr>
              <a:defRPr sz="1500" b="1">
                <a:solidFill>
                  <a:srgbClr val="FB7185"/>
                </a:solidFill>
              </a:defRPr>
            </a:lvl8pPr>
            <a:lvl9pPr>
              <a:defRPr sz="1500" b="1">
                <a:solidFill>
                  <a:srgbClr val="FB7185"/>
                </a:solidFill>
              </a:defRPr>
            </a:lvl9pPr>
          </a:lstStyle>
          <a:p xmlns:a="http://schemas.openxmlformats.org/drawingml/2006/main">
            <a:pPr>
              <a:defRPr sz="1500" b="1">
                <a:solidFill>
                  <a:srgbClr val="FB7185"/>
                </a:solidFill>
              </a:defRPr>
            </a:pPr>
            <a:r>
              <a:rPr sz="1500" b="1">
                <a:solidFill>
                  <a:srgbClr val="FB7185"/>
                </a:solidFill>
              </a:rPr>
              <a:t>Runaway agents</a:t>
            </a:r>
          </a:p>
        </p:txBody>
      </p:sp>
      <p:sp>
        <p:nvSpPr>
          <p:cNvPr id="5" name="">
            <a:extLst xmlns:a="http://schemas.openxmlformats.org/drawingml/2006/main">
              <a:ext uri="{FF2B5EF4-FFF2-40B4-BE49-F238E27FC236}">
                <a16:creationId xmlns:a16="http://schemas.microsoft.com/office/drawing/2014/main" id="{89F65132-ABEA-4298-816B-F857A6A4002C}"/>
              </a:ext>
            </a:extLst>
          </p:cNvPr>
          <p:cNvSpPr>
            <a:spLocks xmlns:a="http://schemas.openxmlformats.org/drawingml/2006/main" noGrp="1"/>
          </p:cNvSpPr>
          <p:nvPr/>
        </p:nvSpPr>
        <p:spPr>
          <a:xfrm xmlns:a="http://schemas.openxmlformats.org/drawingml/2006/main">
            <a:off x="4686300" y="2305050"/>
            <a:ext cx="609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A loop or prompt injection can drain an API key or wallet.</a:t>
            </a:r>
          </a:p>
        </p:txBody>
      </p:sp>
      <p:sp>
        <p:nvSpPr>
          <p:cNvPr id="6" name="">
            <a:extLst xmlns:a="http://schemas.openxmlformats.org/drawingml/2006/main">
              <a:ext uri="{FF2B5EF4-FFF2-40B4-BE49-F238E27FC236}">
                <a16:creationId xmlns:a16="http://schemas.microsoft.com/office/drawing/2014/main" id="{61F13A24-B845-4FDC-B980-46800FB34954}"/>
              </a:ext>
            </a:extLst>
          </p:cNvPr>
          <p:cNvSpPr>
            <a:spLocks xmlns:a="http://schemas.openxmlformats.org/drawingml/2006/main" noGrp="1"/>
          </p:cNvSpPr>
          <p:nvPr/>
        </p:nvSpPr>
        <p:spPr>
          <a:xfrm xmlns:a="http://schemas.openxmlformats.org/drawingml/2006/main">
            <a:off x="685800" y="3009900"/>
            <a:ext cx="10477500" cy="723900"/>
          </a:xfrm>
          <a:prstGeom xmlns:a="http://schemas.openxmlformats.org/drawingml/2006/main" prst="roundRect">
            <a:avLst>
              <a:gd name="adj" fmla="val 15789"/>
            </a:avLst>
          </a:prstGeom>
          <a:solidFill xmlns:a="http://schemas.openxmlformats.org/drawingml/2006/main">
            <a:srgbClr val="111827"/>
          </a:solidFill>
          <a:ln xmlns:a="http://schemas.openxmlformats.org/drawingml/2006/main" w="9525">
            <a:solidFill>
              <a:srgbClr val="1F2937"/>
            </a:solidFill>
            <a:prstDash val="solid"/>
          </a:ln>
        </p:spPr>
      </p:sp>
      <p:sp>
        <p:nvSpPr>
          <p:cNvPr id="7" name="">
            <a:extLst xmlns:a="http://schemas.openxmlformats.org/drawingml/2006/main">
              <a:ext uri="{FF2B5EF4-FFF2-40B4-BE49-F238E27FC236}">
                <a16:creationId xmlns:a16="http://schemas.microsoft.com/office/drawing/2014/main" id="{B4496532-C93F-4F30-9C98-EA8EC6938D74}"/>
              </a:ext>
            </a:extLst>
          </p:cNvPr>
          <p:cNvSpPr>
            <a:spLocks xmlns:a="http://schemas.openxmlformats.org/drawingml/2006/main" noGrp="1"/>
          </p:cNvSpPr>
          <p:nvPr/>
        </p:nvSpPr>
        <p:spPr>
          <a:xfrm xmlns:a="http://schemas.openxmlformats.org/drawingml/2006/main">
            <a:off x="952500" y="31623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B7185"/>
                </a:solidFill>
              </a:defRPr>
            </a:defPPr>
            <a:lvl1pPr>
              <a:defRPr sz="1500" b="1">
                <a:solidFill>
                  <a:srgbClr val="FB7185"/>
                </a:solidFill>
              </a:defRPr>
            </a:lvl1pPr>
            <a:lvl2pPr>
              <a:defRPr sz="1500" b="1">
                <a:solidFill>
                  <a:srgbClr val="FB7185"/>
                </a:solidFill>
              </a:defRPr>
            </a:lvl2pPr>
            <a:lvl3pPr>
              <a:defRPr sz="1500" b="1">
                <a:solidFill>
                  <a:srgbClr val="FB7185"/>
                </a:solidFill>
              </a:defRPr>
            </a:lvl3pPr>
            <a:lvl4pPr>
              <a:defRPr sz="1500" b="1">
                <a:solidFill>
                  <a:srgbClr val="FB7185"/>
                </a:solidFill>
              </a:defRPr>
            </a:lvl4pPr>
            <a:lvl5pPr>
              <a:defRPr sz="1500" b="1">
                <a:solidFill>
                  <a:srgbClr val="FB7185"/>
                </a:solidFill>
              </a:defRPr>
            </a:lvl5pPr>
            <a:lvl6pPr>
              <a:defRPr sz="1500" b="1">
                <a:solidFill>
                  <a:srgbClr val="FB7185"/>
                </a:solidFill>
              </a:defRPr>
            </a:lvl6pPr>
            <a:lvl7pPr>
              <a:defRPr sz="1500" b="1">
                <a:solidFill>
                  <a:srgbClr val="FB7185"/>
                </a:solidFill>
              </a:defRPr>
            </a:lvl7pPr>
            <a:lvl8pPr>
              <a:defRPr sz="1500" b="1">
                <a:solidFill>
                  <a:srgbClr val="FB7185"/>
                </a:solidFill>
              </a:defRPr>
            </a:lvl8pPr>
            <a:lvl9pPr>
              <a:defRPr sz="1500" b="1">
                <a:solidFill>
                  <a:srgbClr val="FB7185"/>
                </a:solidFill>
              </a:defRPr>
            </a:lvl9pPr>
          </a:lstStyle>
          <a:p xmlns:a="http://schemas.openxmlformats.org/drawingml/2006/main">
            <a:pPr>
              <a:defRPr sz="1500" b="1">
                <a:solidFill>
                  <a:srgbClr val="FB7185"/>
                </a:solidFill>
              </a:defRPr>
            </a:pPr>
            <a:r>
              <a:rPr sz="1500" b="1">
                <a:solidFill>
                  <a:srgbClr val="FB7185"/>
                </a:solidFill>
              </a:rPr>
              <a:t>Lump-sum payroll</a:t>
            </a:r>
          </a:p>
        </p:txBody>
      </p:sp>
      <p:sp>
        <p:nvSpPr>
          <p:cNvPr id="8" name="">
            <a:extLst xmlns:a="http://schemas.openxmlformats.org/drawingml/2006/main">
              <a:ext uri="{FF2B5EF4-FFF2-40B4-BE49-F238E27FC236}">
                <a16:creationId xmlns:a16="http://schemas.microsoft.com/office/drawing/2014/main" id="{C6755382-900B-4B90-9F1D-EF143DFFA30E}"/>
              </a:ext>
            </a:extLst>
          </p:cNvPr>
          <p:cNvSpPr>
            <a:spLocks xmlns:a="http://schemas.openxmlformats.org/drawingml/2006/main" noGrp="1"/>
          </p:cNvSpPr>
          <p:nvPr/>
        </p:nvSpPr>
        <p:spPr>
          <a:xfrm xmlns:a="http://schemas.openxmlformats.org/drawingml/2006/main">
            <a:off x="4686300" y="3219450"/>
            <a:ext cx="609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Payees wait; payers over-commit; custodians sit in the middle.</a:t>
            </a:r>
          </a:p>
        </p:txBody>
      </p:sp>
      <p:sp>
        <p:nvSpPr>
          <p:cNvPr id="9" name="">
            <a:extLst xmlns:a="http://schemas.openxmlformats.org/drawingml/2006/main">
              <a:ext uri="{FF2B5EF4-FFF2-40B4-BE49-F238E27FC236}">
                <a16:creationId xmlns:a16="http://schemas.microsoft.com/office/drawing/2014/main" id="{B4F7C96F-99EC-402E-AED1-650C0F3560E3}"/>
              </a:ext>
            </a:extLst>
          </p:cNvPr>
          <p:cNvSpPr>
            <a:spLocks xmlns:a="http://schemas.openxmlformats.org/drawingml/2006/main" noGrp="1"/>
          </p:cNvSpPr>
          <p:nvPr/>
        </p:nvSpPr>
        <p:spPr>
          <a:xfrm xmlns:a="http://schemas.openxmlformats.org/drawingml/2006/main">
            <a:off x="685800" y="3924300"/>
            <a:ext cx="10477500" cy="723900"/>
          </a:xfrm>
          <a:prstGeom xmlns:a="http://schemas.openxmlformats.org/drawingml/2006/main" prst="roundRect">
            <a:avLst>
              <a:gd name="adj" fmla="val 15789"/>
            </a:avLst>
          </a:prstGeom>
          <a:solidFill xmlns:a="http://schemas.openxmlformats.org/drawingml/2006/main">
            <a:srgbClr val="111827"/>
          </a:solidFill>
          <a:ln xmlns:a="http://schemas.openxmlformats.org/drawingml/2006/main" w="9525">
            <a:solidFill>
              <a:srgbClr val="1F2937"/>
            </a:solidFill>
            <a:prstDash val="solid"/>
          </a:ln>
        </p:spPr>
      </p:sp>
      <p:sp>
        <p:nvSpPr>
          <p:cNvPr id="10" name="">
            <a:extLst xmlns:a="http://schemas.openxmlformats.org/drawingml/2006/main">
              <a:ext uri="{FF2B5EF4-FFF2-40B4-BE49-F238E27FC236}">
                <a16:creationId xmlns:a16="http://schemas.microsoft.com/office/drawing/2014/main" id="{BE7042EC-387B-4DE1-A8DB-662C76D103EE}"/>
              </a:ext>
            </a:extLst>
          </p:cNvPr>
          <p:cNvSpPr>
            <a:spLocks xmlns:a="http://schemas.openxmlformats.org/drawingml/2006/main" noGrp="1"/>
          </p:cNvSpPr>
          <p:nvPr/>
        </p:nvSpPr>
        <p:spPr>
          <a:xfrm xmlns:a="http://schemas.openxmlformats.org/drawingml/2006/main">
            <a:off x="952500" y="40767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B7185"/>
                </a:solidFill>
              </a:defRPr>
            </a:defPPr>
            <a:lvl1pPr>
              <a:defRPr sz="1500" b="1">
                <a:solidFill>
                  <a:srgbClr val="FB7185"/>
                </a:solidFill>
              </a:defRPr>
            </a:lvl1pPr>
            <a:lvl2pPr>
              <a:defRPr sz="1500" b="1">
                <a:solidFill>
                  <a:srgbClr val="FB7185"/>
                </a:solidFill>
              </a:defRPr>
            </a:lvl2pPr>
            <a:lvl3pPr>
              <a:defRPr sz="1500" b="1">
                <a:solidFill>
                  <a:srgbClr val="FB7185"/>
                </a:solidFill>
              </a:defRPr>
            </a:lvl3pPr>
            <a:lvl4pPr>
              <a:defRPr sz="1500" b="1">
                <a:solidFill>
                  <a:srgbClr val="FB7185"/>
                </a:solidFill>
              </a:defRPr>
            </a:lvl4pPr>
            <a:lvl5pPr>
              <a:defRPr sz="1500" b="1">
                <a:solidFill>
                  <a:srgbClr val="FB7185"/>
                </a:solidFill>
              </a:defRPr>
            </a:lvl5pPr>
            <a:lvl6pPr>
              <a:defRPr sz="1500" b="1">
                <a:solidFill>
                  <a:srgbClr val="FB7185"/>
                </a:solidFill>
              </a:defRPr>
            </a:lvl6pPr>
            <a:lvl7pPr>
              <a:defRPr sz="1500" b="1">
                <a:solidFill>
                  <a:srgbClr val="FB7185"/>
                </a:solidFill>
              </a:defRPr>
            </a:lvl7pPr>
            <a:lvl8pPr>
              <a:defRPr sz="1500" b="1">
                <a:solidFill>
                  <a:srgbClr val="FB7185"/>
                </a:solidFill>
              </a:defRPr>
            </a:lvl8pPr>
            <a:lvl9pPr>
              <a:defRPr sz="1500" b="1">
                <a:solidFill>
                  <a:srgbClr val="FB7185"/>
                </a:solidFill>
              </a:defRPr>
            </a:lvl9pPr>
          </a:lstStyle>
          <a:p xmlns:a="http://schemas.openxmlformats.org/drawingml/2006/main">
            <a:pPr>
              <a:defRPr sz="1500" b="1">
                <a:solidFill>
                  <a:srgbClr val="FB7185"/>
                </a:solidFill>
              </a:defRPr>
            </a:pPr>
            <a:r>
              <a:rPr sz="1500" b="1">
                <a:solidFill>
                  <a:srgbClr val="FB7185"/>
                </a:solidFill>
              </a:rPr>
              <a:t>EVM service calls</a:t>
            </a:r>
          </a:p>
        </p:txBody>
      </p:sp>
      <p:sp>
        <p:nvSpPr>
          <p:cNvPr id="11" name="">
            <a:extLst xmlns:a="http://schemas.openxmlformats.org/drawingml/2006/main">
              <a:ext uri="{FF2B5EF4-FFF2-40B4-BE49-F238E27FC236}">
                <a16:creationId xmlns:a16="http://schemas.microsoft.com/office/drawing/2014/main" id="{5341D762-5259-4416-BF43-E441B4A28693}"/>
              </a:ext>
            </a:extLst>
          </p:cNvPr>
          <p:cNvSpPr>
            <a:spLocks xmlns:a="http://schemas.openxmlformats.org/drawingml/2006/main" noGrp="1"/>
          </p:cNvSpPr>
          <p:nvPr/>
        </p:nvSpPr>
        <p:spPr>
          <a:xfrm xmlns:a="http://schemas.openxmlformats.org/drawingml/2006/main">
            <a:off x="4686300" y="4133850"/>
            <a:ext cx="609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Gas exceeds a 0.01 USD payment.</a:t>
            </a:r>
          </a:p>
        </p:txBody>
      </p:sp>
      <p:sp>
        <p:nvSpPr>
          <p:cNvPr id="12" name="">
            <a:extLst xmlns:a="http://schemas.openxmlformats.org/drawingml/2006/main">
              <a:ext uri="{FF2B5EF4-FFF2-40B4-BE49-F238E27FC236}">
                <a16:creationId xmlns:a16="http://schemas.microsoft.com/office/drawing/2014/main" id="{C99B69AD-333A-4414-AC18-79BF5505A1B5}"/>
              </a:ext>
            </a:extLst>
          </p:cNvPr>
          <p:cNvSpPr>
            <a:spLocks xmlns:a="http://schemas.openxmlformats.org/drawingml/2006/main" noGrp="1"/>
          </p:cNvSpPr>
          <p:nvPr/>
        </p:nvSpPr>
        <p:spPr>
          <a:xfrm xmlns:a="http://schemas.openxmlformats.org/drawingml/2006/main">
            <a:off x="685800" y="514350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AC18E"/>
                </a:solidFill>
              </a:defRPr>
            </a:defPPr>
            <a:lvl1pPr>
              <a:defRPr sz="1500" b="1">
                <a:solidFill>
                  <a:srgbClr val="0AC18E"/>
                </a:solidFill>
              </a:defRPr>
            </a:lvl1pPr>
            <a:lvl2pPr>
              <a:defRPr sz="1500" b="1">
                <a:solidFill>
                  <a:srgbClr val="0AC18E"/>
                </a:solidFill>
              </a:defRPr>
            </a:lvl2pPr>
            <a:lvl3pPr>
              <a:defRPr sz="1500" b="1">
                <a:solidFill>
                  <a:srgbClr val="0AC18E"/>
                </a:solidFill>
              </a:defRPr>
            </a:lvl3pPr>
            <a:lvl4pPr>
              <a:defRPr sz="1500" b="1">
                <a:solidFill>
                  <a:srgbClr val="0AC18E"/>
                </a:solidFill>
              </a:defRPr>
            </a:lvl4pPr>
            <a:lvl5pPr>
              <a:defRPr sz="1500" b="1">
                <a:solidFill>
                  <a:srgbClr val="0AC18E"/>
                </a:solidFill>
              </a:defRPr>
            </a:lvl5pPr>
            <a:lvl6pPr>
              <a:defRPr sz="1500" b="1">
                <a:solidFill>
                  <a:srgbClr val="0AC18E"/>
                </a:solidFill>
              </a:defRPr>
            </a:lvl6pPr>
            <a:lvl7pPr>
              <a:defRPr sz="1500" b="1">
                <a:solidFill>
                  <a:srgbClr val="0AC18E"/>
                </a:solidFill>
              </a:defRPr>
            </a:lvl7pPr>
            <a:lvl8pPr>
              <a:defRPr sz="1500" b="1">
                <a:solidFill>
                  <a:srgbClr val="0AC18E"/>
                </a:solidFill>
              </a:defRPr>
            </a:lvl8pPr>
            <a:lvl9pPr>
              <a:defRPr sz="1500" b="1">
                <a:solidFill>
                  <a:srgbClr val="0AC18E"/>
                </a:solidFill>
              </a:defRPr>
            </a:lvl9pPr>
          </a:lstStyle>
          <a:p xmlns:a="http://schemas.openxmlformats.org/drawingml/2006/main">
            <a:pPr>
              <a:defRPr sz="1500" b="1">
                <a:solidFill>
                  <a:srgbClr val="0AC18E"/>
                </a:solidFill>
              </a:defRPr>
            </a:pPr>
            <a:r>
              <a:rPr sz="1500" b="1">
                <a:solidFill>
                  <a:srgbClr val="0AC18E"/>
                </a:solidFill>
              </a:rPr>
              <a:t>BCH: near-zero fees + introspection covenants = the natural rail for programmable streams.</a:t>
            </a:r>
          </a:p>
        </p:txBody>
      </p:sp>
    </p:spTree>
    <p:extLst>
      <p:ext uri="{BB962C8B-B14F-4D97-AF65-F5344CB8AC3E}">
        <p14:creationId xmlns:p14="http://schemas.microsoft.com/office/powerpoint/2010/main" val="188871036"/>
      </p:ext>
    </p:extLst>
  </p:cSld>
</p:sld>
</file>

<file path=ppt/slides/slide4.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BDE69E-9A2B-48DD-97FB-B867E2666EB1}"/>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BENEFITS</a:t>
            </a:r>
          </a:p>
        </p:txBody>
      </p:sp>
      <p:sp>
        <p:nvSpPr>
          <p:cNvPr id="2" name="">
            <a:extLst xmlns:a="http://schemas.openxmlformats.org/drawingml/2006/main">
              <a:ext uri="{FF2B5EF4-FFF2-40B4-BE49-F238E27FC236}">
                <a16:creationId xmlns:a16="http://schemas.microsoft.com/office/drawing/2014/main" id="{22C91821-7CDD-4BDF-ACE1-506E59F12201}"/>
              </a:ext>
            </a:extLst>
          </p:cNvPr>
          <p:cNvSpPr>
            <a:spLocks xmlns:a="http://schemas.openxmlformats.org/drawingml/2006/main" noGrp="1"/>
          </p:cNvSpPr>
          <p:nvPr/>
        </p:nvSpPr>
        <p:spPr>
          <a:xfrm xmlns:a="http://schemas.openxmlformats.org/drawingml/2006/main">
            <a:off x="685800" y="91440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F5F9"/>
                </a:solidFill>
              </a:defRPr>
            </a:defPPr>
            <a:lvl1pPr>
              <a:defRPr sz="2250" b="1">
                <a:solidFill>
                  <a:srgbClr val="F1F5F9"/>
                </a:solidFill>
              </a:defRPr>
            </a:lvl1pPr>
            <a:lvl2pPr>
              <a:defRPr sz="2250" b="1">
                <a:solidFill>
                  <a:srgbClr val="F1F5F9"/>
                </a:solidFill>
              </a:defRPr>
            </a:lvl2pPr>
            <a:lvl3pPr>
              <a:defRPr sz="2250" b="1">
                <a:solidFill>
                  <a:srgbClr val="F1F5F9"/>
                </a:solidFill>
              </a:defRPr>
            </a:lvl3pPr>
            <a:lvl4pPr>
              <a:defRPr sz="2250" b="1">
                <a:solidFill>
                  <a:srgbClr val="F1F5F9"/>
                </a:solidFill>
              </a:defRPr>
            </a:lvl4pPr>
            <a:lvl5pPr>
              <a:defRPr sz="2250" b="1">
                <a:solidFill>
                  <a:srgbClr val="F1F5F9"/>
                </a:solidFill>
              </a:defRPr>
            </a:lvl5pPr>
            <a:lvl6pPr>
              <a:defRPr sz="2250" b="1">
                <a:solidFill>
                  <a:srgbClr val="F1F5F9"/>
                </a:solidFill>
              </a:defRPr>
            </a:lvl6pPr>
            <a:lvl7pPr>
              <a:defRPr sz="2250" b="1">
                <a:solidFill>
                  <a:srgbClr val="F1F5F9"/>
                </a:solidFill>
              </a:defRPr>
            </a:lvl7pPr>
            <a:lvl8pPr>
              <a:defRPr sz="2250" b="1">
                <a:solidFill>
                  <a:srgbClr val="F1F5F9"/>
                </a:solidFill>
              </a:defRPr>
            </a:lvl8pPr>
            <a:lvl9pPr>
              <a:defRPr sz="2250" b="1">
                <a:solidFill>
                  <a:srgbClr val="F1F5F9"/>
                </a:solidFill>
              </a:defRPr>
            </a:lvl9pPr>
          </a:lstStyle>
          <a:p xmlns:a="http://schemas.openxmlformats.org/drawingml/2006/main">
            <a:pPr>
              <a:defRPr sz="2250" b="1">
                <a:solidFill>
                  <a:srgbClr val="F1F5F9"/>
                </a:solidFill>
              </a:defRPr>
            </a:pPr>
            <a:r>
              <a:rPr sz="2250" b="1">
                <a:solidFill>
                  <a:srgbClr val="F1F5F9"/>
                </a:solidFill>
              </a:rPr>
              <a:t>One covenant, three users.</a:t>
            </a:r>
          </a:p>
        </p:txBody>
      </p:sp>
      <p:sp>
        <p:nvSpPr>
          <p:cNvPr id="3" name="">
            <a:extLst xmlns:a="http://schemas.openxmlformats.org/drawingml/2006/main">
              <a:ext uri="{FF2B5EF4-FFF2-40B4-BE49-F238E27FC236}">
                <a16:creationId xmlns:a16="http://schemas.microsoft.com/office/drawing/2014/main" id="{B39CE288-A592-4B77-902B-A33882515B2B}"/>
              </a:ext>
            </a:extLst>
          </p:cNvPr>
          <p:cNvSpPr>
            <a:spLocks xmlns:a="http://schemas.openxmlformats.org/drawingml/2006/main" noGrp="1"/>
          </p:cNvSpPr>
          <p:nvPr/>
        </p:nvSpPr>
        <p:spPr>
          <a:xfrm xmlns:a="http://schemas.openxmlformats.org/drawingml/2006/main">
            <a:off x="685800" y="1714500"/>
            <a:ext cx="5048250" cy="1619250"/>
          </a:xfrm>
          <a:prstGeom xmlns:a="http://schemas.openxmlformats.org/drawingml/2006/main" prst="roundRect">
            <a:avLst>
              <a:gd name="adj" fmla="val 7059"/>
            </a:avLst>
          </a:prstGeom>
          <a:solidFill xmlns:a="http://schemas.openxmlformats.org/drawingml/2006/main">
            <a:srgbClr val="111827"/>
          </a:solidFill>
          <a:ln xmlns:a="http://schemas.openxmlformats.org/drawingml/2006/main" w="9525">
            <a:solidFill>
              <a:srgbClr val="1F2937"/>
            </a:solidFill>
            <a:prstDash val="solid"/>
          </a:ln>
        </p:spPr>
      </p:sp>
      <p:sp>
        <p:nvSpPr>
          <p:cNvPr id="4" name="">
            <a:extLst xmlns:a="http://schemas.openxmlformats.org/drawingml/2006/main">
              <a:ext uri="{FF2B5EF4-FFF2-40B4-BE49-F238E27FC236}">
                <a16:creationId xmlns:a16="http://schemas.microsoft.com/office/drawing/2014/main" id="{0E443373-EC42-48B4-923E-4EBDB2E71E69}"/>
              </a:ext>
            </a:extLst>
          </p:cNvPr>
          <p:cNvSpPr>
            <a:spLocks xmlns:a="http://schemas.openxmlformats.org/drawingml/2006/main" noGrp="1"/>
          </p:cNvSpPr>
          <p:nvPr/>
        </p:nvSpPr>
        <p:spPr>
          <a:xfrm xmlns:a="http://schemas.openxmlformats.org/drawingml/2006/main">
            <a:off x="952500" y="19812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AC18E"/>
                </a:solidFill>
              </a:defRPr>
            </a:defPPr>
            <a:lvl1pPr>
              <a:defRPr sz="1800" b="1">
                <a:solidFill>
                  <a:srgbClr val="0AC18E"/>
                </a:solidFill>
              </a:defRPr>
            </a:lvl1pPr>
            <a:lvl2pPr>
              <a:defRPr sz="1800" b="1">
                <a:solidFill>
                  <a:srgbClr val="0AC18E"/>
                </a:solidFill>
              </a:defRPr>
            </a:lvl2pPr>
            <a:lvl3pPr>
              <a:defRPr sz="1800" b="1">
                <a:solidFill>
                  <a:srgbClr val="0AC18E"/>
                </a:solidFill>
              </a:defRPr>
            </a:lvl3pPr>
            <a:lvl4pPr>
              <a:defRPr sz="1800" b="1">
                <a:solidFill>
                  <a:srgbClr val="0AC18E"/>
                </a:solidFill>
              </a:defRPr>
            </a:lvl4pPr>
            <a:lvl5pPr>
              <a:defRPr sz="1800" b="1">
                <a:solidFill>
                  <a:srgbClr val="0AC18E"/>
                </a:solidFill>
              </a:defRPr>
            </a:lvl5pPr>
            <a:lvl6pPr>
              <a:defRPr sz="1800" b="1">
                <a:solidFill>
                  <a:srgbClr val="0AC18E"/>
                </a:solidFill>
              </a:defRPr>
            </a:lvl6pPr>
            <a:lvl7pPr>
              <a:defRPr sz="1800" b="1">
                <a:solidFill>
                  <a:srgbClr val="0AC18E"/>
                </a:solidFill>
              </a:defRPr>
            </a:lvl7pPr>
            <a:lvl8pPr>
              <a:defRPr sz="1800" b="1">
                <a:solidFill>
                  <a:srgbClr val="0AC18E"/>
                </a:solidFill>
              </a:defRPr>
            </a:lvl8pPr>
            <a:lvl9pPr>
              <a:defRPr sz="1800" b="1">
                <a:solidFill>
                  <a:srgbClr val="0AC18E"/>
                </a:solidFill>
              </a:defRPr>
            </a:lvl9pPr>
          </a:lstStyle>
          <a:p xmlns:a="http://schemas.openxmlformats.org/drawingml/2006/main">
            <a:pPr>
              <a:defRPr sz="1800" b="1">
                <a:solidFill>
                  <a:srgbClr val="0AC18E"/>
                </a:solidFill>
              </a:defRPr>
            </a:pPr>
            <a:r>
              <a:rPr sz="1800" b="1">
                <a:solidFill>
                  <a:srgbClr val="0AC18E"/>
                </a:solidFill>
              </a:rPr>
              <a:t>Payer</a:t>
            </a:r>
          </a:p>
        </p:txBody>
      </p:sp>
      <p:sp>
        <p:nvSpPr>
          <p:cNvPr id="5" name="">
            <a:extLst xmlns:a="http://schemas.openxmlformats.org/drawingml/2006/main">
              <a:ext uri="{FF2B5EF4-FFF2-40B4-BE49-F238E27FC236}">
                <a16:creationId xmlns:a16="http://schemas.microsoft.com/office/drawing/2014/main" id="{43A1F7C8-E087-4C79-9371-C123DEDEC232}"/>
              </a:ext>
            </a:extLst>
          </p:cNvPr>
          <p:cNvSpPr>
            <a:spLocks xmlns:a="http://schemas.openxmlformats.org/drawingml/2006/main" noGrp="1"/>
          </p:cNvSpPr>
          <p:nvPr/>
        </p:nvSpPr>
        <p:spPr>
          <a:xfrm xmlns:a="http://schemas.openxmlformats.org/drawingml/2006/main">
            <a:off x="952500" y="2419350"/>
            <a:ext cx="451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94A3B8"/>
                </a:solidFill>
              </a:defRPr>
            </a:defPPr>
            <a:lvl1pPr>
              <a:defRPr sz="1275" b="0">
                <a:solidFill>
                  <a:srgbClr val="94A3B8"/>
                </a:solidFill>
              </a:defRPr>
            </a:lvl1pPr>
            <a:lvl2pPr>
              <a:defRPr sz="1275" b="0">
                <a:solidFill>
                  <a:srgbClr val="94A3B8"/>
                </a:solidFill>
              </a:defRPr>
            </a:lvl2pPr>
            <a:lvl3pPr>
              <a:defRPr sz="1275" b="0">
                <a:solidFill>
                  <a:srgbClr val="94A3B8"/>
                </a:solidFill>
              </a:defRPr>
            </a:lvl3pPr>
            <a:lvl4pPr>
              <a:defRPr sz="1275" b="0">
                <a:solidFill>
                  <a:srgbClr val="94A3B8"/>
                </a:solidFill>
              </a:defRPr>
            </a:lvl4pPr>
            <a:lvl5pPr>
              <a:defRPr sz="1275" b="0">
                <a:solidFill>
                  <a:srgbClr val="94A3B8"/>
                </a:solidFill>
              </a:defRPr>
            </a:lvl5pPr>
            <a:lvl6pPr>
              <a:defRPr sz="1275" b="0">
                <a:solidFill>
                  <a:srgbClr val="94A3B8"/>
                </a:solidFill>
              </a:defRPr>
            </a:lvl6pPr>
            <a:lvl7pPr>
              <a:defRPr sz="1275" b="0">
                <a:solidFill>
                  <a:srgbClr val="94A3B8"/>
                </a:solidFill>
              </a:defRPr>
            </a:lvl7pPr>
            <a:lvl8pPr>
              <a:defRPr sz="1275" b="0">
                <a:solidFill>
                  <a:srgbClr val="94A3B8"/>
                </a:solidFill>
              </a:defRPr>
            </a:lvl8pPr>
            <a:lvl9pPr>
              <a:defRPr sz="1275" b="0">
                <a:solidFill>
                  <a:srgbClr val="94A3B8"/>
                </a:solidFill>
              </a:defRPr>
            </a:lvl9pPr>
          </a:lstStyle>
          <a:p xmlns:a="http://schemas.openxmlformats.org/drawingml/2006/main">
            <a:pPr>
              <a:defRPr sz="1275" b="0">
                <a:solidFill>
                  <a:srgbClr val="94A3B8"/>
                </a:solidFill>
              </a:defRPr>
            </a:pPr>
            <a:r>
              <a:rPr sz="1275" b="0">
                <a:solidFill>
                  <a:srgbClr val="94A3B8"/>
                </a:solidFill>
              </a:rPr>
              <a:t>Locks a budget; keeps a cancel key and reclaims the rest.</a:t>
            </a:r>
          </a:p>
        </p:txBody>
      </p:sp>
      <p:sp>
        <p:nvSpPr>
          <p:cNvPr id="6" name="">
            <a:extLst xmlns:a="http://schemas.openxmlformats.org/drawingml/2006/main">
              <a:ext uri="{FF2B5EF4-FFF2-40B4-BE49-F238E27FC236}">
                <a16:creationId xmlns:a16="http://schemas.microsoft.com/office/drawing/2014/main" id="{C96F7F66-9F7B-4687-9EA6-5259E9916EFC}"/>
              </a:ext>
            </a:extLst>
          </p:cNvPr>
          <p:cNvSpPr>
            <a:spLocks xmlns:a="http://schemas.openxmlformats.org/drawingml/2006/main" noGrp="1"/>
          </p:cNvSpPr>
          <p:nvPr/>
        </p:nvSpPr>
        <p:spPr>
          <a:xfrm xmlns:a="http://schemas.openxmlformats.org/drawingml/2006/main">
            <a:off x="6115050" y="1714500"/>
            <a:ext cx="5048250" cy="1619250"/>
          </a:xfrm>
          <a:prstGeom xmlns:a="http://schemas.openxmlformats.org/drawingml/2006/main" prst="roundRect">
            <a:avLst>
              <a:gd name="adj" fmla="val 7059"/>
            </a:avLst>
          </a:prstGeom>
          <a:solidFill xmlns:a="http://schemas.openxmlformats.org/drawingml/2006/main">
            <a:srgbClr val="111827"/>
          </a:solidFill>
          <a:ln xmlns:a="http://schemas.openxmlformats.org/drawingml/2006/main" w="9525">
            <a:solidFill>
              <a:srgbClr val="1F2937"/>
            </a:solidFill>
            <a:prstDash val="solid"/>
          </a:ln>
        </p:spPr>
      </p:sp>
      <p:sp>
        <p:nvSpPr>
          <p:cNvPr id="7" name="">
            <a:extLst xmlns:a="http://schemas.openxmlformats.org/drawingml/2006/main">
              <a:ext uri="{FF2B5EF4-FFF2-40B4-BE49-F238E27FC236}">
                <a16:creationId xmlns:a16="http://schemas.microsoft.com/office/drawing/2014/main" id="{F8C239FA-590C-4198-A23C-9AFDAB58D2B6}"/>
              </a:ext>
            </a:extLst>
          </p:cNvPr>
          <p:cNvSpPr>
            <a:spLocks xmlns:a="http://schemas.openxmlformats.org/drawingml/2006/main" noGrp="1"/>
          </p:cNvSpPr>
          <p:nvPr/>
        </p:nvSpPr>
        <p:spPr>
          <a:xfrm xmlns:a="http://schemas.openxmlformats.org/drawingml/2006/main">
            <a:off x="6381750" y="19812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818CF8"/>
                </a:solidFill>
              </a:defRPr>
            </a:defPPr>
            <a:lvl1pPr>
              <a:defRPr sz="1800" b="1">
                <a:solidFill>
                  <a:srgbClr val="818CF8"/>
                </a:solidFill>
              </a:defRPr>
            </a:lvl1pPr>
            <a:lvl2pPr>
              <a:defRPr sz="1800" b="1">
                <a:solidFill>
                  <a:srgbClr val="818CF8"/>
                </a:solidFill>
              </a:defRPr>
            </a:lvl2pPr>
            <a:lvl3pPr>
              <a:defRPr sz="1800" b="1">
                <a:solidFill>
                  <a:srgbClr val="818CF8"/>
                </a:solidFill>
              </a:defRPr>
            </a:lvl3pPr>
            <a:lvl4pPr>
              <a:defRPr sz="1800" b="1">
                <a:solidFill>
                  <a:srgbClr val="818CF8"/>
                </a:solidFill>
              </a:defRPr>
            </a:lvl4pPr>
            <a:lvl5pPr>
              <a:defRPr sz="1800" b="1">
                <a:solidFill>
                  <a:srgbClr val="818CF8"/>
                </a:solidFill>
              </a:defRPr>
            </a:lvl5pPr>
            <a:lvl6pPr>
              <a:defRPr sz="1800" b="1">
                <a:solidFill>
                  <a:srgbClr val="818CF8"/>
                </a:solidFill>
              </a:defRPr>
            </a:lvl6pPr>
            <a:lvl7pPr>
              <a:defRPr sz="1800" b="1">
                <a:solidFill>
                  <a:srgbClr val="818CF8"/>
                </a:solidFill>
              </a:defRPr>
            </a:lvl7pPr>
            <a:lvl8pPr>
              <a:defRPr sz="1800" b="1">
                <a:solidFill>
                  <a:srgbClr val="818CF8"/>
                </a:solidFill>
              </a:defRPr>
            </a:lvl8pPr>
            <a:lvl9pPr>
              <a:defRPr sz="1800" b="1">
                <a:solidFill>
                  <a:srgbClr val="818CF8"/>
                </a:solidFill>
              </a:defRPr>
            </a:lvl9pPr>
          </a:lstStyle>
          <a:p xmlns:a="http://schemas.openxmlformats.org/drawingml/2006/main">
            <a:pPr>
              <a:defRPr sz="1800" b="1">
                <a:solidFill>
                  <a:srgbClr val="818CF8"/>
                </a:solidFill>
              </a:defRPr>
            </a:pPr>
            <a:r>
              <a:rPr sz="1800" b="1">
                <a:solidFill>
                  <a:srgbClr val="818CF8"/>
                </a:solidFill>
              </a:rPr>
              <a:t>Worker</a:t>
            </a:r>
          </a:p>
        </p:txBody>
      </p:sp>
      <p:sp>
        <p:nvSpPr>
          <p:cNvPr id="8" name="">
            <a:extLst xmlns:a="http://schemas.openxmlformats.org/drawingml/2006/main">
              <a:ext uri="{FF2B5EF4-FFF2-40B4-BE49-F238E27FC236}">
                <a16:creationId xmlns:a16="http://schemas.microsoft.com/office/drawing/2014/main" id="{173F5832-7496-43F3-B083-28300E9E913C}"/>
              </a:ext>
            </a:extLst>
          </p:cNvPr>
          <p:cNvSpPr>
            <a:spLocks xmlns:a="http://schemas.openxmlformats.org/drawingml/2006/main" noGrp="1"/>
          </p:cNvSpPr>
          <p:nvPr/>
        </p:nvSpPr>
        <p:spPr>
          <a:xfrm xmlns:a="http://schemas.openxmlformats.org/drawingml/2006/main">
            <a:off x="6381750" y="2419350"/>
            <a:ext cx="451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94A3B8"/>
                </a:solidFill>
              </a:defRPr>
            </a:defPPr>
            <a:lvl1pPr>
              <a:defRPr sz="1275" b="0">
                <a:solidFill>
                  <a:srgbClr val="94A3B8"/>
                </a:solidFill>
              </a:defRPr>
            </a:lvl1pPr>
            <a:lvl2pPr>
              <a:defRPr sz="1275" b="0">
                <a:solidFill>
                  <a:srgbClr val="94A3B8"/>
                </a:solidFill>
              </a:defRPr>
            </a:lvl2pPr>
            <a:lvl3pPr>
              <a:defRPr sz="1275" b="0">
                <a:solidFill>
                  <a:srgbClr val="94A3B8"/>
                </a:solidFill>
              </a:defRPr>
            </a:lvl3pPr>
            <a:lvl4pPr>
              <a:defRPr sz="1275" b="0">
                <a:solidFill>
                  <a:srgbClr val="94A3B8"/>
                </a:solidFill>
              </a:defRPr>
            </a:lvl4pPr>
            <a:lvl5pPr>
              <a:defRPr sz="1275" b="0">
                <a:solidFill>
                  <a:srgbClr val="94A3B8"/>
                </a:solidFill>
              </a:defRPr>
            </a:lvl5pPr>
            <a:lvl6pPr>
              <a:defRPr sz="1275" b="0">
                <a:solidFill>
                  <a:srgbClr val="94A3B8"/>
                </a:solidFill>
              </a:defRPr>
            </a:lvl6pPr>
            <a:lvl7pPr>
              <a:defRPr sz="1275" b="0">
                <a:solidFill>
                  <a:srgbClr val="94A3B8"/>
                </a:solidFill>
              </a:defRPr>
            </a:lvl7pPr>
            <a:lvl8pPr>
              <a:defRPr sz="1275" b="0">
                <a:solidFill>
                  <a:srgbClr val="94A3B8"/>
                </a:solidFill>
              </a:defRPr>
            </a:lvl8pPr>
            <a:lvl9pPr>
              <a:defRPr sz="1275" b="0">
                <a:solidFill>
                  <a:srgbClr val="94A3B8"/>
                </a:solidFill>
              </a:defRPr>
            </a:lvl9pPr>
          </a:lstStyle>
          <a:p xmlns:a="http://schemas.openxmlformats.org/drawingml/2006/main">
            <a:pPr>
              <a:defRPr sz="1275" b="0">
                <a:solidFill>
                  <a:srgbClr val="94A3B8"/>
                </a:solidFill>
              </a:defRPr>
            </a:pPr>
            <a:r>
              <a:rPr sz="1275" b="0">
                <a:solidFill>
                  <a:srgbClr val="94A3B8"/>
                </a:solidFill>
              </a:rPr>
              <a:t>Withdraws one tranche per period without a custodian.</a:t>
            </a:r>
          </a:p>
        </p:txBody>
      </p:sp>
      <p:sp>
        <p:nvSpPr>
          <p:cNvPr id="9" name="">
            <a:extLst xmlns:a="http://schemas.openxmlformats.org/drawingml/2006/main">
              <a:ext uri="{FF2B5EF4-FFF2-40B4-BE49-F238E27FC236}">
                <a16:creationId xmlns:a16="http://schemas.microsoft.com/office/drawing/2014/main" id="{CD55F8C6-A9B9-41A0-AF59-F1D1C06E5AEE}"/>
              </a:ext>
            </a:extLst>
          </p:cNvPr>
          <p:cNvSpPr>
            <a:spLocks xmlns:a="http://schemas.openxmlformats.org/drawingml/2006/main" noGrp="1"/>
          </p:cNvSpPr>
          <p:nvPr/>
        </p:nvSpPr>
        <p:spPr>
          <a:xfrm xmlns:a="http://schemas.openxmlformats.org/drawingml/2006/main">
            <a:off x="685800" y="3619500"/>
            <a:ext cx="5048250" cy="1619250"/>
          </a:xfrm>
          <a:prstGeom xmlns:a="http://schemas.openxmlformats.org/drawingml/2006/main" prst="roundRect">
            <a:avLst>
              <a:gd name="adj" fmla="val 7059"/>
            </a:avLst>
          </a:prstGeom>
          <a:solidFill xmlns:a="http://schemas.openxmlformats.org/drawingml/2006/main">
            <a:srgbClr val="111827"/>
          </a:solidFill>
          <a:ln xmlns:a="http://schemas.openxmlformats.org/drawingml/2006/main" w="9525">
            <a:solidFill>
              <a:srgbClr val="1F2937"/>
            </a:solidFill>
            <a:prstDash val="solid"/>
          </a:ln>
        </p:spPr>
      </p:sp>
      <p:sp>
        <p:nvSpPr>
          <p:cNvPr id="10" name="">
            <a:extLst xmlns:a="http://schemas.openxmlformats.org/drawingml/2006/main">
              <a:ext uri="{FF2B5EF4-FFF2-40B4-BE49-F238E27FC236}">
                <a16:creationId xmlns:a16="http://schemas.microsoft.com/office/drawing/2014/main" id="{67EAE868-28B0-4173-BC34-BBDD0E152919}"/>
              </a:ext>
            </a:extLst>
          </p:cNvPr>
          <p:cNvSpPr>
            <a:spLocks xmlns:a="http://schemas.openxmlformats.org/drawingml/2006/main" noGrp="1"/>
          </p:cNvSpPr>
          <p:nvPr/>
        </p:nvSpPr>
        <p:spPr>
          <a:xfrm xmlns:a="http://schemas.openxmlformats.org/drawingml/2006/main">
            <a:off x="952500" y="38862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BBF24"/>
                </a:solidFill>
              </a:defRPr>
            </a:defPPr>
            <a:lvl1pPr>
              <a:defRPr sz="1800" b="1">
                <a:solidFill>
                  <a:srgbClr val="FBBF24"/>
                </a:solidFill>
              </a:defRPr>
            </a:lvl1pPr>
            <a:lvl2pPr>
              <a:defRPr sz="1800" b="1">
                <a:solidFill>
                  <a:srgbClr val="FBBF24"/>
                </a:solidFill>
              </a:defRPr>
            </a:lvl2pPr>
            <a:lvl3pPr>
              <a:defRPr sz="1800" b="1">
                <a:solidFill>
                  <a:srgbClr val="FBBF24"/>
                </a:solidFill>
              </a:defRPr>
            </a:lvl3pPr>
            <a:lvl4pPr>
              <a:defRPr sz="1800" b="1">
                <a:solidFill>
                  <a:srgbClr val="FBBF24"/>
                </a:solidFill>
              </a:defRPr>
            </a:lvl4pPr>
            <a:lvl5pPr>
              <a:defRPr sz="1800" b="1">
                <a:solidFill>
                  <a:srgbClr val="FBBF24"/>
                </a:solidFill>
              </a:defRPr>
            </a:lvl5pPr>
            <a:lvl6pPr>
              <a:defRPr sz="1800" b="1">
                <a:solidFill>
                  <a:srgbClr val="FBBF24"/>
                </a:solidFill>
              </a:defRPr>
            </a:lvl6pPr>
            <a:lvl7pPr>
              <a:defRPr sz="1800" b="1">
                <a:solidFill>
                  <a:srgbClr val="FBBF24"/>
                </a:solidFill>
              </a:defRPr>
            </a:lvl7pPr>
            <a:lvl8pPr>
              <a:defRPr sz="1800" b="1">
                <a:solidFill>
                  <a:srgbClr val="FBBF24"/>
                </a:solidFill>
              </a:defRPr>
            </a:lvl8pPr>
            <a:lvl9pPr>
              <a:defRPr sz="1800" b="1">
                <a:solidFill>
                  <a:srgbClr val="FBBF24"/>
                </a:solidFill>
              </a:defRPr>
            </a:lvl9pPr>
          </a:lstStyle>
          <a:p xmlns:a="http://schemas.openxmlformats.org/drawingml/2006/main">
            <a:pPr>
              <a:defRPr sz="1800" b="1">
                <a:solidFill>
                  <a:srgbClr val="FBBF24"/>
                </a:solidFill>
              </a:defRPr>
            </a:pPr>
            <a:r>
              <a:rPr sz="1800" b="1">
                <a:solidFill>
                  <a:srgbClr val="FBBF24"/>
                </a:solidFill>
              </a:rPr>
              <a:t>AI Agent</a:t>
            </a:r>
          </a:p>
        </p:txBody>
      </p:sp>
      <p:sp>
        <p:nvSpPr>
          <p:cNvPr id="11" name="">
            <a:extLst xmlns:a="http://schemas.openxmlformats.org/drawingml/2006/main">
              <a:ext uri="{FF2B5EF4-FFF2-40B4-BE49-F238E27FC236}">
                <a16:creationId xmlns:a16="http://schemas.microsoft.com/office/drawing/2014/main" id="{4C935E7C-8F0B-4A51-911F-DD60D885839D}"/>
              </a:ext>
            </a:extLst>
          </p:cNvPr>
          <p:cNvSpPr>
            <a:spLocks xmlns:a="http://schemas.openxmlformats.org/drawingml/2006/main" noGrp="1"/>
          </p:cNvSpPr>
          <p:nvPr/>
        </p:nvSpPr>
        <p:spPr>
          <a:xfrm xmlns:a="http://schemas.openxmlformats.org/drawingml/2006/main">
            <a:off x="952500" y="4324350"/>
            <a:ext cx="451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94A3B8"/>
                </a:solidFill>
              </a:defRPr>
            </a:defPPr>
            <a:lvl1pPr>
              <a:defRPr sz="1275" b="0">
                <a:solidFill>
                  <a:srgbClr val="94A3B8"/>
                </a:solidFill>
              </a:defRPr>
            </a:lvl1pPr>
            <a:lvl2pPr>
              <a:defRPr sz="1275" b="0">
                <a:solidFill>
                  <a:srgbClr val="94A3B8"/>
                </a:solidFill>
              </a:defRPr>
            </a:lvl2pPr>
            <a:lvl3pPr>
              <a:defRPr sz="1275" b="0">
                <a:solidFill>
                  <a:srgbClr val="94A3B8"/>
                </a:solidFill>
              </a:defRPr>
            </a:lvl3pPr>
            <a:lvl4pPr>
              <a:defRPr sz="1275" b="0">
                <a:solidFill>
                  <a:srgbClr val="94A3B8"/>
                </a:solidFill>
              </a:defRPr>
            </a:lvl4pPr>
            <a:lvl5pPr>
              <a:defRPr sz="1275" b="0">
                <a:solidFill>
                  <a:srgbClr val="94A3B8"/>
                </a:solidFill>
              </a:defRPr>
            </a:lvl5pPr>
            <a:lvl6pPr>
              <a:defRPr sz="1275" b="0">
                <a:solidFill>
                  <a:srgbClr val="94A3B8"/>
                </a:solidFill>
              </a:defRPr>
            </a:lvl6pPr>
            <a:lvl7pPr>
              <a:defRPr sz="1275" b="0">
                <a:solidFill>
                  <a:srgbClr val="94A3B8"/>
                </a:solidFill>
              </a:defRPr>
            </a:lvl7pPr>
            <a:lvl8pPr>
              <a:defRPr sz="1275" b="0">
                <a:solidFill>
                  <a:srgbClr val="94A3B8"/>
                </a:solidFill>
              </a:defRPr>
            </a:lvl8pPr>
            <a:lvl9pPr>
              <a:defRPr sz="1275" b="0">
                <a:solidFill>
                  <a:srgbClr val="94A3B8"/>
                </a:solidFill>
              </a:defRPr>
            </a:lvl9pPr>
          </a:lstStyle>
          <a:p xmlns:a="http://schemas.openxmlformats.org/drawingml/2006/main">
            <a:pPr>
              <a:defRPr sz="1275" b="0">
                <a:solidFill>
                  <a:srgbClr val="94A3B8"/>
                </a:solidFill>
              </a:defRPr>
            </a:pPr>
            <a:r>
              <a:rPr sz="1275" b="0">
                <a:solidFill>
                  <a:srgbClr val="94A3B8"/>
                </a:solidFill>
              </a:rPr>
              <a:t>Claims a small budget and pays a service per request.</a:t>
            </a:r>
          </a:p>
        </p:txBody>
      </p:sp>
      <p:sp>
        <p:nvSpPr>
          <p:cNvPr id="12" name="">
            <a:extLst xmlns:a="http://schemas.openxmlformats.org/drawingml/2006/main">
              <a:ext uri="{FF2B5EF4-FFF2-40B4-BE49-F238E27FC236}">
                <a16:creationId xmlns:a16="http://schemas.microsoft.com/office/drawing/2014/main" id="{B6F982CB-E493-49DD-A9E5-8A7C9103361A}"/>
              </a:ext>
            </a:extLst>
          </p:cNvPr>
          <p:cNvSpPr>
            <a:spLocks xmlns:a="http://schemas.openxmlformats.org/drawingml/2006/main" noGrp="1"/>
          </p:cNvSpPr>
          <p:nvPr/>
        </p:nvSpPr>
        <p:spPr>
          <a:xfrm xmlns:a="http://schemas.openxmlformats.org/drawingml/2006/main">
            <a:off x="6115050" y="3619500"/>
            <a:ext cx="5048250" cy="1619250"/>
          </a:xfrm>
          <a:prstGeom xmlns:a="http://schemas.openxmlformats.org/drawingml/2006/main" prst="roundRect">
            <a:avLst>
              <a:gd name="adj" fmla="val 7059"/>
            </a:avLst>
          </a:prstGeom>
          <a:solidFill xmlns:a="http://schemas.openxmlformats.org/drawingml/2006/main">
            <a:srgbClr val="111827"/>
          </a:solidFill>
          <a:ln xmlns:a="http://schemas.openxmlformats.org/drawingml/2006/main" w="9525">
            <a:solidFill>
              <a:srgbClr val="1F2937"/>
            </a:solidFill>
            <a:prstDash val="solid"/>
          </a:ln>
        </p:spPr>
      </p:sp>
      <p:sp>
        <p:nvSpPr>
          <p:cNvPr id="13" name="">
            <a:extLst xmlns:a="http://schemas.openxmlformats.org/drawingml/2006/main">
              <a:ext uri="{FF2B5EF4-FFF2-40B4-BE49-F238E27FC236}">
                <a16:creationId xmlns:a16="http://schemas.microsoft.com/office/drawing/2014/main" id="{AFE160BD-BC9C-4D53-A55E-A88818D78E0B}"/>
              </a:ext>
            </a:extLst>
          </p:cNvPr>
          <p:cNvSpPr>
            <a:spLocks xmlns:a="http://schemas.openxmlformats.org/drawingml/2006/main" noGrp="1"/>
          </p:cNvSpPr>
          <p:nvPr/>
        </p:nvSpPr>
        <p:spPr>
          <a:xfrm xmlns:a="http://schemas.openxmlformats.org/drawingml/2006/main">
            <a:off x="6381750" y="38862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B7185"/>
                </a:solidFill>
              </a:defRPr>
            </a:defPPr>
            <a:lvl1pPr>
              <a:defRPr sz="1800" b="1">
                <a:solidFill>
                  <a:srgbClr val="FB7185"/>
                </a:solidFill>
              </a:defRPr>
            </a:lvl1pPr>
            <a:lvl2pPr>
              <a:defRPr sz="1800" b="1">
                <a:solidFill>
                  <a:srgbClr val="FB7185"/>
                </a:solidFill>
              </a:defRPr>
            </a:lvl2pPr>
            <a:lvl3pPr>
              <a:defRPr sz="1800" b="1">
                <a:solidFill>
                  <a:srgbClr val="FB7185"/>
                </a:solidFill>
              </a:defRPr>
            </a:lvl3pPr>
            <a:lvl4pPr>
              <a:defRPr sz="1800" b="1">
                <a:solidFill>
                  <a:srgbClr val="FB7185"/>
                </a:solidFill>
              </a:defRPr>
            </a:lvl4pPr>
            <a:lvl5pPr>
              <a:defRPr sz="1800" b="1">
                <a:solidFill>
                  <a:srgbClr val="FB7185"/>
                </a:solidFill>
              </a:defRPr>
            </a:lvl5pPr>
            <a:lvl6pPr>
              <a:defRPr sz="1800" b="1">
                <a:solidFill>
                  <a:srgbClr val="FB7185"/>
                </a:solidFill>
              </a:defRPr>
            </a:lvl6pPr>
            <a:lvl7pPr>
              <a:defRPr sz="1800" b="1">
                <a:solidFill>
                  <a:srgbClr val="FB7185"/>
                </a:solidFill>
              </a:defRPr>
            </a:lvl7pPr>
            <a:lvl8pPr>
              <a:defRPr sz="1800" b="1">
                <a:solidFill>
                  <a:srgbClr val="FB7185"/>
                </a:solidFill>
              </a:defRPr>
            </a:lvl8pPr>
            <a:lvl9pPr>
              <a:defRPr sz="1800" b="1">
                <a:solidFill>
                  <a:srgbClr val="FB7185"/>
                </a:solidFill>
              </a:defRPr>
            </a:lvl9pPr>
          </a:lstStyle>
          <a:p xmlns:a="http://schemas.openxmlformats.org/drawingml/2006/main">
            <a:pPr>
              <a:defRPr sz="1800" b="1">
                <a:solidFill>
                  <a:srgbClr val="FB7185"/>
                </a:solidFill>
              </a:defRPr>
            </a:pPr>
            <a:r>
              <a:rPr sz="1800" b="1">
                <a:solidFill>
                  <a:srgbClr val="FB7185"/>
                </a:solidFill>
              </a:rPr>
              <a:t>Any wallet</a:t>
            </a:r>
          </a:p>
        </p:txBody>
      </p:sp>
      <p:sp>
        <p:nvSpPr>
          <p:cNvPr id="14" name="">
            <a:extLst xmlns:a="http://schemas.openxmlformats.org/drawingml/2006/main">
              <a:ext uri="{FF2B5EF4-FFF2-40B4-BE49-F238E27FC236}">
                <a16:creationId xmlns:a16="http://schemas.microsoft.com/office/drawing/2014/main" id="{E3B12DEE-2505-4136-AEB6-44549DC35B87}"/>
              </a:ext>
            </a:extLst>
          </p:cNvPr>
          <p:cNvSpPr>
            <a:spLocks xmlns:a="http://schemas.openxmlformats.org/drawingml/2006/main" noGrp="1"/>
          </p:cNvSpPr>
          <p:nvPr/>
        </p:nvSpPr>
        <p:spPr>
          <a:xfrm xmlns:a="http://schemas.openxmlformats.org/drawingml/2006/main">
            <a:off x="6381750" y="4324350"/>
            <a:ext cx="4514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94A3B8"/>
                </a:solidFill>
              </a:defRPr>
            </a:defPPr>
            <a:lvl1pPr>
              <a:defRPr sz="1275" b="0">
                <a:solidFill>
                  <a:srgbClr val="94A3B8"/>
                </a:solidFill>
              </a:defRPr>
            </a:lvl1pPr>
            <a:lvl2pPr>
              <a:defRPr sz="1275" b="0">
                <a:solidFill>
                  <a:srgbClr val="94A3B8"/>
                </a:solidFill>
              </a:defRPr>
            </a:lvl2pPr>
            <a:lvl3pPr>
              <a:defRPr sz="1275" b="0">
                <a:solidFill>
                  <a:srgbClr val="94A3B8"/>
                </a:solidFill>
              </a:defRPr>
            </a:lvl3pPr>
            <a:lvl4pPr>
              <a:defRPr sz="1275" b="0">
                <a:solidFill>
                  <a:srgbClr val="94A3B8"/>
                </a:solidFill>
              </a:defRPr>
            </a:lvl4pPr>
            <a:lvl5pPr>
              <a:defRPr sz="1275" b="0">
                <a:solidFill>
                  <a:srgbClr val="94A3B8"/>
                </a:solidFill>
              </a:defRPr>
            </a:lvl5pPr>
            <a:lvl6pPr>
              <a:defRPr sz="1275" b="0">
                <a:solidFill>
                  <a:srgbClr val="94A3B8"/>
                </a:solidFill>
              </a:defRPr>
            </a:lvl6pPr>
            <a:lvl7pPr>
              <a:defRPr sz="1275" b="0">
                <a:solidFill>
                  <a:srgbClr val="94A3B8"/>
                </a:solidFill>
              </a:defRPr>
            </a:lvl7pPr>
            <a:lvl8pPr>
              <a:defRPr sz="1275" b="0">
                <a:solidFill>
                  <a:srgbClr val="94A3B8"/>
                </a:solidFill>
              </a:defRPr>
            </a:lvl8pPr>
            <a:lvl9pPr>
              <a:defRPr sz="1275" b="0">
                <a:solidFill>
                  <a:srgbClr val="94A3B8"/>
                </a:solidFill>
              </a:defRPr>
            </a:lvl9pPr>
          </a:lstStyle>
          <a:p xmlns:a="http://schemas.openxmlformats.org/drawingml/2006/main">
            <a:pPr>
              <a:defRPr sz="1275" b="0">
                <a:solidFill>
                  <a:srgbClr val="94A3B8"/>
                </a:solidFill>
              </a:defRPr>
            </a:pPr>
            <a:r>
              <a:rPr sz="1275" b="0">
                <a:solidFill>
                  <a:srgbClr val="94A3B8"/>
                </a:solidFill>
              </a:rPr>
              <a:t>Sign with Selene, Paytaca or Cashonize.</a:t>
            </a:r>
          </a:p>
        </p:txBody>
      </p:sp>
    </p:spTree>
    <p:extLst>
      <p:ext uri="{BB962C8B-B14F-4D97-AF65-F5344CB8AC3E}">
        <p14:creationId xmlns:p14="http://schemas.microsoft.com/office/powerpoint/2010/main" val="2079324912"/>
      </p:ext>
    </p:extLst>
  </p:cSld>
</p:sld>
</file>

<file path=ppt/slides/slide5.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46102E7-D15E-4AA2-BC4A-E0D0F5628420}"/>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BCH USAGE - CORE SCORING</a:t>
            </a:r>
          </a:p>
        </p:txBody>
      </p:sp>
      <p:sp>
        <p:nvSpPr>
          <p:cNvPr id="2" name="">
            <a:extLst xmlns:a="http://schemas.openxmlformats.org/drawingml/2006/main">
              <a:ext uri="{FF2B5EF4-FFF2-40B4-BE49-F238E27FC236}">
                <a16:creationId xmlns:a16="http://schemas.microsoft.com/office/drawing/2014/main" id="{91DE2163-432D-4B97-B656-B48D64D03127}"/>
              </a:ext>
            </a:extLst>
          </p:cNvPr>
          <p:cNvSpPr>
            <a:spLocks xmlns:a="http://schemas.openxmlformats.org/drawingml/2006/main" noGrp="1"/>
          </p:cNvSpPr>
          <p:nvPr/>
        </p:nvSpPr>
        <p:spPr>
          <a:xfrm xmlns:a="http://schemas.openxmlformats.org/drawingml/2006/main">
            <a:off x="685800" y="87630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1F5F9"/>
                </a:solidFill>
              </a:defRPr>
            </a:defPPr>
            <a:lvl1pPr>
              <a:defRPr sz="1950" b="1">
                <a:solidFill>
                  <a:srgbClr val="F1F5F9"/>
                </a:solidFill>
              </a:defRPr>
            </a:lvl1pPr>
            <a:lvl2pPr>
              <a:defRPr sz="1950" b="1">
                <a:solidFill>
                  <a:srgbClr val="F1F5F9"/>
                </a:solidFill>
              </a:defRPr>
            </a:lvl2pPr>
            <a:lvl3pPr>
              <a:defRPr sz="1950" b="1">
                <a:solidFill>
                  <a:srgbClr val="F1F5F9"/>
                </a:solidFill>
              </a:defRPr>
            </a:lvl3pPr>
            <a:lvl4pPr>
              <a:defRPr sz="1950" b="1">
                <a:solidFill>
                  <a:srgbClr val="F1F5F9"/>
                </a:solidFill>
              </a:defRPr>
            </a:lvl4pPr>
            <a:lvl5pPr>
              <a:defRPr sz="1950" b="1">
                <a:solidFill>
                  <a:srgbClr val="F1F5F9"/>
                </a:solidFill>
              </a:defRPr>
            </a:lvl5pPr>
            <a:lvl6pPr>
              <a:defRPr sz="1950" b="1">
                <a:solidFill>
                  <a:srgbClr val="F1F5F9"/>
                </a:solidFill>
              </a:defRPr>
            </a:lvl6pPr>
            <a:lvl7pPr>
              <a:defRPr sz="1950" b="1">
                <a:solidFill>
                  <a:srgbClr val="F1F5F9"/>
                </a:solidFill>
              </a:defRPr>
            </a:lvl7pPr>
            <a:lvl8pPr>
              <a:defRPr sz="1950" b="1">
                <a:solidFill>
                  <a:srgbClr val="F1F5F9"/>
                </a:solidFill>
              </a:defRPr>
            </a:lvl8pPr>
            <a:lvl9pPr>
              <a:defRPr sz="1950" b="1">
                <a:solidFill>
                  <a:srgbClr val="F1F5F9"/>
                </a:solidFill>
              </a:defRPr>
            </a:lvl9pPr>
          </a:lstStyle>
          <a:p xmlns:a="http://schemas.openxmlformats.org/drawingml/2006/main">
            <a:pPr>
              <a:defRPr sz="1950" b="1">
                <a:solidFill>
                  <a:srgbClr val="F1F5F9"/>
                </a:solidFill>
              </a:defRPr>
            </a:pPr>
            <a:r>
              <a:rPr sz="1950" b="1">
                <a:solidFill>
                  <a:srgbClr val="F1F5F9"/>
                </a:solidFill>
              </a:rPr>
              <a:t>Every limit is enforced by consensus, not by a prompt.</a:t>
            </a:r>
          </a:p>
        </p:txBody>
      </p:sp>
      <p:sp>
        <p:nvSpPr>
          <p:cNvPr id="3" name="">
            <a:extLst xmlns:a="http://schemas.openxmlformats.org/drawingml/2006/main">
              <a:ext uri="{FF2B5EF4-FFF2-40B4-BE49-F238E27FC236}">
                <a16:creationId xmlns:a16="http://schemas.microsoft.com/office/drawing/2014/main" id="{F5596D3D-F411-477D-A1DE-F9C1F19BFB81}"/>
              </a:ext>
            </a:extLst>
          </p:cNvPr>
          <p:cNvSpPr>
            <a:spLocks xmlns:a="http://schemas.openxmlformats.org/drawingml/2006/main" noGrp="1"/>
          </p:cNvSpPr>
          <p:nvPr/>
        </p:nvSpPr>
        <p:spPr>
          <a:xfrm xmlns:a="http://schemas.openxmlformats.org/drawingml/2006/main">
            <a:off x="685800" y="2095500"/>
            <a:ext cx="1866900" cy="1905000"/>
          </a:xfrm>
          <a:prstGeom xmlns:a="http://schemas.openxmlformats.org/drawingml/2006/main" prst="roundRect">
            <a:avLst>
              <a:gd name="adj" fmla="val 6122"/>
            </a:avLst>
          </a:prstGeom>
          <a:solidFill xmlns:a="http://schemas.openxmlformats.org/drawingml/2006/main">
            <a:srgbClr val="111827"/>
          </a:solidFill>
          <a:ln xmlns:a="http://schemas.openxmlformats.org/drawingml/2006/main" w="9525">
            <a:solidFill>
              <a:srgbClr val="1F2937"/>
            </a:solidFill>
            <a:prstDash val="solid"/>
          </a:ln>
        </p:spPr>
      </p:sp>
      <p:sp>
        <p:nvSpPr>
          <p:cNvPr id="4" name="">
            <a:extLst xmlns:a="http://schemas.openxmlformats.org/drawingml/2006/main">
              <a:ext uri="{FF2B5EF4-FFF2-40B4-BE49-F238E27FC236}">
                <a16:creationId xmlns:a16="http://schemas.microsoft.com/office/drawing/2014/main" id="{9D7CF5AD-267A-41BD-B868-037323828E0E}"/>
              </a:ext>
            </a:extLst>
          </p:cNvPr>
          <p:cNvSpPr>
            <a:spLocks xmlns:a="http://schemas.openxmlformats.org/drawingml/2006/main" noGrp="1"/>
          </p:cNvSpPr>
          <p:nvPr/>
        </p:nvSpPr>
        <p:spPr>
          <a:xfrm xmlns:a="http://schemas.openxmlformats.org/drawingml/2006/main">
            <a:off x="85725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AC18E"/>
                </a:solidFill>
              </a:defRPr>
            </a:defPPr>
            <a:lvl1pPr>
              <a:defRPr sz="1350" b="1">
                <a:solidFill>
                  <a:srgbClr val="0AC18E"/>
                </a:solidFill>
              </a:defRPr>
            </a:lvl1pPr>
            <a:lvl2pPr>
              <a:defRPr sz="1350" b="1">
                <a:solidFill>
                  <a:srgbClr val="0AC18E"/>
                </a:solidFill>
              </a:defRPr>
            </a:lvl2pPr>
            <a:lvl3pPr>
              <a:defRPr sz="1350" b="1">
                <a:solidFill>
                  <a:srgbClr val="0AC18E"/>
                </a:solidFill>
              </a:defRPr>
            </a:lvl3pPr>
            <a:lvl4pPr>
              <a:defRPr sz="1350" b="1">
                <a:solidFill>
                  <a:srgbClr val="0AC18E"/>
                </a:solidFill>
              </a:defRPr>
            </a:lvl4pPr>
            <a:lvl5pPr>
              <a:defRPr sz="1350" b="1">
                <a:solidFill>
                  <a:srgbClr val="0AC18E"/>
                </a:solidFill>
              </a:defRPr>
            </a:lvl5pPr>
            <a:lvl6pPr>
              <a:defRPr sz="1350" b="1">
                <a:solidFill>
                  <a:srgbClr val="0AC18E"/>
                </a:solidFill>
              </a:defRPr>
            </a:lvl6pPr>
            <a:lvl7pPr>
              <a:defRPr sz="1350" b="1">
                <a:solidFill>
                  <a:srgbClr val="0AC18E"/>
                </a:solidFill>
              </a:defRPr>
            </a:lvl7pPr>
            <a:lvl8pPr>
              <a:defRPr sz="1350" b="1">
                <a:solidFill>
                  <a:srgbClr val="0AC18E"/>
                </a:solidFill>
              </a:defRPr>
            </a:lvl8pPr>
            <a:lvl9pPr>
              <a:defRPr sz="1350" b="1">
                <a:solidFill>
                  <a:srgbClr val="0AC18E"/>
                </a:solidFill>
              </a:defRPr>
            </a:lvl9pPr>
          </a:lstStyle>
          <a:p xmlns:a="http://schemas.openxmlformats.org/drawingml/2006/main">
            <a:pPr>
              <a:defRPr sz="1350" b="1">
                <a:solidFill>
                  <a:srgbClr val="0AC18E"/>
                </a:solidFill>
              </a:defRPr>
            </a:pPr>
            <a:r>
              <a:rPr sz="1350" b="1">
                <a:solidFill>
                  <a:srgbClr val="0AC18E"/>
                </a:solidFill>
              </a:rPr>
              <a:t>PUSD token</a:t>
            </a:r>
          </a:p>
        </p:txBody>
      </p:sp>
      <p:sp>
        <p:nvSpPr>
          <p:cNvPr id="5" name="">
            <a:extLst xmlns:a="http://schemas.openxmlformats.org/drawingml/2006/main">
              <a:ext uri="{FF2B5EF4-FFF2-40B4-BE49-F238E27FC236}">
                <a16:creationId xmlns:a16="http://schemas.microsoft.com/office/drawing/2014/main" id="{A1479AFF-ED9B-4DB3-B3F6-04018F5E6485}"/>
              </a:ext>
            </a:extLst>
          </p:cNvPr>
          <p:cNvSpPr>
            <a:spLocks xmlns:a="http://schemas.openxmlformats.org/drawingml/2006/main" noGrp="1"/>
          </p:cNvSpPr>
          <p:nvPr/>
        </p:nvSpPr>
        <p:spPr>
          <a:xfrm xmlns:a="http://schemas.openxmlformats.org/drawingml/2006/main">
            <a:off x="857250" y="2743200"/>
            <a:ext cx="152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4A3B8"/>
                </a:solidFill>
              </a:defRPr>
            </a:defPPr>
            <a:lvl1pPr>
              <a:defRPr sz="1050" b="0">
                <a:solidFill>
                  <a:srgbClr val="94A3B8"/>
                </a:solidFill>
              </a:defRPr>
            </a:lvl1pPr>
            <a:lvl2pPr>
              <a:defRPr sz="1050" b="0">
                <a:solidFill>
                  <a:srgbClr val="94A3B8"/>
                </a:solidFill>
              </a:defRPr>
            </a:lvl2pPr>
            <a:lvl3pPr>
              <a:defRPr sz="1050" b="0">
                <a:solidFill>
                  <a:srgbClr val="94A3B8"/>
                </a:solidFill>
              </a:defRPr>
            </a:lvl3pPr>
            <a:lvl4pPr>
              <a:defRPr sz="1050" b="0">
                <a:solidFill>
                  <a:srgbClr val="94A3B8"/>
                </a:solidFill>
              </a:defRPr>
            </a:lvl4pPr>
            <a:lvl5pPr>
              <a:defRPr sz="1050" b="0">
                <a:solidFill>
                  <a:srgbClr val="94A3B8"/>
                </a:solidFill>
              </a:defRPr>
            </a:lvl5pPr>
            <a:lvl6pPr>
              <a:defRPr sz="1050" b="0">
                <a:solidFill>
                  <a:srgbClr val="94A3B8"/>
                </a:solidFill>
              </a:defRPr>
            </a:lvl6pPr>
            <a:lvl7pPr>
              <a:defRPr sz="1050" b="0">
                <a:solidFill>
                  <a:srgbClr val="94A3B8"/>
                </a:solidFill>
              </a:defRPr>
            </a:lvl7pPr>
            <a:lvl8pPr>
              <a:defRPr sz="1050" b="0">
                <a:solidFill>
                  <a:srgbClr val="94A3B8"/>
                </a:solidFill>
              </a:defRPr>
            </a:lvl8pPr>
            <a:lvl9pPr>
              <a:defRPr sz="1050" b="0">
                <a:solidFill>
                  <a:srgbClr val="94A3B8"/>
                </a:solidFill>
              </a:defRPr>
            </a:lvl9pPr>
          </a:lstStyle>
          <a:p xmlns:a="http://schemas.openxmlformats.org/drawingml/2006/main">
            <a:pPr>
              <a:defRPr sz="1050" b="0">
                <a:solidFill>
                  <a:srgbClr val="94A3B8"/>
                </a:solidFill>
              </a:defRPr>
            </a:pPr>
            <a:r>
              <a:rPr sz="1050" b="0">
                <a:solidFill>
                  <a:srgbClr val="94A3B8"/>
                </a:solidFill>
              </a:rPr>
              <a:t>CashTokens category</a:t>
            </a:r>
          </a:p>
        </p:txBody>
      </p:sp>
      <p:sp>
        <p:nvSpPr>
          <p:cNvPr id="6" name="">
            <a:extLst xmlns:a="http://schemas.openxmlformats.org/drawingml/2006/main">
              <a:ext uri="{FF2B5EF4-FFF2-40B4-BE49-F238E27FC236}">
                <a16:creationId xmlns:a16="http://schemas.microsoft.com/office/drawing/2014/main" id="{8F02E514-FE85-43B2-A15D-BE8F4A3AFE8B}"/>
              </a:ext>
            </a:extLst>
          </p:cNvPr>
          <p:cNvSpPr>
            <a:spLocks xmlns:a="http://schemas.openxmlformats.org/drawingml/2006/main" noGrp="1"/>
          </p:cNvSpPr>
          <p:nvPr/>
        </p:nvSpPr>
        <p:spPr>
          <a:xfrm xmlns:a="http://schemas.openxmlformats.org/drawingml/2006/main">
            <a:off x="2514600" y="2857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94A3B8"/>
                </a:solidFill>
              </a:defRPr>
            </a:defPPr>
            <a:lvl1pPr>
              <a:defRPr sz="1650" b="1">
                <a:solidFill>
                  <a:srgbClr val="94A3B8"/>
                </a:solidFill>
              </a:defRPr>
            </a:lvl1pPr>
            <a:lvl2pPr>
              <a:defRPr sz="1650" b="1">
                <a:solidFill>
                  <a:srgbClr val="94A3B8"/>
                </a:solidFill>
              </a:defRPr>
            </a:lvl2pPr>
            <a:lvl3pPr>
              <a:defRPr sz="1650" b="1">
                <a:solidFill>
                  <a:srgbClr val="94A3B8"/>
                </a:solidFill>
              </a:defRPr>
            </a:lvl3pPr>
            <a:lvl4pPr>
              <a:defRPr sz="1650" b="1">
                <a:solidFill>
                  <a:srgbClr val="94A3B8"/>
                </a:solidFill>
              </a:defRPr>
            </a:lvl4pPr>
            <a:lvl5pPr>
              <a:defRPr sz="1650" b="1">
                <a:solidFill>
                  <a:srgbClr val="94A3B8"/>
                </a:solidFill>
              </a:defRPr>
            </a:lvl5pPr>
            <a:lvl6pPr>
              <a:defRPr sz="1650" b="1">
                <a:solidFill>
                  <a:srgbClr val="94A3B8"/>
                </a:solidFill>
              </a:defRPr>
            </a:lvl6pPr>
            <a:lvl7pPr>
              <a:defRPr sz="1650" b="1">
                <a:solidFill>
                  <a:srgbClr val="94A3B8"/>
                </a:solidFill>
              </a:defRPr>
            </a:lvl7pPr>
            <a:lvl8pPr>
              <a:defRPr sz="1650" b="1">
                <a:solidFill>
                  <a:srgbClr val="94A3B8"/>
                </a:solidFill>
              </a:defRPr>
            </a:lvl8pPr>
            <a:lvl9pPr>
              <a:defRPr sz="1650" b="1">
                <a:solidFill>
                  <a:srgbClr val="94A3B8"/>
                </a:solidFill>
              </a:defRPr>
            </a:lvl9pPr>
          </a:lstStyle>
          <a:p xmlns:a="http://schemas.openxmlformats.org/drawingml/2006/main">
            <a:pPr>
              <a:defRPr sz="1650" b="1">
                <a:solidFill>
                  <a:srgbClr val="94A3B8"/>
                </a:solidFill>
              </a:defRPr>
            </a:pPr>
            <a:r>
              <a:rPr sz="1650" b="1">
                <a:solidFill>
                  <a:srgbClr val="94A3B8"/>
                </a:solidFill>
              </a:rPr>
              <a:t>→</a:t>
            </a:r>
          </a:p>
        </p:txBody>
      </p:sp>
      <p:sp>
        <p:nvSpPr>
          <p:cNvPr id="7" name="">
            <a:extLst xmlns:a="http://schemas.openxmlformats.org/drawingml/2006/main">
              <a:ext uri="{FF2B5EF4-FFF2-40B4-BE49-F238E27FC236}">
                <a16:creationId xmlns:a16="http://schemas.microsoft.com/office/drawing/2014/main" id="{4F0CEB0A-B524-4214-8C09-D84900238035}"/>
              </a:ext>
            </a:extLst>
          </p:cNvPr>
          <p:cNvSpPr>
            <a:spLocks xmlns:a="http://schemas.openxmlformats.org/drawingml/2006/main" noGrp="1"/>
          </p:cNvSpPr>
          <p:nvPr/>
        </p:nvSpPr>
        <p:spPr>
          <a:xfrm xmlns:a="http://schemas.openxmlformats.org/drawingml/2006/main">
            <a:off x="2762250" y="2095500"/>
            <a:ext cx="1866900" cy="1905000"/>
          </a:xfrm>
          <a:prstGeom xmlns:a="http://schemas.openxmlformats.org/drawingml/2006/main" prst="roundRect">
            <a:avLst>
              <a:gd name="adj" fmla="val 6122"/>
            </a:avLst>
          </a:prstGeom>
          <a:solidFill xmlns:a="http://schemas.openxmlformats.org/drawingml/2006/main">
            <a:srgbClr val="111827"/>
          </a:solidFill>
          <a:ln xmlns:a="http://schemas.openxmlformats.org/drawingml/2006/main" w="9525">
            <a:solidFill>
              <a:srgbClr val="1F2937"/>
            </a:solidFill>
            <a:prstDash val="solid"/>
          </a:ln>
        </p:spPr>
      </p:sp>
      <p:sp>
        <p:nvSpPr>
          <p:cNvPr id="8" name="">
            <a:extLst xmlns:a="http://schemas.openxmlformats.org/drawingml/2006/main">
              <a:ext uri="{FF2B5EF4-FFF2-40B4-BE49-F238E27FC236}">
                <a16:creationId xmlns:a16="http://schemas.microsoft.com/office/drawing/2014/main" id="{10F0461F-A58E-41E1-991C-4260F02AF692}"/>
              </a:ext>
            </a:extLst>
          </p:cNvPr>
          <p:cNvSpPr>
            <a:spLocks xmlns:a="http://schemas.openxmlformats.org/drawingml/2006/main" noGrp="1"/>
          </p:cNvSpPr>
          <p:nvPr/>
        </p:nvSpPr>
        <p:spPr>
          <a:xfrm xmlns:a="http://schemas.openxmlformats.org/drawingml/2006/main">
            <a:off x="293370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818CF8"/>
                </a:solidFill>
              </a:defRPr>
            </a:defPPr>
            <a:lvl1pPr>
              <a:defRPr sz="1350" b="1">
                <a:solidFill>
                  <a:srgbClr val="818CF8"/>
                </a:solidFill>
              </a:defRPr>
            </a:lvl1pPr>
            <a:lvl2pPr>
              <a:defRPr sz="1350" b="1">
                <a:solidFill>
                  <a:srgbClr val="818CF8"/>
                </a:solidFill>
              </a:defRPr>
            </a:lvl2pPr>
            <a:lvl3pPr>
              <a:defRPr sz="1350" b="1">
                <a:solidFill>
                  <a:srgbClr val="818CF8"/>
                </a:solidFill>
              </a:defRPr>
            </a:lvl3pPr>
            <a:lvl4pPr>
              <a:defRPr sz="1350" b="1">
                <a:solidFill>
                  <a:srgbClr val="818CF8"/>
                </a:solidFill>
              </a:defRPr>
            </a:lvl4pPr>
            <a:lvl5pPr>
              <a:defRPr sz="1350" b="1">
                <a:solidFill>
                  <a:srgbClr val="818CF8"/>
                </a:solidFill>
              </a:defRPr>
            </a:lvl5pPr>
            <a:lvl6pPr>
              <a:defRPr sz="1350" b="1">
                <a:solidFill>
                  <a:srgbClr val="818CF8"/>
                </a:solidFill>
              </a:defRPr>
            </a:lvl6pPr>
            <a:lvl7pPr>
              <a:defRPr sz="1350" b="1">
                <a:solidFill>
                  <a:srgbClr val="818CF8"/>
                </a:solidFill>
              </a:defRPr>
            </a:lvl7pPr>
            <a:lvl8pPr>
              <a:defRPr sz="1350" b="1">
                <a:solidFill>
                  <a:srgbClr val="818CF8"/>
                </a:solidFill>
              </a:defRPr>
            </a:lvl8pPr>
            <a:lvl9pPr>
              <a:defRPr sz="1350" b="1">
                <a:solidFill>
                  <a:srgbClr val="818CF8"/>
                </a:solidFill>
              </a:defRPr>
            </a:lvl9pPr>
          </a:lstStyle>
          <a:p xmlns:a="http://schemas.openxmlformats.org/drawingml/2006/main">
            <a:pPr>
              <a:defRPr sz="1350" b="1">
                <a:solidFill>
                  <a:srgbClr val="818CF8"/>
                </a:solidFill>
              </a:defRPr>
            </a:pPr>
            <a:r>
              <a:rPr sz="1350" b="1">
                <a:solidFill>
                  <a:srgbClr val="818CF8"/>
                </a:solidFill>
              </a:rPr>
              <a:t>Covenant</a:t>
            </a:r>
          </a:p>
        </p:txBody>
      </p:sp>
      <p:sp>
        <p:nvSpPr>
          <p:cNvPr id="9" name="">
            <a:extLst xmlns:a="http://schemas.openxmlformats.org/drawingml/2006/main">
              <a:ext uri="{FF2B5EF4-FFF2-40B4-BE49-F238E27FC236}">
                <a16:creationId xmlns:a16="http://schemas.microsoft.com/office/drawing/2014/main" id="{FD51A96A-1E96-4618-8329-E3A8C0134514}"/>
              </a:ext>
            </a:extLst>
          </p:cNvPr>
          <p:cNvSpPr>
            <a:spLocks xmlns:a="http://schemas.openxmlformats.org/drawingml/2006/main" noGrp="1"/>
          </p:cNvSpPr>
          <p:nvPr/>
        </p:nvSpPr>
        <p:spPr>
          <a:xfrm xmlns:a="http://schemas.openxmlformats.org/drawingml/2006/main">
            <a:off x="2933700" y="2743200"/>
            <a:ext cx="152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4A3B8"/>
                </a:solidFill>
              </a:defRPr>
            </a:defPPr>
            <a:lvl1pPr>
              <a:defRPr sz="1050" b="0">
                <a:solidFill>
                  <a:srgbClr val="94A3B8"/>
                </a:solidFill>
              </a:defRPr>
            </a:lvl1pPr>
            <a:lvl2pPr>
              <a:defRPr sz="1050" b="0">
                <a:solidFill>
                  <a:srgbClr val="94A3B8"/>
                </a:solidFill>
              </a:defRPr>
            </a:lvl2pPr>
            <a:lvl3pPr>
              <a:defRPr sz="1050" b="0">
                <a:solidFill>
                  <a:srgbClr val="94A3B8"/>
                </a:solidFill>
              </a:defRPr>
            </a:lvl3pPr>
            <a:lvl4pPr>
              <a:defRPr sz="1050" b="0">
                <a:solidFill>
                  <a:srgbClr val="94A3B8"/>
                </a:solidFill>
              </a:defRPr>
            </a:lvl4pPr>
            <a:lvl5pPr>
              <a:defRPr sz="1050" b="0">
                <a:solidFill>
                  <a:srgbClr val="94A3B8"/>
                </a:solidFill>
              </a:defRPr>
            </a:lvl5pPr>
            <a:lvl6pPr>
              <a:defRPr sz="1050" b="0">
                <a:solidFill>
                  <a:srgbClr val="94A3B8"/>
                </a:solidFill>
              </a:defRPr>
            </a:lvl6pPr>
            <a:lvl7pPr>
              <a:defRPr sz="1050" b="0">
                <a:solidFill>
                  <a:srgbClr val="94A3B8"/>
                </a:solidFill>
              </a:defRPr>
            </a:lvl7pPr>
            <a:lvl8pPr>
              <a:defRPr sz="1050" b="0">
                <a:solidFill>
                  <a:srgbClr val="94A3B8"/>
                </a:solidFill>
              </a:defRPr>
            </a:lvl8pPr>
            <a:lvl9pPr>
              <a:defRPr sz="1050" b="0">
                <a:solidFill>
                  <a:srgbClr val="94A3B8"/>
                </a:solidFill>
              </a:defRPr>
            </a:lvl9pPr>
          </a:lstStyle>
          <a:p xmlns:a="http://schemas.openxmlformats.org/drawingml/2006/main">
            <a:pPr>
              <a:defRPr sz="1050" b="0">
                <a:solidFill>
                  <a:srgbClr val="94A3B8"/>
                </a:solidFill>
              </a:defRPr>
            </a:pPr>
            <a:r>
              <a:rPr sz="1050" b="0">
                <a:solidFill>
                  <a:srgbClr val="94A3B8"/>
                </a:solidFill>
              </a:rPr>
              <a:t>amountPerPeriod + periodBlocks</a:t>
            </a:r>
          </a:p>
        </p:txBody>
      </p:sp>
      <p:sp>
        <p:nvSpPr>
          <p:cNvPr id="10" name="">
            <a:extLst xmlns:a="http://schemas.openxmlformats.org/drawingml/2006/main">
              <a:ext uri="{FF2B5EF4-FFF2-40B4-BE49-F238E27FC236}">
                <a16:creationId xmlns:a16="http://schemas.microsoft.com/office/drawing/2014/main" id="{5E542E07-B32B-428F-ABED-9684C986C6BA}"/>
              </a:ext>
            </a:extLst>
          </p:cNvPr>
          <p:cNvSpPr>
            <a:spLocks xmlns:a="http://schemas.openxmlformats.org/drawingml/2006/main" noGrp="1"/>
          </p:cNvSpPr>
          <p:nvPr/>
        </p:nvSpPr>
        <p:spPr>
          <a:xfrm xmlns:a="http://schemas.openxmlformats.org/drawingml/2006/main">
            <a:off x="4591050" y="2857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94A3B8"/>
                </a:solidFill>
              </a:defRPr>
            </a:defPPr>
            <a:lvl1pPr>
              <a:defRPr sz="1650" b="1">
                <a:solidFill>
                  <a:srgbClr val="94A3B8"/>
                </a:solidFill>
              </a:defRPr>
            </a:lvl1pPr>
            <a:lvl2pPr>
              <a:defRPr sz="1650" b="1">
                <a:solidFill>
                  <a:srgbClr val="94A3B8"/>
                </a:solidFill>
              </a:defRPr>
            </a:lvl2pPr>
            <a:lvl3pPr>
              <a:defRPr sz="1650" b="1">
                <a:solidFill>
                  <a:srgbClr val="94A3B8"/>
                </a:solidFill>
              </a:defRPr>
            </a:lvl3pPr>
            <a:lvl4pPr>
              <a:defRPr sz="1650" b="1">
                <a:solidFill>
                  <a:srgbClr val="94A3B8"/>
                </a:solidFill>
              </a:defRPr>
            </a:lvl4pPr>
            <a:lvl5pPr>
              <a:defRPr sz="1650" b="1">
                <a:solidFill>
                  <a:srgbClr val="94A3B8"/>
                </a:solidFill>
              </a:defRPr>
            </a:lvl5pPr>
            <a:lvl6pPr>
              <a:defRPr sz="1650" b="1">
                <a:solidFill>
                  <a:srgbClr val="94A3B8"/>
                </a:solidFill>
              </a:defRPr>
            </a:lvl6pPr>
            <a:lvl7pPr>
              <a:defRPr sz="1650" b="1">
                <a:solidFill>
                  <a:srgbClr val="94A3B8"/>
                </a:solidFill>
              </a:defRPr>
            </a:lvl7pPr>
            <a:lvl8pPr>
              <a:defRPr sz="1650" b="1">
                <a:solidFill>
                  <a:srgbClr val="94A3B8"/>
                </a:solidFill>
              </a:defRPr>
            </a:lvl8pPr>
            <a:lvl9pPr>
              <a:defRPr sz="1650" b="1">
                <a:solidFill>
                  <a:srgbClr val="94A3B8"/>
                </a:solidFill>
              </a:defRPr>
            </a:lvl9pPr>
          </a:lstStyle>
          <a:p xmlns:a="http://schemas.openxmlformats.org/drawingml/2006/main">
            <a:pPr>
              <a:defRPr sz="1650" b="1">
                <a:solidFill>
                  <a:srgbClr val="94A3B8"/>
                </a:solidFill>
              </a:defRPr>
            </a:pPr>
            <a:r>
              <a:rPr sz="1650" b="1">
                <a:solidFill>
                  <a:srgbClr val="94A3B8"/>
                </a:solidFill>
              </a:rPr>
              <a:t>→</a:t>
            </a:r>
          </a:p>
        </p:txBody>
      </p:sp>
      <p:sp>
        <p:nvSpPr>
          <p:cNvPr id="11" name="">
            <a:extLst xmlns:a="http://schemas.openxmlformats.org/drawingml/2006/main">
              <a:ext uri="{FF2B5EF4-FFF2-40B4-BE49-F238E27FC236}">
                <a16:creationId xmlns:a16="http://schemas.microsoft.com/office/drawing/2014/main" id="{D21685E2-1558-4D4D-8FDD-9A4810A8A3A4}"/>
              </a:ext>
            </a:extLst>
          </p:cNvPr>
          <p:cNvSpPr>
            <a:spLocks xmlns:a="http://schemas.openxmlformats.org/drawingml/2006/main" noGrp="1"/>
          </p:cNvSpPr>
          <p:nvPr/>
        </p:nvSpPr>
        <p:spPr>
          <a:xfrm xmlns:a="http://schemas.openxmlformats.org/drawingml/2006/main">
            <a:off x="4838700" y="2095500"/>
            <a:ext cx="1866900" cy="1905000"/>
          </a:xfrm>
          <a:prstGeom xmlns:a="http://schemas.openxmlformats.org/drawingml/2006/main" prst="roundRect">
            <a:avLst>
              <a:gd name="adj" fmla="val 6122"/>
            </a:avLst>
          </a:prstGeom>
          <a:solidFill xmlns:a="http://schemas.openxmlformats.org/drawingml/2006/main">
            <a:srgbClr val="111827"/>
          </a:solidFill>
          <a:ln xmlns:a="http://schemas.openxmlformats.org/drawingml/2006/main" w="9525">
            <a:solidFill>
              <a:srgbClr val="1F2937"/>
            </a:solidFill>
            <a:prstDash val="solid"/>
          </a:ln>
        </p:spPr>
      </p:sp>
      <p:sp>
        <p:nvSpPr>
          <p:cNvPr id="12" name="">
            <a:extLst xmlns:a="http://schemas.openxmlformats.org/drawingml/2006/main">
              <a:ext uri="{FF2B5EF4-FFF2-40B4-BE49-F238E27FC236}">
                <a16:creationId xmlns:a16="http://schemas.microsoft.com/office/drawing/2014/main" id="{35E999F2-F05F-4854-8096-B39C1E61A3C8}"/>
              </a:ext>
            </a:extLst>
          </p:cNvPr>
          <p:cNvSpPr>
            <a:spLocks xmlns:a="http://schemas.openxmlformats.org/drawingml/2006/main" noGrp="1"/>
          </p:cNvSpPr>
          <p:nvPr/>
        </p:nvSpPr>
        <p:spPr>
          <a:xfrm xmlns:a="http://schemas.openxmlformats.org/drawingml/2006/main">
            <a:off x="501015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BBF24"/>
                </a:solidFill>
              </a:defRPr>
            </a:defPPr>
            <a:lvl1pPr>
              <a:defRPr sz="1350" b="1">
                <a:solidFill>
                  <a:srgbClr val="FBBF24"/>
                </a:solidFill>
              </a:defRPr>
            </a:lvl1pPr>
            <a:lvl2pPr>
              <a:defRPr sz="1350" b="1">
                <a:solidFill>
                  <a:srgbClr val="FBBF24"/>
                </a:solidFill>
              </a:defRPr>
            </a:lvl2pPr>
            <a:lvl3pPr>
              <a:defRPr sz="1350" b="1">
                <a:solidFill>
                  <a:srgbClr val="FBBF24"/>
                </a:solidFill>
              </a:defRPr>
            </a:lvl3pPr>
            <a:lvl4pPr>
              <a:defRPr sz="1350" b="1">
                <a:solidFill>
                  <a:srgbClr val="FBBF24"/>
                </a:solidFill>
              </a:defRPr>
            </a:lvl4pPr>
            <a:lvl5pPr>
              <a:defRPr sz="1350" b="1">
                <a:solidFill>
                  <a:srgbClr val="FBBF24"/>
                </a:solidFill>
              </a:defRPr>
            </a:lvl5pPr>
            <a:lvl6pPr>
              <a:defRPr sz="1350" b="1">
                <a:solidFill>
                  <a:srgbClr val="FBBF24"/>
                </a:solidFill>
              </a:defRPr>
            </a:lvl6pPr>
            <a:lvl7pPr>
              <a:defRPr sz="1350" b="1">
                <a:solidFill>
                  <a:srgbClr val="FBBF24"/>
                </a:solidFill>
              </a:defRPr>
            </a:lvl7pPr>
            <a:lvl8pPr>
              <a:defRPr sz="1350" b="1">
                <a:solidFill>
                  <a:srgbClr val="FBBF24"/>
                </a:solidFill>
              </a:defRPr>
            </a:lvl8pPr>
            <a:lvl9pPr>
              <a:defRPr sz="1350" b="1">
                <a:solidFill>
                  <a:srgbClr val="FBBF24"/>
                </a:solidFill>
              </a:defRPr>
            </a:lvl9pPr>
          </a:lstStyle>
          <a:p xmlns:a="http://schemas.openxmlformats.org/drawingml/2006/main">
            <a:pPr>
              <a:defRPr sz="1350" b="1">
                <a:solidFill>
                  <a:srgbClr val="FBBF24"/>
                </a:solidFill>
              </a:defRPr>
            </a:pPr>
            <a:r>
              <a:rPr sz="1350" b="1">
                <a:solidFill>
                  <a:srgbClr val="FBBF24"/>
                </a:solidFill>
              </a:rPr>
              <a:t>this.age</a:t>
            </a:r>
          </a:p>
        </p:txBody>
      </p:sp>
      <p:sp>
        <p:nvSpPr>
          <p:cNvPr id="13" name="">
            <a:extLst xmlns:a="http://schemas.openxmlformats.org/drawingml/2006/main">
              <a:ext uri="{FF2B5EF4-FFF2-40B4-BE49-F238E27FC236}">
                <a16:creationId xmlns:a16="http://schemas.microsoft.com/office/drawing/2014/main" id="{884AAA8B-D571-4C6D-92DA-63221CB11FDD}"/>
              </a:ext>
            </a:extLst>
          </p:cNvPr>
          <p:cNvSpPr>
            <a:spLocks xmlns:a="http://schemas.openxmlformats.org/drawingml/2006/main" noGrp="1"/>
          </p:cNvSpPr>
          <p:nvPr/>
        </p:nvSpPr>
        <p:spPr>
          <a:xfrm xmlns:a="http://schemas.openxmlformats.org/drawingml/2006/main">
            <a:off x="5010150" y="2743200"/>
            <a:ext cx="152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4A3B8"/>
                </a:solidFill>
              </a:defRPr>
            </a:defPPr>
            <a:lvl1pPr>
              <a:defRPr sz="1050" b="0">
                <a:solidFill>
                  <a:srgbClr val="94A3B8"/>
                </a:solidFill>
              </a:defRPr>
            </a:lvl1pPr>
            <a:lvl2pPr>
              <a:defRPr sz="1050" b="0">
                <a:solidFill>
                  <a:srgbClr val="94A3B8"/>
                </a:solidFill>
              </a:defRPr>
            </a:lvl2pPr>
            <a:lvl3pPr>
              <a:defRPr sz="1050" b="0">
                <a:solidFill>
                  <a:srgbClr val="94A3B8"/>
                </a:solidFill>
              </a:defRPr>
            </a:lvl3pPr>
            <a:lvl4pPr>
              <a:defRPr sz="1050" b="0">
                <a:solidFill>
                  <a:srgbClr val="94A3B8"/>
                </a:solidFill>
              </a:defRPr>
            </a:lvl4pPr>
            <a:lvl5pPr>
              <a:defRPr sz="1050" b="0">
                <a:solidFill>
                  <a:srgbClr val="94A3B8"/>
                </a:solidFill>
              </a:defRPr>
            </a:lvl5pPr>
            <a:lvl6pPr>
              <a:defRPr sz="1050" b="0">
                <a:solidFill>
                  <a:srgbClr val="94A3B8"/>
                </a:solidFill>
              </a:defRPr>
            </a:lvl6pPr>
            <a:lvl7pPr>
              <a:defRPr sz="1050" b="0">
                <a:solidFill>
                  <a:srgbClr val="94A3B8"/>
                </a:solidFill>
              </a:defRPr>
            </a:lvl7pPr>
            <a:lvl8pPr>
              <a:defRPr sz="1050" b="0">
                <a:solidFill>
                  <a:srgbClr val="94A3B8"/>
                </a:solidFill>
              </a:defRPr>
            </a:lvl8pPr>
            <a:lvl9pPr>
              <a:defRPr sz="1050" b="0">
                <a:solidFill>
                  <a:srgbClr val="94A3B8"/>
                </a:solidFill>
              </a:defRPr>
            </a:lvl9pPr>
          </a:lstStyle>
          <a:p xmlns:a="http://schemas.openxmlformats.org/drawingml/2006/main">
            <a:pPr>
              <a:defRPr sz="1050" b="0">
                <a:solidFill>
                  <a:srgbClr val="94A3B8"/>
                </a:solidFill>
              </a:defRPr>
            </a:pPr>
            <a:r>
              <a:rPr sz="1050" b="0">
                <a:solidFill>
                  <a:srgbClr val="94A3B8"/>
                </a:solidFill>
              </a:rPr>
              <a:t>OP_CSV gates each tranche</a:t>
            </a:r>
          </a:p>
        </p:txBody>
      </p:sp>
      <p:sp>
        <p:nvSpPr>
          <p:cNvPr id="14" name="">
            <a:extLst xmlns:a="http://schemas.openxmlformats.org/drawingml/2006/main">
              <a:ext uri="{FF2B5EF4-FFF2-40B4-BE49-F238E27FC236}">
                <a16:creationId xmlns:a16="http://schemas.microsoft.com/office/drawing/2014/main" id="{6E751D0D-8770-4D62-B839-5B8CB19C29A7}"/>
              </a:ext>
            </a:extLst>
          </p:cNvPr>
          <p:cNvSpPr>
            <a:spLocks xmlns:a="http://schemas.openxmlformats.org/drawingml/2006/main" noGrp="1"/>
          </p:cNvSpPr>
          <p:nvPr/>
        </p:nvSpPr>
        <p:spPr>
          <a:xfrm xmlns:a="http://schemas.openxmlformats.org/drawingml/2006/main">
            <a:off x="6667500" y="2857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94A3B8"/>
                </a:solidFill>
              </a:defRPr>
            </a:defPPr>
            <a:lvl1pPr>
              <a:defRPr sz="1650" b="1">
                <a:solidFill>
                  <a:srgbClr val="94A3B8"/>
                </a:solidFill>
              </a:defRPr>
            </a:lvl1pPr>
            <a:lvl2pPr>
              <a:defRPr sz="1650" b="1">
                <a:solidFill>
                  <a:srgbClr val="94A3B8"/>
                </a:solidFill>
              </a:defRPr>
            </a:lvl2pPr>
            <a:lvl3pPr>
              <a:defRPr sz="1650" b="1">
                <a:solidFill>
                  <a:srgbClr val="94A3B8"/>
                </a:solidFill>
              </a:defRPr>
            </a:lvl3pPr>
            <a:lvl4pPr>
              <a:defRPr sz="1650" b="1">
                <a:solidFill>
                  <a:srgbClr val="94A3B8"/>
                </a:solidFill>
              </a:defRPr>
            </a:lvl4pPr>
            <a:lvl5pPr>
              <a:defRPr sz="1650" b="1">
                <a:solidFill>
                  <a:srgbClr val="94A3B8"/>
                </a:solidFill>
              </a:defRPr>
            </a:lvl5pPr>
            <a:lvl6pPr>
              <a:defRPr sz="1650" b="1">
                <a:solidFill>
                  <a:srgbClr val="94A3B8"/>
                </a:solidFill>
              </a:defRPr>
            </a:lvl6pPr>
            <a:lvl7pPr>
              <a:defRPr sz="1650" b="1">
                <a:solidFill>
                  <a:srgbClr val="94A3B8"/>
                </a:solidFill>
              </a:defRPr>
            </a:lvl7pPr>
            <a:lvl8pPr>
              <a:defRPr sz="1650" b="1">
                <a:solidFill>
                  <a:srgbClr val="94A3B8"/>
                </a:solidFill>
              </a:defRPr>
            </a:lvl8pPr>
            <a:lvl9pPr>
              <a:defRPr sz="1650" b="1">
                <a:solidFill>
                  <a:srgbClr val="94A3B8"/>
                </a:solidFill>
              </a:defRPr>
            </a:lvl9pPr>
          </a:lstStyle>
          <a:p xmlns:a="http://schemas.openxmlformats.org/drawingml/2006/main">
            <a:pPr>
              <a:defRPr sz="1650" b="1">
                <a:solidFill>
                  <a:srgbClr val="94A3B8"/>
                </a:solidFill>
              </a:defRPr>
            </a:pPr>
            <a:r>
              <a:rPr sz="1650" b="1">
                <a:solidFill>
                  <a:srgbClr val="94A3B8"/>
                </a:solidFill>
              </a:rPr>
              <a:t>→</a:t>
            </a:r>
          </a:p>
        </p:txBody>
      </p:sp>
      <p:sp>
        <p:nvSpPr>
          <p:cNvPr id="15" name="">
            <a:extLst xmlns:a="http://schemas.openxmlformats.org/drawingml/2006/main">
              <a:ext uri="{FF2B5EF4-FFF2-40B4-BE49-F238E27FC236}">
                <a16:creationId xmlns:a16="http://schemas.microsoft.com/office/drawing/2014/main" id="{5C86338D-BEB0-4B0C-A488-54FC8F8EDAB4}"/>
              </a:ext>
            </a:extLst>
          </p:cNvPr>
          <p:cNvSpPr>
            <a:spLocks xmlns:a="http://schemas.openxmlformats.org/drawingml/2006/main" noGrp="1"/>
          </p:cNvSpPr>
          <p:nvPr/>
        </p:nvSpPr>
        <p:spPr>
          <a:xfrm xmlns:a="http://schemas.openxmlformats.org/drawingml/2006/main">
            <a:off x="6915150" y="2095500"/>
            <a:ext cx="1866900" cy="1905000"/>
          </a:xfrm>
          <a:prstGeom xmlns:a="http://schemas.openxmlformats.org/drawingml/2006/main" prst="roundRect">
            <a:avLst>
              <a:gd name="adj" fmla="val 6122"/>
            </a:avLst>
          </a:prstGeom>
          <a:solidFill xmlns:a="http://schemas.openxmlformats.org/drawingml/2006/main">
            <a:srgbClr val="111827"/>
          </a:solidFill>
          <a:ln xmlns:a="http://schemas.openxmlformats.org/drawingml/2006/main" w="9525">
            <a:solidFill>
              <a:srgbClr val="1F2937"/>
            </a:solidFill>
            <a:prstDash val="solid"/>
          </a:ln>
        </p:spPr>
      </p:sp>
      <p:sp>
        <p:nvSpPr>
          <p:cNvPr id="16" name="">
            <a:extLst xmlns:a="http://schemas.openxmlformats.org/drawingml/2006/main">
              <a:ext uri="{FF2B5EF4-FFF2-40B4-BE49-F238E27FC236}">
                <a16:creationId xmlns:a16="http://schemas.microsoft.com/office/drawing/2014/main" id="{CF835560-144A-480C-B3AB-E420F4570805}"/>
              </a:ext>
            </a:extLst>
          </p:cNvPr>
          <p:cNvSpPr>
            <a:spLocks xmlns:a="http://schemas.openxmlformats.org/drawingml/2006/main" noGrp="1"/>
          </p:cNvSpPr>
          <p:nvPr/>
        </p:nvSpPr>
        <p:spPr>
          <a:xfrm xmlns:a="http://schemas.openxmlformats.org/drawingml/2006/main">
            <a:off x="708660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C084FC"/>
                </a:solidFill>
              </a:defRPr>
            </a:defPPr>
            <a:lvl1pPr>
              <a:defRPr sz="1350" b="1">
                <a:solidFill>
                  <a:srgbClr val="C084FC"/>
                </a:solidFill>
              </a:defRPr>
            </a:lvl1pPr>
            <a:lvl2pPr>
              <a:defRPr sz="1350" b="1">
                <a:solidFill>
                  <a:srgbClr val="C084FC"/>
                </a:solidFill>
              </a:defRPr>
            </a:lvl2pPr>
            <a:lvl3pPr>
              <a:defRPr sz="1350" b="1">
                <a:solidFill>
                  <a:srgbClr val="C084FC"/>
                </a:solidFill>
              </a:defRPr>
            </a:lvl3pPr>
            <a:lvl4pPr>
              <a:defRPr sz="1350" b="1">
                <a:solidFill>
                  <a:srgbClr val="C084FC"/>
                </a:solidFill>
              </a:defRPr>
            </a:lvl4pPr>
            <a:lvl5pPr>
              <a:defRPr sz="1350" b="1">
                <a:solidFill>
                  <a:srgbClr val="C084FC"/>
                </a:solidFill>
              </a:defRPr>
            </a:lvl5pPr>
            <a:lvl6pPr>
              <a:defRPr sz="1350" b="1">
                <a:solidFill>
                  <a:srgbClr val="C084FC"/>
                </a:solidFill>
              </a:defRPr>
            </a:lvl6pPr>
            <a:lvl7pPr>
              <a:defRPr sz="1350" b="1">
                <a:solidFill>
                  <a:srgbClr val="C084FC"/>
                </a:solidFill>
              </a:defRPr>
            </a:lvl7pPr>
            <a:lvl8pPr>
              <a:defRPr sz="1350" b="1">
                <a:solidFill>
                  <a:srgbClr val="C084FC"/>
                </a:solidFill>
              </a:defRPr>
            </a:lvl8pPr>
            <a:lvl9pPr>
              <a:defRPr sz="1350" b="1">
                <a:solidFill>
                  <a:srgbClr val="C084FC"/>
                </a:solidFill>
              </a:defRPr>
            </a:lvl9pPr>
          </a:lstStyle>
          <a:p xmlns:a="http://schemas.openxmlformats.org/drawingml/2006/main">
            <a:pPr>
              <a:defRPr sz="1350" b="1">
                <a:solidFill>
                  <a:srgbClr val="C084FC"/>
                </a:solidFill>
              </a:defRPr>
            </a:pPr>
            <a:r>
              <a:rPr sz="1350" b="1">
                <a:solidFill>
                  <a:srgbClr val="C084FC"/>
                </a:solidFill>
              </a:rPr>
              <a:t>BCH buffer</a:t>
            </a:r>
          </a:p>
        </p:txBody>
      </p:sp>
      <p:sp>
        <p:nvSpPr>
          <p:cNvPr id="17" name="">
            <a:extLst xmlns:a="http://schemas.openxmlformats.org/drawingml/2006/main">
              <a:ext uri="{FF2B5EF4-FFF2-40B4-BE49-F238E27FC236}">
                <a16:creationId xmlns:a16="http://schemas.microsoft.com/office/drawing/2014/main" id="{4448CFD1-0ADA-4B8E-9100-8F87C2489254}"/>
              </a:ext>
            </a:extLst>
          </p:cNvPr>
          <p:cNvSpPr>
            <a:spLocks xmlns:a="http://schemas.openxmlformats.org/drawingml/2006/main" noGrp="1"/>
          </p:cNvSpPr>
          <p:nvPr/>
        </p:nvSpPr>
        <p:spPr>
          <a:xfrm xmlns:a="http://schemas.openxmlformats.org/drawingml/2006/main">
            <a:off x="7086600" y="2743200"/>
            <a:ext cx="152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4A3B8"/>
                </a:solidFill>
              </a:defRPr>
            </a:defPPr>
            <a:lvl1pPr>
              <a:defRPr sz="1050" b="0">
                <a:solidFill>
                  <a:srgbClr val="94A3B8"/>
                </a:solidFill>
              </a:defRPr>
            </a:lvl1pPr>
            <a:lvl2pPr>
              <a:defRPr sz="1050" b="0">
                <a:solidFill>
                  <a:srgbClr val="94A3B8"/>
                </a:solidFill>
              </a:defRPr>
            </a:lvl2pPr>
            <a:lvl3pPr>
              <a:defRPr sz="1050" b="0">
                <a:solidFill>
                  <a:srgbClr val="94A3B8"/>
                </a:solidFill>
              </a:defRPr>
            </a:lvl3pPr>
            <a:lvl4pPr>
              <a:defRPr sz="1050" b="0">
                <a:solidFill>
                  <a:srgbClr val="94A3B8"/>
                </a:solidFill>
              </a:defRPr>
            </a:lvl4pPr>
            <a:lvl5pPr>
              <a:defRPr sz="1050" b="0">
                <a:solidFill>
                  <a:srgbClr val="94A3B8"/>
                </a:solidFill>
              </a:defRPr>
            </a:lvl5pPr>
            <a:lvl6pPr>
              <a:defRPr sz="1050" b="0">
                <a:solidFill>
                  <a:srgbClr val="94A3B8"/>
                </a:solidFill>
              </a:defRPr>
            </a:lvl6pPr>
            <a:lvl7pPr>
              <a:defRPr sz="1050" b="0">
                <a:solidFill>
                  <a:srgbClr val="94A3B8"/>
                </a:solidFill>
              </a:defRPr>
            </a:lvl7pPr>
            <a:lvl8pPr>
              <a:defRPr sz="1050" b="0">
                <a:solidFill>
                  <a:srgbClr val="94A3B8"/>
                </a:solidFill>
              </a:defRPr>
            </a:lvl8pPr>
            <a:lvl9pPr>
              <a:defRPr sz="1050" b="0">
                <a:solidFill>
                  <a:srgbClr val="94A3B8"/>
                </a:solidFill>
              </a:defRPr>
            </a:lvl9pPr>
          </a:lstStyle>
          <a:p xmlns:a="http://schemas.openxmlformats.org/drawingml/2006/main">
            <a:pPr>
              <a:defRPr sz="1050" b="0">
                <a:solidFill>
                  <a:srgbClr val="94A3B8"/>
                </a:solidFill>
              </a:defRPr>
            </a:pPr>
            <a:r>
              <a:rPr sz="1050" b="0">
                <a:solidFill>
                  <a:srgbClr val="94A3B8"/>
                </a:solidFill>
              </a:rPr>
              <a:t>change &gt;= input - 2000 sats</a:t>
            </a:r>
          </a:p>
        </p:txBody>
      </p:sp>
      <p:sp>
        <p:nvSpPr>
          <p:cNvPr id="18" name="">
            <a:extLst xmlns:a="http://schemas.openxmlformats.org/drawingml/2006/main">
              <a:ext uri="{FF2B5EF4-FFF2-40B4-BE49-F238E27FC236}">
                <a16:creationId xmlns:a16="http://schemas.microsoft.com/office/drawing/2014/main" id="{544718D4-8575-48E9-889F-763FAF1AF93A}"/>
              </a:ext>
            </a:extLst>
          </p:cNvPr>
          <p:cNvSpPr>
            <a:spLocks xmlns:a="http://schemas.openxmlformats.org/drawingml/2006/main" noGrp="1"/>
          </p:cNvSpPr>
          <p:nvPr/>
        </p:nvSpPr>
        <p:spPr>
          <a:xfrm xmlns:a="http://schemas.openxmlformats.org/drawingml/2006/main">
            <a:off x="8743950" y="2857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94A3B8"/>
                </a:solidFill>
              </a:defRPr>
            </a:defPPr>
            <a:lvl1pPr>
              <a:defRPr sz="1650" b="1">
                <a:solidFill>
                  <a:srgbClr val="94A3B8"/>
                </a:solidFill>
              </a:defRPr>
            </a:lvl1pPr>
            <a:lvl2pPr>
              <a:defRPr sz="1650" b="1">
                <a:solidFill>
                  <a:srgbClr val="94A3B8"/>
                </a:solidFill>
              </a:defRPr>
            </a:lvl2pPr>
            <a:lvl3pPr>
              <a:defRPr sz="1650" b="1">
                <a:solidFill>
                  <a:srgbClr val="94A3B8"/>
                </a:solidFill>
              </a:defRPr>
            </a:lvl3pPr>
            <a:lvl4pPr>
              <a:defRPr sz="1650" b="1">
                <a:solidFill>
                  <a:srgbClr val="94A3B8"/>
                </a:solidFill>
              </a:defRPr>
            </a:lvl4pPr>
            <a:lvl5pPr>
              <a:defRPr sz="1650" b="1">
                <a:solidFill>
                  <a:srgbClr val="94A3B8"/>
                </a:solidFill>
              </a:defRPr>
            </a:lvl5pPr>
            <a:lvl6pPr>
              <a:defRPr sz="1650" b="1">
                <a:solidFill>
                  <a:srgbClr val="94A3B8"/>
                </a:solidFill>
              </a:defRPr>
            </a:lvl6pPr>
            <a:lvl7pPr>
              <a:defRPr sz="1650" b="1">
                <a:solidFill>
                  <a:srgbClr val="94A3B8"/>
                </a:solidFill>
              </a:defRPr>
            </a:lvl7pPr>
            <a:lvl8pPr>
              <a:defRPr sz="1650" b="1">
                <a:solidFill>
                  <a:srgbClr val="94A3B8"/>
                </a:solidFill>
              </a:defRPr>
            </a:lvl8pPr>
            <a:lvl9pPr>
              <a:defRPr sz="1650" b="1">
                <a:solidFill>
                  <a:srgbClr val="94A3B8"/>
                </a:solidFill>
              </a:defRPr>
            </a:lvl9pPr>
          </a:lstStyle>
          <a:p xmlns:a="http://schemas.openxmlformats.org/drawingml/2006/main">
            <a:pPr>
              <a:defRPr sz="1650" b="1">
                <a:solidFill>
                  <a:srgbClr val="94A3B8"/>
                </a:solidFill>
              </a:defRPr>
            </a:pPr>
            <a:r>
              <a:rPr sz="1650" b="1">
                <a:solidFill>
                  <a:srgbClr val="94A3B8"/>
                </a:solidFill>
              </a:rPr>
              <a:t>→</a:t>
            </a:r>
          </a:p>
        </p:txBody>
      </p:sp>
      <p:sp>
        <p:nvSpPr>
          <p:cNvPr id="19" name="">
            <a:extLst xmlns:a="http://schemas.openxmlformats.org/drawingml/2006/main">
              <a:ext uri="{FF2B5EF4-FFF2-40B4-BE49-F238E27FC236}">
                <a16:creationId xmlns:a16="http://schemas.microsoft.com/office/drawing/2014/main" id="{6924CB02-3E28-4D82-BD12-FFB91877726F}"/>
              </a:ext>
            </a:extLst>
          </p:cNvPr>
          <p:cNvSpPr>
            <a:spLocks xmlns:a="http://schemas.openxmlformats.org/drawingml/2006/main" noGrp="1"/>
          </p:cNvSpPr>
          <p:nvPr/>
        </p:nvSpPr>
        <p:spPr>
          <a:xfrm xmlns:a="http://schemas.openxmlformats.org/drawingml/2006/main">
            <a:off x="8991600" y="2095500"/>
            <a:ext cx="1866900" cy="1905000"/>
          </a:xfrm>
          <a:prstGeom xmlns:a="http://schemas.openxmlformats.org/drawingml/2006/main" prst="roundRect">
            <a:avLst>
              <a:gd name="adj" fmla="val 6122"/>
            </a:avLst>
          </a:prstGeom>
          <a:solidFill xmlns:a="http://schemas.openxmlformats.org/drawingml/2006/main">
            <a:srgbClr val="111827"/>
          </a:solidFill>
          <a:ln xmlns:a="http://schemas.openxmlformats.org/drawingml/2006/main" w="9525">
            <a:solidFill>
              <a:srgbClr val="1F2937"/>
            </a:solidFill>
            <a:prstDash val="solid"/>
          </a:ln>
        </p:spPr>
      </p:sp>
      <p:sp>
        <p:nvSpPr>
          <p:cNvPr id="20" name="">
            <a:extLst xmlns:a="http://schemas.openxmlformats.org/drawingml/2006/main">
              <a:ext uri="{FF2B5EF4-FFF2-40B4-BE49-F238E27FC236}">
                <a16:creationId xmlns:a16="http://schemas.microsoft.com/office/drawing/2014/main" id="{AEF85091-41D8-40B2-8491-16A969CB74A9}"/>
              </a:ext>
            </a:extLst>
          </p:cNvPr>
          <p:cNvSpPr>
            <a:spLocks xmlns:a="http://schemas.openxmlformats.org/drawingml/2006/main" noGrp="1"/>
          </p:cNvSpPr>
          <p:nvPr/>
        </p:nvSpPr>
        <p:spPr>
          <a:xfrm xmlns:a="http://schemas.openxmlformats.org/drawingml/2006/main">
            <a:off x="9163050" y="2324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94A3B8"/>
                </a:solidFill>
              </a:defRPr>
            </a:defPPr>
            <a:lvl1pPr>
              <a:defRPr sz="1350" b="1">
                <a:solidFill>
                  <a:srgbClr val="94A3B8"/>
                </a:solidFill>
              </a:defRPr>
            </a:lvl1pPr>
            <a:lvl2pPr>
              <a:defRPr sz="1350" b="1">
                <a:solidFill>
                  <a:srgbClr val="94A3B8"/>
                </a:solidFill>
              </a:defRPr>
            </a:lvl2pPr>
            <a:lvl3pPr>
              <a:defRPr sz="1350" b="1">
                <a:solidFill>
                  <a:srgbClr val="94A3B8"/>
                </a:solidFill>
              </a:defRPr>
            </a:lvl3pPr>
            <a:lvl4pPr>
              <a:defRPr sz="1350" b="1">
                <a:solidFill>
                  <a:srgbClr val="94A3B8"/>
                </a:solidFill>
              </a:defRPr>
            </a:lvl4pPr>
            <a:lvl5pPr>
              <a:defRPr sz="1350" b="1">
                <a:solidFill>
                  <a:srgbClr val="94A3B8"/>
                </a:solidFill>
              </a:defRPr>
            </a:lvl5pPr>
            <a:lvl6pPr>
              <a:defRPr sz="1350" b="1">
                <a:solidFill>
                  <a:srgbClr val="94A3B8"/>
                </a:solidFill>
              </a:defRPr>
            </a:lvl6pPr>
            <a:lvl7pPr>
              <a:defRPr sz="1350" b="1">
                <a:solidFill>
                  <a:srgbClr val="94A3B8"/>
                </a:solidFill>
              </a:defRPr>
            </a:lvl7pPr>
            <a:lvl8pPr>
              <a:defRPr sz="1350" b="1">
                <a:solidFill>
                  <a:srgbClr val="94A3B8"/>
                </a:solidFill>
              </a:defRPr>
            </a:lvl8pPr>
            <a:lvl9pPr>
              <a:defRPr sz="1350" b="1">
                <a:solidFill>
                  <a:srgbClr val="94A3B8"/>
                </a:solidFill>
              </a:defRPr>
            </a:lvl9pPr>
          </a:lstStyle>
          <a:p xmlns:a="http://schemas.openxmlformats.org/drawingml/2006/main">
            <a:pPr>
              <a:defRPr sz="1350" b="1">
                <a:solidFill>
                  <a:srgbClr val="94A3B8"/>
                </a:solidFill>
              </a:defRPr>
            </a:pPr>
            <a:r>
              <a:rPr sz="1350" b="1">
                <a:solidFill>
                  <a:srgbClr val="94A3B8"/>
                </a:solidFill>
              </a:rPr>
              <a:t>WizardConnect</a:t>
            </a:r>
          </a:p>
        </p:txBody>
      </p:sp>
      <p:sp>
        <p:nvSpPr>
          <p:cNvPr id="21" name="">
            <a:extLst xmlns:a="http://schemas.openxmlformats.org/drawingml/2006/main">
              <a:ext uri="{FF2B5EF4-FFF2-40B4-BE49-F238E27FC236}">
                <a16:creationId xmlns:a16="http://schemas.microsoft.com/office/drawing/2014/main" id="{C5C24236-70C3-41F5-88AF-86C320113036}"/>
              </a:ext>
            </a:extLst>
          </p:cNvPr>
          <p:cNvSpPr>
            <a:spLocks xmlns:a="http://schemas.openxmlformats.org/drawingml/2006/main" noGrp="1"/>
          </p:cNvSpPr>
          <p:nvPr/>
        </p:nvSpPr>
        <p:spPr>
          <a:xfrm xmlns:a="http://schemas.openxmlformats.org/drawingml/2006/main">
            <a:off x="9163050" y="2743200"/>
            <a:ext cx="152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4A3B8"/>
                </a:solidFill>
              </a:defRPr>
            </a:defPPr>
            <a:lvl1pPr>
              <a:defRPr sz="1050" b="0">
                <a:solidFill>
                  <a:srgbClr val="94A3B8"/>
                </a:solidFill>
              </a:defRPr>
            </a:lvl1pPr>
            <a:lvl2pPr>
              <a:defRPr sz="1050" b="0">
                <a:solidFill>
                  <a:srgbClr val="94A3B8"/>
                </a:solidFill>
              </a:defRPr>
            </a:lvl2pPr>
            <a:lvl3pPr>
              <a:defRPr sz="1050" b="0">
                <a:solidFill>
                  <a:srgbClr val="94A3B8"/>
                </a:solidFill>
              </a:defRPr>
            </a:lvl3pPr>
            <a:lvl4pPr>
              <a:defRPr sz="1050" b="0">
                <a:solidFill>
                  <a:srgbClr val="94A3B8"/>
                </a:solidFill>
              </a:defRPr>
            </a:lvl4pPr>
            <a:lvl5pPr>
              <a:defRPr sz="1050" b="0">
                <a:solidFill>
                  <a:srgbClr val="94A3B8"/>
                </a:solidFill>
              </a:defRPr>
            </a:lvl5pPr>
            <a:lvl6pPr>
              <a:defRPr sz="1050" b="0">
                <a:solidFill>
                  <a:srgbClr val="94A3B8"/>
                </a:solidFill>
              </a:defRPr>
            </a:lvl6pPr>
            <a:lvl7pPr>
              <a:defRPr sz="1050" b="0">
                <a:solidFill>
                  <a:srgbClr val="94A3B8"/>
                </a:solidFill>
              </a:defRPr>
            </a:lvl7pPr>
            <a:lvl8pPr>
              <a:defRPr sz="1050" b="0">
                <a:solidFill>
                  <a:srgbClr val="94A3B8"/>
                </a:solidFill>
              </a:defRPr>
            </a:lvl8pPr>
            <a:lvl9pPr>
              <a:defRPr sz="1050" b="0">
                <a:solidFill>
                  <a:srgbClr val="94A3B8"/>
                </a:solidFill>
              </a:defRPr>
            </a:lvl9pPr>
          </a:lstStyle>
          <a:p xmlns:a="http://schemas.openxmlformats.org/drawingml/2006/main">
            <a:pPr>
              <a:defRPr sz="1050" b="0">
                <a:solidFill>
                  <a:srgbClr val="94A3B8"/>
                </a:solidFill>
              </a:defRPr>
            </a:pPr>
            <a:r>
              <a:rPr sz="1050" b="0">
                <a:solidFill>
                  <a:srgbClr val="94A3B8"/>
                </a:solidFill>
              </a:rPr>
              <a:t>signed + broadcast</a:t>
            </a:r>
          </a:p>
        </p:txBody>
      </p:sp>
      <p:sp>
        <p:nvSpPr>
          <p:cNvPr id="22" name="">
            <a:extLst xmlns:a="http://schemas.openxmlformats.org/drawingml/2006/main">
              <a:ext uri="{FF2B5EF4-FFF2-40B4-BE49-F238E27FC236}">
                <a16:creationId xmlns:a16="http://schemas.microsoft.com/office/drawing/2014/main" id="{F668E0BB-884C-48E6-8590-1E1C22C45F0C}"/>
              </a:ext>
            </a:extLst>
          </p:cNvPr>
          <p:cNvSpPr>
            <a:spLocks xmlns:a="http://schemas.openxmlformats.org/drawingml/2006/main" noGrp="1"/>
          </p:cNvSpPr>
          <p:nvPr/>
        </p:nvSpPr>
        <p:spPr>
          <a:xfrm xmlns:a="http://schemas.openxmlformats.org/drawingml/2006/main">
            <a:off x="685800" y="4476750"/>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PUSD is a CashToken, so the VM proves token conservation. One vault input and two outputs keep the accounting tight. Change returns to the identical covenant, and the BCH buffer is bounded. Only the payer can cancel.</a:t>
            </a:r>
          </a:p>
        </p:txBody>
      </p:sp>
    </p:spTree>
    <p:extLst>
      <p:ext uri="{BB962C8B-B14F-4D97-AF65-F5344CB8AC3E}">
        <p14:creationId xmlns:p14="http://schemas.microsoft.com/office/powerpoint/2010/main" val="67462121"/>
      </p:ext>
    </p:extLst>
  </p:cSld>
</p:sld>
</file>

<file path=ppt/slides/slide6.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218C64-BFC7-4C4A-ACF0-D34DB8FF6C63}"/>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AGENT BUDGET DEMO</a:t>
            </a:r>
          </a:p>
        </p:txBody>
      </p:sp>
      <p:sp>
        <p:nvSpPr>
          <p:cNvPr id="2" name="">
            <a:extLst xmlns:a="http://schemas.openxmlformats.org/drawingml/2006/main">
              <a:ext uri="{FF2B5EF4-FFF2-40B4-BE49-F238E27FC236}">
                <a16:creationId xmlns:a16="http://schemas.microsoft.com/office/drawing/2014/main" id="{910C320B-8C6C-40D3-9BC6-F97875B0152F}"/>
              </a:ext>
            </a:extLst>
          </p:cNvPr>
          <p:cNvSpPr>
            <a:spLocks xmlns:a="http://schemas.openxmlformats.org/drawingml/2006/main" noGrp="1"/>
          </p:cNvSpPr>
          <p:nvPr/>
        </p:nvSpPr>
        <p:spPr>
          <a:xfrm xmlns:a="http://schemas.openxmlformats.org/drawingml/2006/main">
            <a:off x="685800" y="87630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1F5F9"/>
                </a:solidFill>
              </a:defRPr>
            </a:defPPr>
            <a:lvl1pPr>
              <a:defRPr sz="2100" b="1">
                <a:solidFill>
                  <a:srgbClr val="F1F5F9"/>
                </a:solidFill>
              </a:defRPr>
            </a:lvl1pPr>
            <a:lvl2pPr>
              <a:defRPr sz="2100" b="1">
                <a:solidFill>
                  <a:srgbClr val="F1F5F9"/>
                </a:solidFill>
              </a:defRPr>
            </a:lvl2pPr>
            <a:lvl3pPr>
              <a:defRPr sz="2100" b="1">
                <a:solidFill>
                  <a:srgbClr val="F1F5F9"/>
                </a:solidFill>
              </a:defRPr>
            </a:lvl3pPr>
            <a:lvl4pPr>
              <a:defRPr sz="2100" b="1">
                <a:solidFill>
                  <a:srgbClr val="F1F5F9"/>
                </a:solidFill>
              </a:defRPr>
            </a:lvl4pPr>
            <a:lvl5pPr>
              <a:defRPr sz="2100" b="1">
                <a:solidFill>
                  <a:srgbClr val="F1F5F9"/>
                </a:solidFill>
              </a:defRPr>
            </a:lvl5pPr>
            <a:lvl6pPr>
              <a:defRPr sz="2100" b="1">
                <a:solidFill>
                  <a:srgbClr val="F1F5F9"/>
                </a:solidFill>
              </a:defRPr>
            </a:lvl6pPr>
            <a:lvl7pPr>
              <a:defRPr sz="2100" b="1">
                <a:solidFill>
                  <a:srgbClr val="F1F5F9"/>
                </a:solidFill>
              </a:defRPr>
            </a:lvl7pPr>
            <a:lvl8pPr>
              <a:defRPr sz="2100" b="1">
                <a:solidFill>
                  <a:srgbClr val="F1F5F9"/>
                </a:solidFill>
              </a:defRPr>
            </a:lvl8pPr>
            <a:lvl9pPr>
              <a:defRPr sz="2100" b="1">
                <a:solidFill>
                  <a:srgbClr val="F1F5F9"/>
                </a:solidFill>
              </a:defRPr>
            </a:lvl9pPr>
          </a:lstStyle>
          <a:p xmlns:a="http://schemas.openxmlformats.org/drawingml/2006/main">
            <a:pPr>
              <a:defRPr sz="2100" b="1">
                <a:solidFill>
                  <a:srgbClr val="F1F5F9"/>
                </a:solidFill>
              </a:defRPr>
            </a:pPr>
            <a:r>
              <a:rPr sz="2100" b="1">
                <a:solidFill>
                  <a:srgbClr val="F1F5F9"/>
                </a:solidFill>
              </a:rPr>
              <a:t>0.01 PUSD per call. A hard budget behind it.</a:t>
            </a:r>
          </a:p>
        </p:txBody>
      </p:sp>
      <p:sp>
        <p:nvSpPr>
          <p:cNvPr id="3" name="">
            <a:extLst xmlns:a="http://schemas.openxmlformats.org/drawingml/2006/main">
              <a:ext uri="{FF2B5EF4-FFF2-40B4-BE49-F238E27FC236}">
                <a16:creationId xmlns:a16="http://schemas.microsoft.com/office/drawing/2014/main" id="{A7862250-311B-4A80-B63F-2589B845DB9F}"/>
              </a:ext>
            </a:extLst>
          </p:cNvPr>
          <p:cNvSpPr>
            <a:spLocks xmlns:a="http://schemas.openxmlformats.org/drawingml/2006/main" noGrp="1"/>
          </p:cNvSpPr>
          <p:nvPr/>
        </p:nvSpPr>
        <p:spPr>
          <a:xfrm xmlns:a="http://schemas.openxmlformats.org/drawingml/2006/main">
            <a:off x="685800" y="1714500"/>
            <a:ext cx="2381250" cy="1143000"/>
          </a:xfrm>
          <a:prstGeom xmlns:a="http://schemas.openxmlformats.org/drawingml/2006/main" prst="roundRect">
            <a:avLst>
              <a:gd name="adj" fmla="val 10000"/>
            </a:avLst>
          </a:prstGeom>
          <a:solidFill xmlns:a="http://schemas.openxmlformats.org/drawingml/2006/main">
            <a:srgbClr val="111827"/>
          </a:solidFill>
          <a:ln xmlns:a="http://schemas.openxmlformats.org/drawingml/2006/main" w="9525">
            <a:solidFill>
              <a:srgbClr val="1F2937"/>
            </a:solidFill>
            <a:prstDash val="solid"/>
          </a:ln>
        </p:spPr>
      </p:sp>
      <p:sp>
        <p:nvSpPr>
          <p:cNvPr id="4" name="">
            <a:extLst xmlns:a="http://schemas.openxmlformats.org/drawingml/2006/main">
              <a:ext uri="{FF2B5EF4-FFF2-40B4-BE49-F238E27FC236}">
                <a16:creationId xmlns:a16="http://schemas.microsoft.com/office/drawing/2014/main" id="{864F26B0-591F-405E-98DD-761DD33630E3}"/>
              </a:ext>
            </a:extLst>
          </p:cNvPr>
          <p:cNvSpPr>
            <a:spLocks xmlns:a="http://schemas.openxmlformats.org/drawingml/2006/main" noGrp="1"/>
          </p:cNvSpPr>
          <p:nvPr/>
        </p:nvSpPr>
        <p:spPr>
          <a:xfrm xmlns:a="http://schemas.openxmlformats.org/drawingml/2006/main">
            <a:off x="876300" y="1943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AC18E"/>
                </a:solidFill>
              </a:defRPr>
            </a:defPPr>
            <a:lvl1pPr>
              <a:defRPr sz="1650" b="1">
                <a:solidFill>
                  <a:srgbClr val="0AC18E"/>
                </a:solidFill>
              </a:defRPr>
            </a:lvl1pPr>
            <a:lvl2pPr>
              <a:defRPr sz="1650" b="1">
                <a:solidFill>
                  <a:srgbClr val="0AC18E"/>
                </a:solidFill>
              </a:defRPr>
            </a:lvl2pPr>
            <a:lvl3pPr>
              <a:defRPr sz="1650" b="1">
                <a:solidFill>
                  <a:srgbClr val="0AC18E"/>
                </a:solidFill>
              </a:defRPr>
            </a:lvl3pPr>
            <a:lvl4pPr>
              <a:defRPr sz="1650" b="1">
                <a:solidFill>
                  <a:srgbClr val="0AC18E"/>
                </a:solidFill>
              </a:defRPr>
            </a:lvl4pPr>
            <a:lvl5pPr>
              <a:defRPr sz="1650" b="1">
                <a:solidFill>
                  <a:srgbClr val="0AC18E"/>
                </a:solidFill>
              </a:defRPr>
            </a:lvl5pPr>
            <a:lvl6pPr>
              <a:defRPr sz="1650" b="1">
                <a:solidFill>
                  <a:srgbClr val="0AC18E"/>
                </a:solidFill>
              </a:defRPr>
            </a:lvl6pPr>
            <a:lvl7pPr>
              <a:defRPr sz="1650" b="1">
                <a:solidFill>
                  <a:srgbClr val="0AC18E"/>
                </a:solidFill>
              </a:defRPr>
            </a:lvl7pPr>
            <a:lvl8pPr>
              <a:defRPr sz="1650" b="1">
                <a:solidFill>
                  <a:srgbClr val="0AC18E"/>
                </a:solidFill>
              </a:defRPr>
            </a:lvl8pPr>
            <a:lvl9pPr>
              <a:defRPr sz="1650" b="1">
                <a:solidFill>
                  <a:srgbClr val="0AC18E"/>
                </a:solidFill>
              </a:defRPr>
            </a:lvl9pPr>
          </a:lstStyle>
          <a:p xmlns:a="http://schemas.openxmlformats.org/drawingml/2006/main">
            <a:pPr>
              <a:defRPr sz="1650" b="1">
                <a:solidFill>
                  <a:srgbClr val="0AC18E"/>
                </a:solidFill>
              </a:defRPr>
            </a:pPr>
            <a:r>
              <a:rPr sz="1650" b="1">
                <a:solidFill>
                  <a:srgbClr val="0AC18E"/>
                </a:solidFill>
              </a:rPr>
              <a:t>2.00 PUSD</a:t>
            </a:r>
          </a:p>
        </p:txBody>
      </p:sp>
      <p:sp>
        <p:nvSpPr>
          <p:cNvPr id="5" name="">
            <a:extLst xmlns:a="http://schemas.openxmlformats.org/drawingml/2006/main">
              <a:ext uri="{FF2B5EF4-FFF2-40B4-BE49-F238E27FC236}">
                <a16:creationId xmlns:a16="http://schemas.microsoft.com/office/drawing/2014/main" id="{B498DA29-2A0C-4F41-A34D-429453277A1E}"/>
              </a:ext>
            </a:extLst>
          </p:cNvPr>
          <p:cNvSpPr>
            <a:spLocks xmlns:a="http://schemas.openxmlformats.org/drawingml/2006/main" noGrp="1"/>
          </p:cNvSpPr>
          <p:nvPr/>
        </p:nvSpPr>
        <p:spPr>
          <a:xfrm xmlns:a="http://schemas.openxmlformats.org/drawingml/2006/main">
            <a:off x="876300" y="2381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4A3B8"/>
                </a:solidFill>
              </a:defRPr>
            </a:defPPr>
            <a:lvl1pPr>
              <a:defRPr sz="975" b="0">
                <a:solidFill>
                  <a:srgbClr val="94A3B8"/>
                </a:solidFill>
              </a:defRPr>
            </a:lvl1pPr>
            <a:lvl2pPr>
              <a:defRPr sz="975" b="0">
                <a:solidFill>
                  <a:srgbClr val="94A3B8"/>
                </a:solidFill>
              </a:defRPr>
            </a:lvl2pPr>
            <a:lvl3pPr>
              <a:defRPr sz="975" b="0">
                <a:solidFill>
                  <a:srgbClr val="94A3B8"/>
                </a:solidFill>
              </a:defRPr>
            </a:lvl3pPr>
            <a:lvl4pPr>
              <a:defRPr sz="975" b="0">
                <a:solidFill>
                  <a:srgbClr val="94A3B8"/>
                </a:solidFill>
              </a:defRPr>
            </a:lvl4pPr>
            <a:lvl5pPr>
              <a:defRPr sz="975" b="0">
                <a:solidFill>
                  <a:srgbClr val="94A3B8"/>
                </a:solidFill>
              </a:defRPr>
            </a:lvl5pPr>
            <a:lvl6pPr>
              <a:defRPr sz="975" b="0">
                <a:solidFill>
                  <a:srgbClr val="94A3B8"/>
                </a:solidFill>
              </a:defRPr>
            </a:lvl6pPr>
            <a:lvl7pPr>
              <a:defRPr sz="975" b="0">
                <a:solidFill>
                  <a:srgbClr val="94A3B8"/>
                </a:solidFill>
              </a:defRPr>
            </a:lvl7pPr>
            <a:lvl8pPr>
              <a:defRPr sz="975" b="0">
                <a:solidFill>
                  <a:srgbClr val="94A3B8"/>
                </a:solidFill>
              </a:defRPr>
            </a:lvl8pPr>
            <a:lvl9pPr>
              <a:defRPr sz="975" b="0">
                <a:solidFill>
                  <a:srgbClr val="94A3B8"/>
                </a:solidFill>
              </a:defRPr>
            </a:lvl9pPr>
          </a:lstStyle>
          <a:p xmlns:a="http://schemas.openxmlformats.org/drawingml/2006/main">
            <a:pPr>
              <a:defRPr sz="975" b="0">
                <a:solidFill>
                  <a:srgbClr val="94A3B8"/>
                </a:solidFill>
              </a:defRPr>
            </a:pPr>
            <a:r>
              <a:rPr sz="975" b="0">
                <a:solidFill>
                  <a:srgbClr val="94A3B8"/>
                </a:solidFill>
              </a:rPr>
              <a:t>vault</a:t>
            </a:r>
          </a:p>
        </p:txBody>
      </p:sp>
      <p:sp>
        <p:nvSpPr>
          <p:cNvPr id="6" name="">
            <a:extLst xmlns:a="http://schemas.openxmlformats.org/drawingml/2006/main">
              <a:ext uri="{FF2B5EF4-FFF2-40B4-BE49-F238E27FC236}">
                <a16:creationId xmlns:a16="http://schemas.microsoft.com/office/drawing/2014/main" id="{1970D2D9-5086-4D50-8C9A-2F9B8AF520BA}"/>
              </a:ext>
            </a:extLst>
          </p:cNvPr>
          <p:cNvSpPr>
            <a:spLocks xmlns:a="http://schemas.openxmlformats.org/drawingml/2006/main" noGrp="1"/>
          </p:cNvSpPr>
          <p:nvPr/>
        </p:nvSpPr>
        <p:spPr>
          <a:xfrm xmlns:a="http://schemas.openxmlformats.org/drawingml/2006/main">
            <a:off x="3333750" y="1714500"/>
            <a:ext cx="2381250" cy="1143000"/>
          </a:xfrm>
          <a:prstGeom xmlns:a="http://schemas.openxmlformats.org/drawingml/2006/main" prst="roundRect">
            <a:avLst>
              <a:gd name="adj" fmla="val 10000"/>
            </a:avLst>
          </a:prstGeom>
          <a:solidFill xmlns:a="http://schemas.openxmlformats.org/drawingml/2006/main">
            <a:srgbClr val="111827"/>
          </a:solidFill>
          <a:ln xmlns:a="http://schemas.openxmlformats.org/drawingml/2006/main" w="9525">
            <a:solidFill>
              <a:srgbClr val="1F2937"/>
            </a:solidFill>
            <a:prstDash val="solid"/>
          </a:ln>
        </p:spPr>
      </p:sp>
      <p:sp>
        <p:nvSpPr>
          <p:cNvPr id="7" name="">
            <a:extLst xmlns:a="http://schemas.openxmlformats.org/drawingml/2006/main">
              <a:ext uri="{FF2B5EF4-FFF2-40B4-BE49-F238E27FC236}">
                <a16:creationId xmlns:a16="http://schemas.microsoft.com/office/drawing/2014/main" id="{864D5F2D-98B6-473E-B6D0-C726F2A7120D}"/>
              </a:ext>
            </a:extLst>
          </p:cNvPr>
          <p:cNvSpPr>
            <a:spLocks xmlns:a="http://schemas.openxmlformats.org/drawingml/2006/main" noGrp="1"/>
          </p:cNvSpPr>
          <p:nvPr/>
        </p:nvSpPr>
        <p:spPr>
          <a:xfrm xmlns:a="http://schemas.openxmlformats.org/drawingml/2006/main">
            <a:off x="3524250" y="1943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AC18E"/>
                </a:solidFill>
              </a:defRPr>
            </a:defPPr>
            <a:lvl1pPr>
              <a:defRPr sz="1650" b="1">
                <a:solidFill>
                  <a:srgbClr val="0AC18E"/>
                </a:solidFill>
              </a:defRPr>
            </a:lvl1pPr>
            <a:lvl2pPr>
              <a:defRPr sz="1650" b="1">
                <a:solidFill>
                  <a:srgbClr val="0AC18E"/>
                </a:solidFill>
              </a:defRPr>
            </a:lvl2pPr>
            <a:lvl3pPr>
              <a:defRPr sz="1650" b="1">
                <a:solidFill>
                  <a:srgbClr val="0AC18E"/>
                </a:solidFill>
              </a:defRPr>
            </a:lvl3pPr>
            <a:lvl4pPr>
              <a:defRPr sz="1650" b="1">
                <a:solidFill>
                  <a:srgbClr val="0AC18E"/>
                </a:solidFill>
              </a:defRPr>
            </a:lvl4pPr>
            <a:lvl5pPr>
              <a:defRPr sz="1650" b="1">
                <a:solidFill>
                  <a:srgbClr val="0AC18E"/>
                </a:solidFill>
              </a:defRPr>
            </a:lvl5pPr>
            <a:lvl6pPr>
              <a:defRPr sz="1650" b="1">
                <a:solidFill>
                  <a:srgbClr val="0AC18E"/>
                </a:solidFill>
              </a:defRPr>
            </a:lvl6pPr>
            <a:lvl7pPr>
              <a:defRPr sz="1650" b="1">
                <a:solidFill>
                  <a:srgbClr val="0AC18E"/>
                </a:solidFill>
              </a:defRPr>
            </a:lvl7pPr>
            <a:lvl8pPr>
              <a:defRPr sz="1650" b="1">
                <a:solidFill>
                  <a:srgbClr val="0AC18E"/>
                </a:solidFill>
              </a:defRPr>
            </a:lvl8pPr>
            <a:lvl9pPr>
              <a:defRPr sz="1650" b="1">
                <a:solidFill>
                  <a:srgbClr val="0AC18E"/>
                </a:solidFill>
              </a:defRPr>
            </a:lvl9pPr>
          </a:lstStyle>
          <a:p xmlns:a="http://schemas.openxmlformats.org/drawingml/2006/main">
            <a:pPr>
              <a:defRPr sz="1650" b="1">
                <a:solidFill>
                  <a:srgbClr val="0AC18E"/>
                </a:solidFill>
              </a:defRPr>
            </a:pPr>
            <a:r>
              <a:rPr sz="1650" b="1">
                <a:solidFill>
                  <a:srgbClr val="0AC18E"/>
                </a:solidFill>
              </a:rPr>
              <a:t>0.10 PUSD</a:t>
            </a:r>
          </a:p>
        </p:txBody>
      </p:sp>
      <p:sp>
        <p:nvSpPr>
          <p:cNvPr id="8" name="">
            <a:extLst xmlns:a="http://schemas.openxmlformats.org/drawingml/2006/main">
              <a:ext uri="{FF2B5EF4-FFF2-40B4-BE49-F238E27FC236}">
                <a16:creationId xmlns:a16="http://schemas.microsoft.com/office/drawing/2014/main" id="{AAEB868F-5CAB-4316-8BC1-6585D3B24AD0}"/>
              </a:ext>
            </a:extLst>
          </p:cNvPr>
          <p:cNvSpPr>
            <a:spLocks xmlns:a="http://schemas.openxmlformats.org/drawingml/2006/main" noGrp="1"/>
          </p:cNvSpPr>
          <p:nvPr/>
        </p:nvSpPr>
        <p:spPr>
          <a:xfrm xmlns:a="http://schemas.openxmlformats.org/drawingml/2006/main">
            <a:off x="3524250" y="2381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4A3B8"/>
                </a:solidFill>
              </a:defRPr>
            </a:defPPr>
            <a:lvl1pPr>
              <a:defRPr sz="975" b="0">
                <a:solidFill>
                  <a:srgbClr val="94A3B8"/>
                </a:solidFill>
              </a:defRPr>
            </a:lvl1pPr>
            <a:lvl2pPr>
              <a:defRPr sz="975" b="0">
                <a:solidFill>
                  <a:srgbClr val="94A3B8"/>
                </a:solidFill>
              </a:defRPr>
            </a:lvl2pPr>
            <a:lvl3pPr>
              <a:defRPr sz="975" b="0">
                <a:solidFill>
                  <a:srgbClr val="94A3B8"/>
                </a:solidFill>
              </a:defRPr>
            </a:lvl3pPr>
            <a:lvl4pPr>
              <a:defRPr sz="975" b="0">
                <a:solidFill>
                  <a:srgbClr val="94A3B8"/>
                </a:solidFill>
              </a:defRPr>
            </a:lvl4pPr>
            <a:lvl5pPr>
              <a:defRPr sz="975" b="0">
                <a:solidFill>
                  <a:srgbClr val="94A3B8"/>
                </a:solidFill>
              </a:defRPr>
            </a:lvl5pPr>
            <a:lvl6pPr>
              <a:defRPr sz="975" b="0">
                <a:solidFill>
                  <a:srgbClr val="94A3B8"/>
                </a:solidFill>
              </a:defRPr>
            </a:lvl6pPr>
            <a:lvl7pPr>
              <a:defRPr sz="975" b="0">
                <a:solidFill>
                  <a:srgbClr val="94A3B8"/>
                </a:solidFill>
              </a:defRPr>
            </a:lvl7pPr>
            <a:lvl8pPr>
              <a:defRPr sz="975" b="0">
                <a:solidFill>
                  <a:srgbClr val="94A3B8"/>
                </a:solidFill>
              </a:defRPr>
            </a:lvl8pPr>
            <a:lvl9pPr>
              <a:defRPr sz="975" b="0">
                <a:solidFill>
                  <a:srgbClr val="94A3B8"/>
                </a:solidFill>
              </a:defRPr>
            </a:lvl9pPr>
          </a:lstStyle>
          <a:p xmlns:a="http://schemas.openxmlformats.org/drawingml/2006/main">
            <a:pPr>
              <a:defRPr sz="975" b="0">
                <a:solidFill>
                  <a:srgbClr val="94A3B8"/>
                </a:solidFill>
              </a:defRPr>
            </a:pPr>
            <a:r>
              <a:rPr sz="975" b="0">
                <a:solidFill>
                  <a:srgbClr val="94A3B8"/>
                </a:solidFill>
              </a:rPr>
              <a:t>per 2 blocks</a:t>
            </a:r>
          </a:p>
        </p:txBody>
      </p:sp>
      <p:sp>
        <p:nvSpPr>
          <p:cNvPr id="9" name="">
            <a:extLst xmlns:a="http://schemas.openxmlformats.org/drawingml/2006/main">
              <a:ext uri="{FF2B5EF4-FFF2-40B4-BE49-F238E27FC236}">
                <a16:creationId xmlns:a16="http://schemas.microsoft.com/office/drawing/2014/main" id="{23D449FE-4E31-4661-92A3-C67976616E34}"/>
              </a:ext>
            </a:extLst>
          </p:cNvPr>
          <p:cNvSpPr>
            <a:spLocks xmlns:a="http://schemas.openxmlformats.org/drawingml/2006/main" noGrp="1"/>
          </p:cNvSpPr>
          <p:nvPr/>
        </p:nvSpPr>
        <p:spPr>
          <a:xfrm xmlns:a="http://schemas.openxmlformats.org/drawingml/2006/main">
            <a:off x="5981700" y="1714500"/>
            <a:ext cx="2381250" cy="1143000"/>
          </a:xfrm>
          <a:prstGeom xmlns:a="http://schemas.openxmlformats.org/drawingml/2006/main" prst="roundRect">
            <a:avLst>
              <a:gd name="adj" fmla="val 10000"/>
            </a:avLst>
          </a:prstGeom>
          <a:solidFill xmlns:a="http://schemas.openxmlformats.org/drawingml/2006/main">
            <a:srgbClr val="111827"/>
          </a:solidFill>
          <a:ln xmlns:a="http://schemas.openxmlformats.org/drawingml/2006/main" w="9525">
            <a:solidFill>
              <a:srgbClr val="1F2937"/>
            </a:solidFill>
            <a:prstDash val="solid"/>
          </a:ln>
        </p:spPr>
      </p:sp>
      <p:sp>
        <p:nvSpPr>
          <p:cNvPr id="10" name="">
            <a:extLst xmlns:a="http://schemas.openxmlformats.org/drawingml/2006/main">
              <a:ext uri="{FF2B5EF4-FFF2-40B4-BE49-F238E27FC236}">
                <a16:creationId xmlns:a16="http://schemas.microsoft.com/office/drawing/2014/main" id="{DBE59F5F-79C2-4EC2-B47C-780E387AC90C}"/>
              </a:ext>
            </a:extLst>
          </p:cNvPr>
          <p:cNvSpPr>
            <a:spLocks xmlns:a="http://schemas.openxmlformats.org/drawingml/2006/main" noGrp="1"/>
          </p:cNvSpPr>
          <p:nvPr/>
        </p:nvSpPr>
        <p:spPr>
          <a:xfrm xmlns:a="http://schemas.openxmlformats.org/drawingml/2006/main">
            <a:off x="6172200" y="1943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AC18E"/>
                </a:solidFill>
              </a:defRPr>
            </a:defPPr>
            <a:lvl1pPr>
              <a:defRPr sz="1650" b="1">
                <a:solidFill>
                  <a:srgbClr val="0AC18E"/>
                </a:solidFill>
              </a:defRPr>
            </a:lvl1pPr>
            <a:lvl2pPr>
              <a:defRPr sz="1650" b="1">
                <a:solidFill>
                  <a:srgbClr val="0AC18E"/>
                </a:solidFill>
              </a:defRPr>
            </a:lvl2pPr>
            <a:lvl3pPr>
              <a:defRPr sz="1650" b="1">
                <a:solidFill>
                  <a:srgbClr val="0AC18E"/>
                </a:solidFill>
              </a:defRPr>
            </a:lvl3pPr>
            <a:lvl4pPr>
              <a:defRPr sz="1650" b="1">
                <a:solidFill>
                  <a:srgbClr val="0AC18E"/>
                </a:solidFill>
              </a:defRPr>
            </a:lvl4pPr>
            <a:lvl5pPr>
              <a:defRPr sz="1650" b="1">
                <a:solidFill>
                  <a:srgbClr val="0AC18E"/>
                </a:solidFill>
              </a:defRPr>
            </a:lvl5pPr>
            <a:lvl6pPr>
              <a:defRPr sz="1650" b="1">
                <a:solidFill>
                  <a:srgbClr val="0AC18E"/>
                </a:solidFill>
              </a:defRPr>
            </a:lvl6pPr>
            <a:lvl7pPr>
              <a:defRPr sz="1650" b="1">
                <a:solidFill>
                  <a:srgbClr val="0AC18E"/>
                </a:solidFill>
              </a:defRPr>
            </a:lvl7pPr>
            <a:lvl8pPr>
              <a:defRPr sz="1650" b="1">
                <a:solidFill>
                  <a:srgbClr val="0AC18E"/>
                </a:solidFill>
              </a:defRPr>
            </a:lvl8pPr>
            <a:lvl9pPr>
              <a:defRPr sz="1650" b="1">
                <a:solidFill>
                  <a:srgbClr val="0AC18E"/>
                </a:solidFill>
              </a:defRPr>
            </a:lvl9pPr>
          </a:lstStyle>
          <a:p xmlns:a="http://schemas.openxmlformats.org/drawingml/2006/main">
            <a:pPr>
              <a:defRPr sz="1650" b="1">
                <a:solidFill>
                  <a:srgbClr val="0AC18E"/>
                </a:solidFill>
              </a:defRPr>
            </a:pPr>
            <a:r>
              <a:rPr sz="1650" b="1">
                <a:solidFill>
                  <a:srgbClr val="0AC18E"/>
                </a:solidFill>
              </a:rPr>
              <a:t>0.01 PUSD</a:t>
            </a:r>
          </a:p>
        </p:txBody>
      </p:sp>
      <p:sp>
        <p:nvSpPr>
          <p:cNvPr id="11" name="">
            <a:extLst xmlns:a="http://schemas.openxmlformats.org/drawingml/2006/main">
              <a:ext uri="{FF2B5EF4-FFF2-40B4-BE49-F238E27FC236}">
                <a16:creationId xmlns:a16="http://schemas.microsoft.com/office/drawing/2014/main" id="{E7D5925E-3086-41A4-92ED-906E3DA1542E}"/>
              </a:ext>
            </a:extLst>
          </p:cNvPr>
          <p:cNvSpPr>
            <a:spLocks xmlns:a="http://schemas.openxmlformats.org/drawingml/2006/main" noGrp="1"/>
          </p:cNvSpPr>
          <p:nvPr/>
        </p:nvSpPr>
        <p:spPr>
          <a:xfrm xmlns:a="http://schemas.openxmlformats.org/drawingml/2006/main">
            <a:off x="6172200" y="2381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4A3B8"/>
                </a:solidFill>
              </a:defRPr>
            </a:defPPr>
            <a:lvl1pPr>
              <a:defRPr sz="975" b="0">
                <a:solidFill>
                  <a:srgbClr val="94A3B8"/>
                </a:solidFill>
              </a:defRPr>
            </a:lvl1pPr>
            <a:lvl2pPr>
              <a:defRPr sz="975" b="0">
                <a:solidFill>
                  <a:srgbClr val="94A3B8"/>
                </a:solidFill>
              </a:defRPr>
            </a:lvl2pPr>
            <a:lvl3pPr>
              <a:defRPr sz="975" b="0">
                <a:solidFill>
                  <a:srgbClr val="94A3B8"/>
                </a:solidFill>
              </a:defRPr>
            </a:lvl3pPr>
            <a:lvl4pPr>
              <a:defRPr sz="975" b="0">
                <a:solidFill>
                  <a:srgbClr val="94A3B8"/>
                </a:solidFill>
              </a:defRPr>
            </a:lvl4pPr>
            <a:lvl5pPr>
              <a:defRPr sz="975" b="0">
                <a:solidFill>
                  <a:srgbClr val="94A3B8"/>
                </a:solidFill>
              </a:defRPr>
            </a:lvl5pPr>
            <a:lvl6pPr>
              <a:defRPr sz="975" b="0">
                <a:solidFill>
                  <a:srgbClr val="94A3B8"/>
                </a:solidFill>
              </a:defRPr>
            </a:lvl6pPr>
            <a:lvl7pPr>
              <a:defRPr sz="975" b="0">
                <a:solidFill>
                  <a:srgbClr val="94A3B8"/>
                </a:solidFill>
              </a:defRPr>
            </a:lvl7pPr>
            <a:lvl8pPr>
              <a:defRPr sz="975" b="0">
                <a:solidFill>
                  <a:srgbClr val="94A3B8"/>
                </a:solidFill>
              </a:defRPr>
            </a:lvl8pPr>
            <a:lvl9pPr>
              <a:defRPr sz="975" b="0">
                <a:solidFill>
                  <a:srgbClr val="94A3B8"/>
                </a:solidFill>
              </a:defRPr>
            </a:lvl9pPr>
          </a:lstStyle>
          <a:p xmlns:a="http://schemas.openxmlformats.org/drawingml/2006/main">
            <a:pPr>
              <a:defRPr sz="975" b="0">
                <a:solidFill>
                  <a:srgbClr val="94A3B8"/>
                </a:solidFill>
              </a:defRPr>
            </a:pPr>
            <a:r>
              <a:rPr sz="975" b="0">
                <a:solidFill>
                  <a:srgbClr val="94A3B8"/>
                </a:solidFill>
              </a:rPr>
              <a:t>per service call</a:t>
            </a:r>
          </a:p>
        </p:txBody>
      </p:sp>
      <p:sp>
        <p:nvSpPr>
          <p:cNvPr id="12" name="">
            <a:extLst xmlns:a="http://schemas.openxmlformats.org/drawingml/2006/main">
              <a:ext uri="{FF2B5EF4-FFF2-40B4-BE49-F238E27FC236}">
                <a16:creationId xmlns:a16="http://schemas.microsoft.com/office/drawing/2014/main" id="{6E11F7E6-9663-496B-B367-EB26CEE00FAB}"/>
              </a:ext>
            </a:extLst>
          </p:cNvPr>
          <p:cNvSpPr>
            <a:spLocks xmlns:a="http://schemas.openxmlformats.org/drawingml/2006/main" noGrp="1"/>
          </p:cNvSpPr>
          <p:nvPr/>
        </p:nvSpPr>
        <p:spPr>
          <a:xfrm xmlns:a="http://schemas.openxmlformats.org/drawingml/2006/main">
            <a:off x="8629650" y="1714500"/>
            <a:ext cx="2381250" cy="1143000"/>
          </a:xfrm>
          <a:prstGeom xmlns:a="http://schemas.openxmlformats.org/drawingml/2006/main" prst="roundRect">
            <a:avLst>
              <a:gd name="adj" fmla="val 10000"/>
            </a:avLst>
          </a:prstGeom>
          <a:solidFill xmlns:a="http://schemas.openxmlformats.org/drawingml/2006/main">
            <a:srgbClr val="111827"/>
          </a:solidFill>
          <a:ln xmlns:a="http://schemas.openxmlformats.org/drawingml/2006/main" w="9525">
            <a:solidFill>
              <a:srgbClr val="1F2937"/>
            </a:solidFill>
            <a:prstDash val="solid"/>
          </a:ln>
        </p:spPr>
      </p:sp>
      <p:sp>
        <p:nvSpPr>
          <p:cNvPr id="13" name="">
            <a:extLst xmlns:a="http://schemas.openxmlformats.org/drawingml/2006/main">
              <a:ext uri="{FF2B5EF4-FFF2-40B4-BE49-F238E27FC236}">
                <a16:creationId xmlns:a16="http://schemas.microsoft.com/office/drawing/2014/main" id="{5F0EFC52-E8D2-4938-B3DB-3F6B14D6DAE6}"/>
              </a:ext>
            </a:extLst>
          </p:cNvPr>
          <p:cNvSpPr>
            <a:spLocks xmlns:a="http://schemas.openxmlformats.org/drawingml/2006/main" noGrp="1"/>
          </p:cNvSpPr>
          <p:nvPr/>
        </p:nvSpPr>
        <p:spPr>
          <a:xfrm xmlns:a="http://schemas.openxmlformats.org/drawingml/2006/main">
            <a:off x="8820150" y="1943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AC18E"/>
                </a:solidFill>
              </a:defRPr>
            </a:defPPr>
            <a:lvl1pPr>
              <a:defRPr sz="1650" b="1">
                <a:solidFill>
                  <a:srgbClr val="0AC18E"/>
                </a:solidFill>
              </a:defRPr>
            </a:lvl1pPr>
            <a:lvl2pPr>
              <a:defRPr sz="1650" b="1">
                <a:solidFill>
                  <a:srgbClr val="0AC18E"/>
                </a:solidFill>
              </a:defRPr>
            </a:lvl2pPr>
            <a:lvl3pPr>
              <a:defRPr sz="1650" b="1">
                <a:solidFill>
                  <a:srgbClr val="0AC18E"/>
                </a:solidFill>
              </a:defRPr>
            </a:lvl3pPr>
            <a:lvl4pPr>
              <a:defRPr sz="1650" b="1">
                <a:solidFill>
                  <a:srgbClr val="0AC18E"/>
                </a:solidFill>
              </a:defRPr>
            </a:lvl4pPr>
            <a:lvl5pPr>
              <a:defRPr sz="1650" b="1">
                <a:solidFill>
                  <a:srgbClr val="0AC18E"/>
                </a:solidFill>
              </a:defRPr>
            </a:lvl5pPr>
            <a:lvl6pPr>
              <a:defRPr sz="1650" b="1">
                <a:solidFill>
                  <a:srgbClr val="0AC18E"/>
                </a:solidFill>
              </a:defRPr>
            </a:lvl6pPr>
            <a:lvl7pPr>
              <a:defRPr sz="1650" b="1">
                <a:solidFill>
                  <a:srgbClr val="0AC18E"/>
                </a:solidFill>
              </a:defRPr>
            </a:lvl7pPr>
            <a:lvl8pPr>
              <a:defRPr sz="1650" b="1">
                <a:solidFill>
                  <a:srgbClr val="0AC18E"/>
                </a:solidFill>
              </a:defRPr>
            </a:lvl8pPr>
            <a:lvl9pPr>
              <a:defRPr sz="1650" b="1">
                <a:solidFill>
                  <a:srgbClr val="0AC18E"/>
                </a:solidFill>
              </a:defRPr>
            </a:lvl9pPr>
          </a:lstStyle>
          <a:p xmlns:a="http://schemas.openxmlformats.org/drawingml/2006/main">
            <a:pPr>
              <a:defRPr sz="1650" b="1">
                <a:solidFill>
                  <a:srgbClr val="0AC18E"/>
                </a:solidFill>
              </a:defRPr>
            </a:pPr>
            <a:r>
              <a:rPr sz="1650" b="1">
                <a:solidFill>
                  <a:srgbClr val="0AC18E"/>
                </a:solidFill>
              </a:rPr>
              <a:t>SV1:requestId</a:t>
            </a:r>
          </a:p>
        </p:txBody>
      </p:sp>
      <p:sp>
        <p:nvSpPr>
          <p:cNvPr id="14" name="">
            <a:extLst xmlns:a="http://schemas.openxmlformats.org/drawingml/2006/main">
              <a:ext uri="{FF2B5EF4-FFF2-40B4-BE49-F238E27FC236}">
                <a16:creationId xmlns:a16="http://schemas.microsoft.com/office/drawing/2014/main" id="{FBDD2089-488E-44F3-AAC1-17927F3DE481}"/>
              </a:ext>
            </a:extLst>
          </p:cNvPr>
          <p:cNvSpPr>
            <a:spLocks xmlns:a="http://schemas.openxmlformats.org/drawingml/2006/main" noGrp="1"/>
          </p:cNvSpPr>
          <p:nvPr/>
        </p:nvSpPr>
        <p:spPr>
          <a:xfrm xmlns:a="http://schemas.openxmlformats.org/drawingml/2006/main">
            <a:off x="8820150" y="2381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94A3B8"/>
                </a:solidFill>
              </a:defRPr>
            </a:defPPr>
            <a:lvl1pPr>
              <a:defRPr sz="975" b="0">
                <a:solidFill>
                  <a:srgbClr val="94A3B8"/>
                </a:solidFill>
              </a:defRPr>
            </a:lvl1pPr>
            <a:lvl2pPr>
              <a:defRPr sz="975" b="0">
                <a:solidFill>
                  <a:srgbClr val="94A3B8"/>
                </a:solidFill>
              </a:defRPr>
            </a:lvl2pPr>
            <a:lvl3pPr>
              <a:defRPr sz="975" b="0">
                <a:solidFill>
                  <a:srgbClr val="94A3B8"/>
                </a:solidFill>
              </a:defRPr>
            </a:lvl3pPr>
            <a:lvl4pPr>
              <a:defRPr sz="975" b="0">
                <a:solidFill>
                  <a:srgbClr val="94A3B8"/>
                </a:solidFill>
              </a:defRPr>
            </a:lvl4pPr>
            <a:lvl5pPr>
              <a:defRPr sz="975" b="0">
                <a:solidFill>
                  <a:srgbClr val="94A3B8"/>
                </a:solidFill>
              </a:defRPr>
            </a:lvl5pPr>
            <a:lvl6pPr>
              <a:defRPr sz="975" b="0">
                <a:solidFill>
                  <a:srgbClr val="94A3B8"/>
                </a:solidFill>
              </a:defRPr>
            </a:lvl6pPr>
            <a:lvl7pPr>
              <a:defRPr sz="975" b="0">
                <a:solidFill>
                  <a:srgbClr val="94A3B8"/>
                </a:solidFill>
              </a:defRPr>
            </a:lvl7pPr>
            <a:lvl8pPr>
              <a:defRPr sz="975" b="0">
                <a:solidFill>
                  <a:srgbClr val="94A3B8"/>
                </a:solidFill>
              </a:defRPr>
            </a:lvl8pPr>
            <a:lvl9pPr>
              <a:defRPr sz="975" b="0">
                <a:solidFill>
                  <a:srgbClr val="94A3B8"/>
                </a:solidFill>
              </a:defRPr>
            </a:lvl9pPr>
          </a:lstStyle>
          <a:p xmlns:a="http://schemas.openxmlformats.org/drawingml/2006/main">
            <a:pPr>
              <a:defRPr sz="975" b="0">
                <a:solidFill>
                  <a:srgbClr val="94A3B8"/>
                </a:solidFill>
              </a:defRPr>
            </a:pPr>
            <a:r>
              <a:rPr sz="975" b="0">
                <a:solidFill>
                  <a:srgbClr val="94A3B8"/>
                </a:solidFill>
              </a:rPr>
              <a:t>OP_RETURN binding</a:t>
            </a:r>
          </a:p>
        </p:txBody>
      </p:sp>
      <p:sp>
        <p:nvSpPr>
          <p:cNvPr id="15" name="">
            <a:extLst xmlns:a="http://schemas.openxmlformats.org/drawingml/2006/main">
              <a:ext uri="{FF2B5EF4-FFF2-40B4-BE49-F238E27FC236}">
                <a16:creationId xmlns:a16="http://schemas.microsoft.com/office/drawing/2014/main" id="{F9FCF696-B589-4390-8CD0-C0FD9391F985}"/>
              </a:ext>
            </a:extLst>
          </p:cNvPr>
          <p:cNvSpPr>
            <a:spLocks xmlns:a="http://schemas.openxmlformats.org/drawingml/2006/main" noGrp="1"/>
          </p:cNvSpPr>
          <p:nvPr/>
        </p:nvSpPr>
        <p:spPr>
          <a:xfrm xmlns:a="http://schemas.openxmlformats.org/drawingml/2006/main">
            <a:off x="685800" y="3238500"/>
            <a:ext cx="5048250" cy="2190750"/>
          </a:xfrm>
          <a:prstGeom xmlns:a="http://schemas.openxmlformats.org/drawingml/2006/main" prst="roundRect">
            <a:avLst>
              <a:gd name="adj" fmla="val 5217"/>
            </a:avLst>
          </a:prstGeom>
          <a:solidFill xmlns:a="http://schemas.openxmlformats.org/drawingml/2006/main">
            <a:srgbClr val="111827"/>
          </a:solidFill>
          <a:ln xmlns:a="http://schemas.openxmlformats.org/drawingml/2006/main" w="9525">
            <a:solidFill>
              <a:srgbClr val="1F2937"/>
            </a:solidFill>
            <a:prstDash val="solid"/>
          </a:ln>
        </p:spPr>
      </p:sp>
      <p:sp>
        <p:nvSpPr>
          <p:cNvPr id="16" name="">
            <a:extLst xmlns:a="http://schemas.openxmlformats.org/drawingml/2006/main">
              <a:ext uri="{FF2B5EF4-FFF2-40B4-BE49-F238E27FC236}">
                <a16:creationId xmlns:a16="http://schemas.microsoft.com/office/drawing/2014/main" id="{406FE69C-E3E0-4C3C-91DC-370E2AF26ED5}"/>
              </a:ext>
            </a:extLst>
          </p:cNvPr>
          <p:cNvSpPr>
            <a:spLocks xmlns:a="http://schemas.openxmlformats.org/drawingml/2006/main" noGrp="1"/>
          </p:cNvSpPr>
          <p:nvPr/>
        </p:nvSpPr>
        <p:spPr>
          <a:xfrm xmlns:a="http://schemas.openxmlformats.org/drawingml/2006/main">
            <a:off x="914400" y="34671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818CF8"/>
                </a:solidFill>
              </a:defRPr>
            </a:defPPr>
            <a:lvl1pPr>
              <a:defRPr sz="1500" b="1">
                <a:solidFill>
                  <a:srgbClr val="818CF8"/>
                </a:solidFill>
              </a:defRPr>
            </a:lvl1pPr>
            <a:lvl2pPr>
              <a:defRPr sz="1500" b="1">
                <a:solidFill>
                  <a:srgbClr val="818CF8"/>
                </a:solidFill>
              </a:defRPr>
            </a:lvl2pPr>
            <a:lvl3pPr>
              <a:defRPr sz="1500" b="1">
                <a:solidFill>
                  <a:srgbClr val="818CF8"/>
                </a:solidFill>
              </a:defRPr>
            </a:lvl3pPr>
            <a:lvl4pPr>
              <a:defRPr sz="1500" b="1">
                <a:solidFill>
                  <a:srgbClr val="818CF8"/>
                </a:solidFill>
              </a:defRPr>
            </a:lvl4pPr>
            <a:lvl5pPr>
              <a:defRPr sz="1500" b="1">
                <a:solidFill>
                  <a:srgbClr val="818CF8"/>
                </a:solidFill>
              </a:defRPr>
            </a:lvl5pPr>
            <a:lvl6pPr>
              <a:defRPr sz="1500" b="1">
                <a:solidFill>
                  <a:srgbClr val="818CF8"/>
                </a:solidFill>
              </a:defRPr>
            </a:lvl6pPr>
            <a:lvl7pPr>
              <a:defRPr sz="1500" b="1">
                <a:solidFill>
                  <a:srgbClr val="818CF8"/>
                </a:solidFill>
              </a:defRPr>
            </a:lvl7pPr>
            <a:lvl8pPr>
              <a:defRPr sz="1500" b="1">
                <a:solidFill>
                  <a:srgbClr val="818CF8"/>
                </a:solidFill>
              </a:defRPr>
            </a:lvl8pPr>
            <a:lvl9pPr>
              <a:defRPr sz="1500" b="1">
                <a:solidFill>
                  <a:srgbClr val="818CF8"/>
                </a:solidFill>
              </a:defRPr>
            </a:lvl9pPr>
          </a:lstStyle>
          <a:p xmlns:a="http://schemas.openxmlformats.org/drawingml/2006/main">
            <a:pPr>
              <a:defRPr sz="1500" b="1">
                <a:solidFill>
                  <a:srgbClr val="818CF8"/>
                </a:solidFill>
              </a:defRPr>
            </a:pPr>
            <a:r>
              <a:rPr sz="1500" b="1">
                <a:solidFill>
                  <a:srgbClr val="818CF8"/>
                </a:solidFill>
              </a:rPr>
              <a:t>How it works</a:t>
            </a:r>
          </a:p>
        </p:txBody>
      </p:sp>
      <p:sp>
        <p:nvSpPr>
          <p:cNvPr id="17" name="">
            <a:extLst xmlns:a="http://schemas.openxmlformats.org/drawingml/2006/main">
              <a:ext uri="{FF2B5EF4-FFF2-40B4-BE49-F238E27FC236}">
                <a16:creationId xmlns:a16="http://schemas.microsoft.com/office/drawing/2014/main" id="{9D159F03-B1CF-4477-A30D-94BD338AFD34}"/>
              </a:ext>
            </a:extLst>
          </p:cNvPr>
          <p:cNvSpPr>
            <a:spLocks xmlns:a="http://schemas.openxmlformats.org/drawingml/2006/main" noGrp="1"/>
          </p:cNvSpPr>
          <p:nvPr/>
        </p:nvSpPr>
        <p:spPr>
          <a:xfrm xmlns:a="http://schemas.openxmlformats.org/drawingml/2006/main">
            <a:off x="914400" y="3867150"/>
            <a:ext cx="4572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Agent claims a tranche. It pays the service 0.01 PUSD with a request id. The service verifies amount, destination, category and OP_RETURN. When the tranche is spent, the next request says: this period's budget is used up.</a:t>
            </a:r>
          </a:p>
        </p:txBody>
      </p:sp>
      <p:sp>
        <p:nvSpPr>
          <p:cNvPr id="18" name="">
            <a:extLst xmlns:a="http://schemas.openxmlformats.org/drawingml/2006/main">
              <a:ext uri="{FF2B5EF4-FFF2-40B4-BE49-F238E27FC236}">
                <a16:creationId xmlns:a16="http://schemas.microsoft.com/office/drawing/2014/main" id="{CEE30E2C-00A6-4534-824B-B4CAC2BD3EB3}"/>
              </a:ext>
            </a:extLst>
          </p:cNvPr>
          <p:cNvSpPr>
            <a:spLocks xmlns:a="http://schemas.openxmlformats.org/drawingml/2006/main" noGrp="1"/>
          </p:cNvSpPr>
          <p:nvPr/>
        </p:nvSpPr>
        <p:spPr>
          <a:xfrm xmlns:a="http://schemas.openxmlformats.org/drawingml/2006/main">
            <a:off x="6667500" y="3238500"/>
            <a:ext cx="4838700" cy="2190750"/>
          </a:xfrm>
          <a:prstGeom xmlns:a="http://schemas.openxmlformats.org/drawingml/2006/main" prst="roundRect">
            <a:avLst>
              <a:gd name="adj" fmla="val 5217"/>
            </a:avLst>
          </a:prstGeom>
          <a:solidFill xmlns:a="http://schemas.openxmlformats.org/drawingml/2006/main">
            <a:srgbClr val="111827"/>
          </a:solidFill>
          <a:ln xmlns:a="http://schemas.openxmlformats.org/drawingml/2006/main" w="9525">
            <a:solidFill>
              <a:srgbClr val="1F2937"/>
            </a:solidFill>
            <a:prstDash val="solid"/>
          </a:ln>
        </p:spPr>
      </p:sp>
      <p:sp>
        <p:nvSpPr>
          <p:cNvPr id="19" name="">
            <a:extLst xmlns:a="http://schemas.openxmlformats.org/drawingml/2006/main">
              <a:ext uri="{FF2B5EF4-FFF2-40B4-BE49-F238E27FC236}">
                <a16:creationId xmlns:a16="http://schemas.microsoft.com/office/drawing/2014/main" id="{5B0ADDCA-5779-415D-9B86-96E8FF00EB96}"/>
              </a:ext>
            </a:extLst>
          </p:cNvPr>
          <p:cNvSpPr>
            <a:spLocks xmlns:a="http://schemas.openxmlformats.org/drawingml/2006/main" noGrp="1"/>
          </p:cNvSpPr>
          <p:nvPr/>
        </p:nvSpPr>
        <p:spPr>
          <a:xfrm xmlns:a="http://schemas.openxmlformats.org/drawingml/2006/main">
            <a:off x="6896100" y="34671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BBF24"/>
                </a:solidFill>
              </a:defRPr>
            </a:defPPr>
            <a:lvl1pPr>
              <a:defRPr sz="1500" b="1">
                <a:solidFill>
                  <a:srgbClr val="FBBF24"/>
                </a:solidFill>
              </a:defRPr>
            </a:lvl1pPr>
            <a:lvl2pPr>
              <a:defRPr sz="1500" b="1">
                <a:solidFill>
                  <a:srgbClr val="FBBF24"/>
                </a:solidFill>
              </a:defRPr>
            </a:lvl2pPr>
            <a:lvl3pPr>
              <a:defRPr sz="1500" b="1">
                <a:solidFill>
                  <a:srgbClr val="FBBF24"/>
                </a:solidFill>
              </a:defRPr>
            </a:lvl3pPr>
            <a:lvl4pPr>
              <a:defRPr sz="1500" b="1">
                <a:solidFill>
                  <a:srgbClr val="FBBF24"/>
                </a:solidFill>
              </a:defRPr>
            </a:lvl4pPr>
            <a:lvl5pPr>
              <a:defRPr sz="1500" b="1">
                <a:solidFill>
                  <a:srgbClr val="FBBF24"/>
                </a:solidFill>
              </a:defRPr>
            </a:lvl5pPr>
            <a:lvl6pPr>
              <a:defRPr sz="1500" b="1">
                <a:solidFill>
                  <a:srgbClr val="FBBF24"/>
                </a:solidFill>
              </a:defRPr>
            </a:lvl6pPr>
            <a:lvl7pPr>
              <a:defRPr sz="1500" b="1">
                <a:solidFill>
                  <a:srgbClr val="FBBF24"/>
                </a:solidFill>
              </a:defRPr>
            </a:lvl7pPr>
            <a:lvl8pPr>
              <a:defRPr sz="1500" b="1">
                <a:solidFill>
                  <a:srgbClr val="FBBF24"/>
                </a:solidFill>
              </a:defRPr>
            </a:lvl8pPr>
            <a:lvl9pPr>
              <a:defRPr sz="1500" b="1">
                <a:solidFill>
                  <a:srgbClr val="FBBF24"/>
                </a:solidFill>
              </a:defRPr>
            </a:lvl9pPr>
          </a:lstStyle>
          <a:p xmlns:a="http://schemas.openxmlformats.org/drawingml/2006/main">
            <a:pPr>
              <a:defRPr sz="1500" b="1">
                <a:solidFill>
                  <a:srgbClr val="FBBF24"/>
                </a:solidFill>
              </a:defRPr>
            </a:pPr>
            <a:r>
              <a:rPr sz="1500" b="1">
                <a:solidFill>
                  <a:srgbClr val="FBBF24"/>
                </a:solidFill>
              </a:rPr>
              <a:t>Who pays</a:t>
            </a:r>
          </a:p>
        </p:txBody>
      </p:sp>
      <p:sp>
        <p:nvSpPr>
          <p:cNvPr id="20" name="">
            <a:extLst xmlns:a="http://schemas.openxmlformats.org/drawingml/2006/main">
              <a:ext uri="{FF2B5EF4-FFF2-40B4-BE49-F238E27FC236}">
                <a16:creationId xmlns:a16="http://schemas.microsoft.com/office/drawing/2014/main" id="{2EA5E3DB-5CC7-47F9-8621-47F4A961C079}"/>
              </a:ext>
            </a:extLst>
          </p:cNvPr>
          <p:cNvSpPr>
            <a:spLocks xmlns:a="http://schemas.openxmlformats.org/drawingml/2006/main" noGrp="1"/>
          </p:cNvSpPr>
          <p:nvPr/>
        </p:nvSpPr>
        <p:spPr>
          <a:xfrm xmlns:a="http://schemas.openxmlformats.org/drawingml/2006/main">
            <a:off x="6896100" y="3867150"/>
            <a:ext cx="4381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94A3B8"/>
                </a:solidFill>
              </a:defRPr>
            </a:defPPr>
            <a:lvl1pPr>
              <a:defRPr sz="1125" b="0">
                <a:solidFill>
                  <a:srgbClr val="94A3B8"/>
                </a:solidFill>
              </a:defRPr>
            </a:lvl1pPr>
            <a:lvl2pPr>
              <a:defRPr sz="1125" b="0">
                <a:solidFill>
                  <a:srgbClr val="94A3B8"/>
                </a:solidFill>
              </a:defRPr>
            </a:lvl2pPr>
            <a:lvl3pPr>
              <a:defRPr sz="1125" b="0">
                <a:solidFill>
                  <a:srgbClr val="94A3B8"/>
                </a:solidFill>
              </a:defRPr>
            </a:lvl3pPr>
            <a:lvl4pPr>
              <a:defRPr sz="1125" b="0">
                <a:solidFill>
                  <a:srgbClr val="94A3B8"/>
                </a:solidFill>
              </a:defRPr>
            </a:lvl4pPr>
            <a:lvl5pPr>
              <a:defRPr sz="1125" b="0">
                <a:solidFill>
                  <a:srgbClr val="94A3B8"/>
                </a:solidFill>
              </a:defRPr>
            </a:lvl5pPr>
            <a:lvl6pPr>
              <a:defRPr sz="1125" b="0">
                <a:solidFill>
                  <a:srgbClr val="94A3B8"/>
                </a:solidFill>
              </a:defRPr>
            </a:lvl6pPr>
            <a:lvl7pPr>
              <a:defRPr sz="1125" b="0">
                <a:solidFill>
                  <a:srgbClr val="94A3B8"/>
                </a:solidFill>
              </a:defRPr>
            </a:lvl7pPr>
            <a:lvl8pPr>
              <a:defRPr sz="1125" b="0">
                <a:solidFill>
                  <a:srgbClr val="94A3B8"/>
                </a:solidFill>
              </a:defRPr>
            </a:lvl8pPr>
            <a:lvl9pPr>
              <a:defRPr sz="1125" b="0">
                <a:solidFill>
                  <a:srgbClr val="94A3B8"/>
                </a:solidFill>
              </a:defRPr>
            </a:lvl9pPr>
          </a:lstStyle>
          <a:p xmlns:a="http://schemas.openxmlformats.org/drawingml/2006/main">
            <a:pPr>
              <a:defRPr sz="1125" b="0">
                <a:solidFill>
                  <a:srgbClr val="94A3B8"/>
                </a:solidFill>
              </a:defRPr>
            </a:pPr>
            <a:r>
              <a:rPr sz="1125" b="0">
                <a:solidFill>
                  <a:srgbClr val="94A3B8"/>
                </a:solidFill>
              </a:rPr>
              <a:t>Teams buying agent budgets and service access. Service providers paying for a verified request gateway. Employers and studios running PUSD payroll streams. Revenue: hosted console, SDK and billing gateway - no protocol fee.</a:t>
            </a:r>
          </a:p>
        </p:txBody>
      </p:sp>
    </p:spTree>
    <p:extLst>
      <p:ext uri="{BB962C8B-B14F-4D97-AF65-F5344CB8AC3E}">
        <p14:creationId xmlns:p14="http://schemas.microsoft.com/office/powerpoint/2010/main" val="1520600393"/>
      </p:ext>
    </p:extLst>
  </p:cSld>
</p:sld>
</file>

<file path=ppt/slides/slide7.xml><?xml version="1.0" encoding="utf-8"?>
<p:sld xmlns:p="http://schemas.openxmlformats.org/presentationml/2006/main">
  <p:cSld>
    <p:bg>
      <p:bgPr>
        <a:solidFill xmlns:a="http://schemas.openxmlformats.org/drawingml/2006/main">
          <a:srgbClr val="0A0F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C9414A-C873-4819-A71B-D4B069B90310}"/>
              </a:ext>
            </a:extLst>
          </p:cNvPr>
          <p:cNvSpPr>
            <a:spLocks xmlns:a="http://schemas.openxmlformats.org/drawingml/2006/main" noGrp="1"/>
          </p:cNvSpPr>
          <p:nvPr/>
        </p:nvSpPr>
        <p:spPr>
          <a:xfrm xmlns:a="http://schemas.openxmlformats.org/drawingml/2006/main">
            <a:off x="685800" y="495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0AC18E"/>
                </a:solidFill>
              </a:defRPr>
            </a:defPPr>
            <a:lvl1pPr>
              <a:defRPr sz="975" b="1">
                <a:solidFill>
                  <a:srgbClr val="0AC18E"/>
                </a:solidFill>
              </a:defRPr>
            </a:lvl1pPr>
            <a:lvl2pPr>
              <a:defRPr sz="975" b="1">
                <a:solidFill>
                  <a:srgbClr val="0AC18E"/>
                </a:solidFill>
              </a:defRPr>
            </a:lvl2pPr>
            <a:lvl3pPr>
              <a:defRPr sz="975" b="1">
                <a:solidFill>
                  <a:srgbClr val="0AC18E"/>
                </a:solidFill>
              </a:defRPr>
            </a:lvl3pPr>
            <a:lvl4pPr>
              <a:defRPr sz="975" b="1">
                <a:solidFill>
                  <a:srgbClr val="0AC18E"/>
                </a:solidFill>
              </a:defRPr>
            </a:lvl4pPr>
            <a:lvl5pPr>
              <a:defRPr sz="975" b="1">
                <a:solidFill>
                  <a:srgbClr val="0AC18E"/>
                </a:solidFill>
              </a:defRPr>
            </a:lvl5pPr>
            <a:lvl6pPr>
              <a:defRPr sz="975" b="1">
                <a:solidFill>
                  <a:srgbClr val="0AC18E"/>
                </a:solidFill>
              </a:defRPr>
            </a:lvl6pPr>
            <a:lvl7pPr>
              <a:defRPr sz="975" b="1">
                <a:solidFill>
                  <a:srgbClr val="0AC18E"/>
                </a:solidFill>
              </a:defRPr>
            </a:lvl7pPr>
            <a:lvl8pPr>
              <a:defRPr sz="975" b="1">
                <a:solidFill>
                  <a:srgbClr val="0AC18E"/>
                </a:solidFill>
              </a:defRPr>
            </a:lvl8pPr>
            <a:lvl9pPr>
              <a:defRPr sz="975" b="1">
                <a:solidFill>
                  <a:srgbClr val="0AC18E"/>
                </a:solidFill>
              </a:defRPr>
            </a:lvl9pPr>
          </a:lstStyle>
          <a:p xmlns:a="http://schemas.openxmlformats.org/drawingml/2006/main">
            <a:pPr>
              <a:defRPr sz="975" b="1">
                <a:solidFill>
                  <a:srgbClr val="0AC18E"/>
                </a:solidFill>
              </a:defRPr>
            </a:pPr>
            <a:r>
              <a:rPr sz="975" b="1">
                <a:solidFill>
                  <a:srgbClr val="0AC18E"/>
                </a:solidFill>
              </a:rPr>
              <a:t>THANK YOU</a:t>
            </a:r>
          </a:p>
        </p:txBody>
      </p:sp>
      <p:sp>
        <p:nvSpPr>
          <p:cNvPr id="2" name="">
            <a:extLst xmlns:a="http://schemas.openxmlformats.org/drawingml/2006/main">
              <a:ext uri="{FF2B5EF4-FFF2-40B4-BE49-F238E27FC236}">
                <a16:creationId xmlns:a16="http://schemas.microsoft.com/office/drawing/2014/main" id="{6BD5BFDE-6114-42B5-A08E-BCD45AD094FA}"/>
              </a:ext>
            </a:extLst>
          </p:cNvPr>
          <p:cNvSpPr>
            <a:spLocks xmlns:a="http://schemas.openxmlformats.org/drawingml/2006/main" noGrp="1"/>
          </p:cNvSpPr>
          <p:nvPr/>
        </p:nvSpPr>
        <p:spPr>
          <a:xfrm xmlns:a="http://schemas.openxmlformats.org/drawingml/2006/main">
            <a:off x="685800" y="1619250"/>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F1F5F9"/>
                </a:solidFill>
              </a:defRPr>
            </a:defPPr>
            <a:lvl1pPr>
              <a:defRPr sz="3900" b="1">
                <a:solidFill>
                  <a:srgbClr val="F1F5F9"/>
                </a:solidFill>
              </a:defRPr>
            </a:lvl1pPr>
            <a:lvl2pPr>
              <a:defRPr sz="3900" b="1">
                <a:solidFill>
                  <a:srgbClr val="F1F5F9"/>
                </a:solidFill>
              </a:defRPr>
            </a:lvl2pPr>
            <a:lvl3pPr>
              <a:defRPr sz="3900" b="1">
                <a:solidFill>
                  <a:srgbClr val="F1F5F9"/>
                </a:solidFill>
              </a:defRPr>
            </a:lvl3pPr>
            <a:lvl4pPr>
              <a:defRPr sz="3900" b="1">
                <a:solidFill>
                  <a:srgbClr val="F1F5F9"/>
                </a:solidFill>
              </a:defRPr>
            </a:lvl4pPr>
            <a:lvl5pPr>
              <a:defRPr sz="3900" b="1">
                <a:solidFill>
                  <a:srgbClr val="F1F5F9"/>
                </a:solidFill>
              </a:defRPr>
            </a:lvl5pPr>
            <a:lvl6pPr>
              <a:defRPr sz="3900" b="1">
                <a:solidFill>
                  <a:srgbClr val="F1F5F9"/>
                </a:solidFill>
              </a:defRPr>
            </a:lvl6pPr>
            <a:lvl7pPr>
              <a:defRPr sz="3900" b="1">
                <a:solidFill>
                  <a:srgbClr val="F1F5F9"/>
                </a:solidFill>
              </a:defRPr>
            </a:lvl7pPr>
            <a:lvl8pPr>
              <a:defRPr sz="3900" b="1">
                <a:solidFill>
                  <a:srgbClr val="F1F5F9"/>
                </a:solidFill>
              </a:defRPr>
            </a:lvl8pPr>
            <a:lvl9pPr>
              <a:defRPr sz="3900" b="1">
                <a:solidFill>
                  <a:srgbClr val="F1F5F9"/>
                </a:solidFill>
              </a:defRPr>
            </a:lvl9pPr>
          </a:lstStyle>
          <a:p xmlns:a="http://schemas.openxmlformats.org/drawingml/2006/main">
            <a:pPr>
              <a:defRPr sz="3900" b="1">
                <a:solidFill>
                  <a:srgbClr val="F1F5F9"/>
                </a:solidFill>
              </a:defRPr>
            </a:pPr>
            <a:r>
              <a:rPr sz="3900" b="1">
                <a:solidFill>
                  <a:srgbClr val="F1F5F9"/>
                </a:solidFill>
              </a:rPr>
              <a:t>Try the agent demo</a:t>
            </a:r>
          </a:p>
        </p:txBody>
      </p:sp>
      <p:sp>
        <p:nvSpPr>
          <p:cNvPr id="3" name="">
            <a:extLst xmlns:a="http://schemas.openxmlformats.org/drawingml/2006/main">
              <a:ext uri="{FF2B5EF4-FFF2-40B4-BE49-F238E27FC236}">
                <a16:creationId xmlns:a16="http://schemas.microsoft.com/office/drawing/2014/main" id="{842A7BCE-016B-4205-AD88-DAE795D55D98}"/>
              </a:ext>
            </a:extLst>
          </p:cNvPr>
          <p:cNvSpPr>
            <a:spLocks xmlns:a="http://schemas.openxmlformats.org/drawingml/2006/main" noGrp="1"/>
          </p:cNvSpPr>
          <p:nvPr/>
        </p:nvSpPr>
        <p:spPr>
          <a:xfrm xmlns:a="http://schemas.openxmlformats.org/drawingml/2006/main">
            <a:off x="685800" y="26670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AC18E"/>
                </a:solidFill>
              </a:defRPr>
            </a:defPPr>
            <a:lvl1pPr>
              <a:defRPr sz="1800" b="1">
                <a:solidFill>
                  <a:srgbClr val="0AC18E"/>
                </a:solidFill>
              </a:defRPr>
            </a:lvl1pPr>
            <a:lvl2pPr>
              <a:defRPr sz="1800" b="1">
                <a:solidFill>
                  <a:srgbClr val="0AC18E"/>
                </a:solidFill>
              </a:defRPr>
            </a:lvl2pPr>
            <a:lvl3pPr>
              <a:defRPr sz="1800" b="1">
                <a:solidFill>
                  <a:srgbClr val="0AC18E"/>
                </a:solidFill>
              </a:defRPr>
            </a:lvl3pPr>
            <a:lvl4pPr>
              <a:defRPr sz="1800" b="1">
                <a:solidFill>
                  <a:srgbClr val="0AC18E"/>
                </a:solidFill>
              </a:defRPr>
            </a:lvl4pPr>
            <a:lvl5pPr>
              <a:defRPr sz="1800" b="1">
                <a:solidFill>
                  <a:srgbClr val="0AC18E"/>
                </a:solidFill>
              </a:defRPr>
            </a:lvl5pPr>
            <a:lvl6pPr>
              <a:defRPr sz="1800" b="1">
                <a:solidFill>
                  <a:srgbClr val="0AC18E"/>
                </a:solidFill>
              </a:defRPr>
            </a:lvl6pPr>
            <a:lvl7pPr>
              <a:defRPr sz="1800" b="1">
                <a:solidFill>
                  <a:srgbClr val="0AC18E"/>
                </a:solidFill>
              </a:defRPr>
            </a:lvl7pPr>
            <a:lvl8pPr>
              <a:defRPr sz="1800" b="1">
                <a:solidFill>
                  <a:srgbClr val="0AC18E"/>
                </a:solidFill>
              </a:defRPr>
            </a:lvl8pPr>
            <a:lvl9pPr>
              <a:defRPr sz="1800" b="1">
                <a:solidFill>
                  <a:srgbClr val="0AC18E"/>
                </a:solidFill>
              </a:defRPr>
            </a:lvl9pPr>
          </a:lstStyle>
          <a:p xmlns:a="http://schemas.openxmlformats.org/drawingml/2006/main">
            <a:pPr>
              <a:defRPr sz="1800" b="1">
                <a:solidFill>
                  <a:srgbClr val="0AC18E"/>
                </a:solidFill>
              </a:defRPr>
            </a:pPr>
            <a:r>
              <a:rPr sz="1800" b="1">
                <a:solidFill>
                  <a:srgbClr val="0AC18E"/>
                </a:solidFill>
              </a:rPr>
              <a:t>streamvault-cash.vercel.app</a:t>
            </a:r>
          </a:p>
        </p:txBody>
      </p:sp>
      <p:sp>
        <p:nvSpPr>
          <p:cNvPr id="4" name="">
            <a:extLst xmlns:a="http://schemas.openxmlformats.org/drawingml/2006/main">
              <a:ext uri="{FF2B5EF4-FFF2-40B4-BE49-F238E27FC236}">
                <a16:creationId xmlns:a16="http://schemas.microsoft.com/office/drawing/2014/main" id="{9D0165C8-E264-4582-B995-5ADA78634CAC}"/>
              </a:ext>
            </a:extLst>
          </p:cNvPr>
          <p:cNvSpPr>
            <a:spLocks xmlns:a="http://schemas.openxmlformats.org/drawingml/2006/main" noGrp="1"/>
          </p:cNvSpPr>
          <p:nvPr/>
        </p:nvSpPr>
        <p:spPr>
          <a:xfrm xmlns:a="http://schemas.openxmlformats.org/drawingml/2006/main">
            <a:off x="685800" y="3429000"/>
            <a:ext cx="10477500" cy="1619250"/>
          </a:xfrm>
          <a:prstGeom xmlns:a="http://schemas.openxmlformats.org/drawingml/2006/main" prst="roundRect">
            <a:avLst>
              <a:gd name="adj" fmla="val 7059"/>
            </a:avLst>
          </a:prstGeom>
          <a:solidFill xmlns:a="http://schemas.openxmlformats.org/drawingml/2006/main">
            <a:srgbClr val="111827"/>
          </a:solidFill>
          <a:ln xmlns:a="http://schemas.openxmlformats.org/drawingml/2006/main" w="9525">
            <a:solidFill>
              <a:srgbClr val="1F2937"/>
            </a:solidFill>
            <a:prstDash val="solid"/>
          </a:ln>
        </p:spPr>
      </p:sp>
      <p:sp>
        <p:nvSpPr>
          <p:cNvPr id="5" name="">
            <a:extLst xmlns:a="http://schemas.openxmlformats.org/drawingml/2006/main">
              <a:ext uri="{FF2B5EF4-FFF2-40B4-BE49-F238E27FC236}">
                <a16:creationId xmlns:a16="http://schemas.microsoft.com/office/drawing/2014/main" id="{A451A0B6-2949-4983-8679-0EE16980FC10}"/>
              </a:ext>
            </a:extLst>
          </p:cNvPr>
          <p:cNvSpPr>
            <a:spLocks xmlns:a="http://schemas.openxmlformats.org/drawingml/2006/main" noGrp="1"/>
          </p:cNvSpPr>
          <p:nvPr/>
        </p:nvSpPr>
        <p:spPr>
          <a:xfrm xmlns:a="http://schemas.openxmlformats.org/drawingml/2006/main">
            <a:off x="952500" y="3657600"/>
            <a:ext cx="9944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1F5F9"/>
                </a:solidFill>
              </a:defRPr>
            </a:defPPr>
            <a:lvl1pPr>
              <a:defRPr sz="1350" b="1">
                <a:solidFill>
                  <a:srgbClr val="F1F5F9"/>
                </a:solidFill>
              </a:defRPr>
            </a:lvl1pPr>
            <a:lvl2pPr>
              <a:defRPr sz="1350" b="1">
                <a:solidFill>
                  <a:srgbClr val="F1F5F9"/>
                </a:solidFill>
              </a:defRPr>
            </a:lvl2pPr>
            <a:lvl3pPr>
              <a:defRPr sz="1350" b="1">
                <a:solidFill>
                  <a:srgbClr val="F1F5F9"/>
                </a:solidFill>
              </a:defRPr>
            </a:lvl3pPr>
            <a:lvl4pPr>
              <a:defRPr sz="1350" b="1">
                <a:solidFill>
                  <a:srgbClr val="F1F5F9"/>
                </a:solidFill>
              </a:defRPr>
            </a:lvl4pPr>
            <a:lvl5pPr>
              <a:defRPr sz="1350" b="1">
                <a:solidFill>
                  <a:srgbClr val="F1F5F9"/>
                </a:solidFill>
              </a:defRPr>
            </a:lvl5pPr>
            <a:lvl6pPr>
              <a:defRPr sz="1350" b="1">
                <a:solidFill>
                  <a:srgbClr val="F1F5F9"/>
                </a:solidFill>
              </a:defRPr>
            </a:lvl6pPr>
            <a:lvl7pPr>
              <a:defRPr sz="1350" b="1">
                <a:solidFill>
                  <a:srgbClr val="F1F5F9"/>
                </a:solidFill>
              </a:defRPr>
            </a:lvl7pPr>
            <a:lvl8pPr>
              <a:defRPr sz="1350" b="1">
                <a:solidFill>
                  <a:srgbClr val="F1F5F9"/>
                </a:solidFill>
              </a:defRPr>
            </a:lvl8pPr>
            <a:lvl9pPr>
              <a:defRPr sz="1350" b="1">
                <a:solidFill>
                  <a:srgbClr val="F1F5F9"/>
                </a:solidFill>
              </a:defRPr>
            </a:lvl9pPr>
          </a:lstStyle>
          <a:p xmlns:a="http://schemas.openxmlformats.org/drawingml/2006/main">
            <a:pPr>
              <a:defRPr sz="1350" b="1">
                <a:solidFill>
                  <a:srgbClr val="F1F5F9"/>
                </a:solidFill>
              </a:defRPr>
            </a:pPr>
            <a:r>
              <a:rPr sz="1350" b="1">
                <a:solidFill>
                  <a:srgbClr val="F1F5F9"/>
                </a:solidFill>
              </a:rPr>
              <a:t>Judge walkthrough - one click, no wallet</a:t>
            </a:r>
          </a:p>
        </p:txBody>
      </p:sp>
      <p:sp>
        <p:nvSpPr>
          <p:cNvPr id="6" name="">
            <a:extLst xmlns:a="http://schemas.openxmlformats.org/drawingml/2006/main">
              <a:ext uri="{FF2B5EF4-FFF2-40B4-BE49-F238E27FC236}">
                <a16:creationId xmlns:a16="http://schemas.microsoft.com/office/drawing/2014/main" id="{4347DD06-AE2C-43FF-8583-F97054DFCBC5}"/>
              </a:ext>
            </a:extLst>
          </p:cNvPr>
          <p:cNvSpPr>
            <a:spLocks xmlns:a="http://schemas.openxmlformats.org/drawingml/2006/main" noGrp="1"/>
          </p:cNvSpPr>
          <p:nvPr/>
        </p:nvSpPr>
        <p:spPr>
          <a:xfrm xmlns:a="http://schemas.openxmlformats.org/drawingml/2006/main">
            <a:off x="952500" y="4038600"/>
            <a:ext cx="9944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Launch agent budget  →  run paid request  →  run until budget exhausted  →  cancel and reclaim.</a:t>
            </a:r>
          </a:p>
        </p:txBody>
      </p:sp>
      <p:sp>
        <p:nvSpPr>
          <p:cNvPr id="7" name="">
            <a:extLst xmlns:a="http://schemas.openxmlformats.org/drawingml/2006/main">
              <a:ext uri="{FF2B5EF4-FFF2-40B4-BE49-F238E27FC236}">
                <a16:creationId xmlns:a16="http://schemas.microsoft.com/office/drawing/2014/main" id="{81C15022-B66C-4113-A6EB-0CD24C7DC7CC}"/>
              </a:ext>
            </a:extLst>
          </p:cNvPr>
          <p:cNvSpPr>
            <a:spLocks xmlns:a="http://schemas.openxmlformats.org/drawingml/2006/main" noGrp="1"/>
          </p:cNvSpPr>
          <p:nvPr/>
        </p:nvSpPr>
        <p:spPr>
          <a:xfrm xmlns:a="http://schemas.openxmlformats.org/drawingml/2006/main">
            <a:off x="685800" y="5619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94A3B8"/>
                </a:solidFill>
              </a:defRPr>
            </a:defPPr>
            <a:lvl1pPr>
              <a:defRPr sz="1200" b="0">
                <a:solidFill>
                  <a:srgbClr val="94A3B8"/>
                </a:solidFill>
              </a:defRPr>
            </a:lvl1pPr>
            <a:lvl2pPr>
              <a:defRPr sz="1200" b="0">
                <a:solidFill>
                  <a:srgbClr val="94A3B8"/>
                </a:solidFill>
              </a:defRPr>
            </a:lvl2pPr>
            <a:lvl3pPr>
              <a:defRPr sz="1200" b="0">
                <a:solidFill>
                  <a:srgbClr val="94A3B8"/>
                </a:solidFill>
              </a:defRPr>
            </a:lvl3pPr>
            <a:lvl4pPr>
              <a:defRPr sz="1200" b="0">
                <a:solidFill>
                  <a:srgbClr val="94A3B8"/>
                </a:solidFill>
              </a:defRPr>
            </a:lvl4pPr>
            <a:lvl5pPr>
              <a:defRPr sz="1200" b="0">
                <a:solidFill>
                  <a:srgbClr val="94A3B8"/>
                </a:solidFill>
              </a:defRPr>
            </a:lvl5pPr>
            <a:lvl6pPr>
              <a:defRPr sz="1200" b="0">
                <a:solidFill>
                  <a:srgbClr val="94A3B8"/>
                </a:solidFill>
              </a:defRPr>
            </a:lvl6pPr>
            <a:lvl7pPr>
              <a:defRPr sz="1200" b="0">
                <a:solidFill>
                  <a:srgbClr val="94A3B8"/>
                </a:solidFill>
              </a:defRPr>
            </a:lvl7pPr>
            <a:lvl8pPr>
              <a:defRPr sz="1200" b="0">
                <a:solidFill>
                  <a:srgbClr val="94A3B8"/>
                </a:solidFill>
              </a:defRPr>
            </a:lvl8pPr>
            <a:lvl9pPr>
              <a:defRPr sz="1200" b="0">
                <a:solidFill>
                  <a:srgbClr val="94A3B8"/>
                </a:solidFill>
              </a:defRPr>
            </a:lvl9pPr>
          </a:lstStyle>
          <a:p xmlns:a="http://schemas.openxmlformats.org/drawingml/2006/main">
            <a:pPr>
              <a:defRPr sz="1200" b="0">
                <a:solidFill>
                  <a:srgbClr val="94A3B8"/>
                </a:solidFill>
              </a:defRPr>
            </a:pPr>
            <a:r>
              <a:rPr sz="1200" b="0">
                <a:solidFill>
                  <a:srgbClr val="94A3B8"/>
                </a:solidFill>
              </a:rPr>
              <a:t>Give an AI an allowance, not your bank account.</a:t>
            </a:r>
          </a:p>
        </p:txBody>
      </p:sp>
    </p:spTree>
    <p:extLst>
      <p:ext uri="{BB962C8B-B14F-4D97-AF65-F5344CB8AC3E}">
        <p14:creationId xmlns:p14="http://schemas.microsoft.com/office/powerpoint/2010/main" val="1838207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2026-10-17T13:05:35.7030000Z</dcterms:created>
  <dcterms:modified xsi:type="dcterms:W3CDTF">2026-10-17T13:05:35.7030000Z</dcterms:modified>
</coreProperties>
</file>