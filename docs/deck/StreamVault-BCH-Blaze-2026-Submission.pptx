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d1493748524ab0" /><Relationship Type="http://schemas.openxmlformats.org/officeDocument/2006/relationships/extended-properties" Target="/docProps/app.xml" Id="R9ee7fddea45749ff" /><Relationship Type="http://schemas.openxmlformats.org/officeDocument/2006/relationships/officeDocument" Target="/ppt/presentation.xml" Id="R8f308743270047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c0969acb1e4a44"/>
  </p:sldMasterIdLst>
  <p:notesMasterIdLst>
    <p:notesMasterId xmlns:r="http://schemas.openxmlformats.org/officeDocument/2006/relationships" r:id="Rf386d95813a44dce"/>
  </p:notesMasterIdLst>
  <p:sldIdLst>
    <p:sldId xmlns:r="http://schemas.openxmlformats.org/officeDocument/2006/relationships" id="256" r:id="R6ba43e5eceb2422f"/>
    <p:sldId xmlns:r="http://schemas.openxmlformats.org/officeDocument/2006/relationships" id="257" r:id="R8f22625503a14570"/>
    <p:sldId xmlns:r="http://schemas.openxmlformats.org/officeDocument/2006/relationships" id="258" r:id="R49841ba227a14ca8"/>
    <p:sldId xmlns:r="http://schemas.openxmlformats.org/officeDocument/2006/relationships" id="259" r:id="R1318275c9b8a4f8b"/>
    <p:sldId xmlns:r="http://schemas.openxmlformats.org/officeDocument/2006/relationships" id="260" r:id="Rdf0cb0edf37248fd"/>
    <p:sldId xmlns:r="http://schemas.openxmlformats.org/officeDocument/2006/relationships" id="261" r:id="Rfc1f982f976a4f8f"/>
    <p:sldId xmlns:r="http://schemas.openxmlformats.org/officeDocument/2006/relationships" id="262" r:id="R1c972b071036436a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7ab069377e4b49" /><Relationship Type="http://schemas.openxmlformats.org/officeDocument/2006/relationships/slideMaster" Target="/ppt/slideMasters/slideMaster1.xml" Id="R9cc0969acb1e4a44" /><Relationship Type="http://schemas.openxmlformats.org/officeDocument/2006/relationships/notesMaster" Target="/ppt/notesMasters/notesMaster1.xml" Id="Rf386d95813a44dce" /><Relationship Type="http://schemas.openxmlformats.org/officeDocument/2006/relationships/presProps" Target="/ppt/presProps.xml" Id="R33050d97eaee4ec5" /><Relationship Type="http://schemas.openxmlformats.org/officeDocument/2006/relationships/viewProps" Target="/ppt/viewProps.xml" Id="R0058ace52dad47bd" /><Relationship Type="http://schemas.openxmlformats.org/officeDocument/2006/relationships/tableStyles" Target="/ppt/tableStyles.xml" Id="R2f749f9cbdca4e9e" /><Relationship Type="http://schemas.openxmlformats.org/officeDocument/2006/relationships/slide" Target="/ppt/slides/slide1.xml" Id="R6ba43e5eceb2422f" /><Relationship Type="http://schemas.openxmlformats.org/officeDocument/2006/relationships/slide" Target="/ppt/slides/slide2.xml" Id="R8f22625503a14570" /><Relationship Type="http://schemas.openxmlformats.org/officeDocument/2006/relationships/slide" Target="/ppt/slides/slide3.xml" Id="R49841ba227a14ca8" /><Relationship Type="http://schemas.openxmlformats.org/officeDocument/2006/relationships/slide" Target="/ppt/slides/slide4.xml" Id="R1318275c9b8a4f8b" /><Relationship Type="http://schemas.openxmlformats.org/officeDocument/2006/relationships/slide" Target="/ppt/slides/slide5.xml" Id="Rdf0cb0edf37248fd" /><Relationship Type="http://schemas.openxmlformats.org/officeDocument/2006/relationships/slide" Target="/ppt/slides/slide6.xml" Id="Rfc1f982f976a4f8f" /><Relationship Type="http://schemas.openxmlformats.org/officeDocument/2006/relationships/slide" Target="/ppt/slides/slide7.xml" Id="R1c972b07103643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6237575ddb45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feddc7175d4e63" /><Relationship Type="http://schemas.openxmlformats.org/officeDocument/2006/relationships/notesMaster" Target="/ppt/notesMasters/notesMaster1.xml" Id="Redddf1dbfe3240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18261383bf476d" /><Relationship Type="http://schemas.openxmlformats.org/officeDocument/2006/relationships/notesMaster" Target="/ppt/notesMasters/notesMaster1.xml" Id="Rb0e768265ace48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84a4a155fe4ead" /><Relationship Type="http://schemas.openxmlformats.org/officeDocument/2006/relationships/notesMaster" Target="/ppt/notesMasters/notesMaster1.xml" Id="Rdfd33dad14ce4e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c7f61fe1ff4d27" /><Relationship Type="http://schemas.openxmlformats.org/officeDocument/2006/relationships/notesMaster" Target="/ppt/notesMasters/notesMaster1.xml" Id="R89922fa2e23645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bcb7781e7f4bc9" /><Relationship Type="http://schemas.openxmlformats.org/officeDocument/2006/relationships/notesMaster" Target="/ppt/notesMasters/notesMaster1.xml" Id="R426d5daa23b944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b5e2f7a2c14a65" /><Relationship Type="http://schemas.openxmlformats.org/officeDocument/2006/relationships/notesMaster" Target="/ppt/notesMasters/notesMaster1.xml" Id="R0e956753829247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8b9c6c02e44a96" /><Relationship Type="http://schemas.openxmlformats.org/officeDocument/2006/relationships/notesMaster" Target="/ppt/notesMasters/notesMaster1.xml" Id="Rdc3f60c5730d43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Live demo: https://streamvault-cash.vercel.app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Repository: https://github.com/juangh123/streamvault.cash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Baseline: https://github.com/juangh123/streamvault.cash/tree/v0-prehackathon-baseline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StreamVault combines CashScript covenants, relative timelocks and CashTokens. Demo: https://streamvault-cash.vercel.app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cap is enforced by claim() in the CashScript covenant, not by application code. See docs/STREAM_MECHANICS.md.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covenant supports payroll, subscriptions and agent allowances. See README.md and docs/PRD.md.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v1.2 covenant passes 21 real BCH VM tests, including over-limit, early claim, wrong destination, third output, category mismatch and BCH-buffer drain tests.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PUSD category: 2469acc5afa4b10cb5b5c04afb89c3a3ffd61c5da9c01e26d00951cae2a02544. The app blocks Mainnet if a demo category is configured.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Live demo: https://streamvault-cash.vercel.app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CashTokens receiving address: bitcoincash:zzlgvjs8fvqdf43nz9yklcd0eh780x2xd5d9dxrnkv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9f2a208604c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69ff7bf88492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e3106e236a47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2c504af0545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17edeeea364c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915b09b6fe4f8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74f5742d941c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8336212ba4460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230e6f8b94b7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44a1d922d3413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d7114546d4460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C3E57982-C5DA-4FB1-9427-296291C189B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60383" y="16888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AA209540-B106-4EA3-B47D-9747B335154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D67AC60-EDB4-457E-BCF8-828AD12F67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71D88E54-F66B-4F4E-B446-EB8641859B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143125" y="426975"/>
            <a:ext cx="2241600" cy="247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0AB75424-A276-4158-B2CF-AE0593A3BF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00036096-AD7E-4B55-9C8A-3AF7FB8B1D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E7199F50-8526-426A-BC84-8EF01EAC41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A9EE6B79-C7FC-4B7A-9322-D4476749E6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E6521F8E-8F0D-4996-AA91-AAFB2A6A5D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ECCFF8A7-6FE8-4BB0-B100-CEF6E1FD9B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58DC35DB-2820-4B8B-B954-B3C52AD07A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282F75BB-668C-451F-82A5-458DFAE614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758B4CF8-34F9-406B-AF54-803643E0B8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9EF92629-B8A9-44B1-B60A-E07BCBCD94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8" name="Google Shape;28;p6">
            <a:extLst xmlns:a="http://schemas.openxmlformats.org/drawingml/2006/main">
              <a:ext uri="{FF2B5EF4-FFF2-40B4-BE49-F238E27FC236}">
                <a16:creationId xmlns:a16="http://schemas.microsoft.com/office/drawing/2014/main" id="{AAEF36FE-EC37-4949-BA5F-19008A5087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EF190478-776E-494B-9222-749193D964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22030E95-AB72-4542-BE60-22FA309A12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2" name="Google Shape;32;p7">
            <a:extLst xmlns:a="http://schemas.openxmlformats.org/drawingml/2006/main">
              <a:ext uri="{FF2B5EF4-FFF2-40B4-BE49-F238E27FC236}">
                <a16:creationId xmlns:a16="http://schemas.microsoft.com/office/drawing/2014/main" id="{EF64EC07-734E-4CEE-8858-E6C7FF1812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AB99CDEF-32F8-4C86-BD87-27F03907A9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5" name="Google Shape;35;p8">
            <a:extLst xmlns:a="http://schemas.openxmlformats.org/drawingml/2006/main">
              <a:ext uri="{FF2B5EF4-FFF2-40B4-BE49-F238E27FC236}">
                <a16:creationId xmlns:a16="http://schemas.microsoft.com/office/drawing/2014/main" id="{CD74232C-686C-4A65-9C18-D1A324BC85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9BE3C3F6-55FA-4387-8B00-79BCD9A3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B921AED9-7DA7-48B6-8E1A-85F0AD390A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19E2E79-D309-4F63-885C-58062046AA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81A295DD-D110-488F-B425-6027823C1A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1" name="Google Shape;41;p9">
            <a:extLst xmlns:a="http://schemas.openxmlformats.org/drawingml/2006/main">
              <a:ext uri="{FF2B5EF4-FFF2-40B4-BE49-F238E27FC236}">
                <a16:creationId xmlns:a16="http://schemas.microsoft.com/office/drawing/2014/main" id="{936051BB-0BF9-4D1C-857A-E44FD4008A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33753386-3B04-4A45-9466-BE192A66A9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4" name="Google Shape;44;p10">
            <a:extLst xmlns:a="http://schemas.openxmlformats.org/drawingml/2006/main">
              <a:ext uri="{FF2B5EF4-FFF2-40B4-BE49-F238E27FC236}">
                <a16:creationId xmlns:a16="http://schemas.microsoft.com/office/drawing/2014/main" id="{93AC7B5F-9727-47D7-BE4B-8449787596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BCAF5BA0-C676-4B7F-BD3E-BB2B83A10F5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300FED47-CFCC-4E3A-92D3-EFDC01C4A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8" name="Google Shape;48;p11">
            <a:extLst xmlns:a="http://schemas.openxmlformats.org/drawingml/2006/main">
              <a:ext uri="{FF2B5EF4-FFF2-40B4-BE49-F238E27FC236}">
                <a16:creationId xmlns:a16="http://schemas.microsoft.com/office/drawing/2014/main" id="{BEA1D28D-BD48-47C4-A539-90021DECD0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12">
            <a:extLst xmlns:a="http://schemas.openxmlformats.org/drawingml/2006/main">
              <a:ext uri="{FF2B5EF4-FFF2-40B4-BE49-F238E27FC236}">
                <a16:creationId xmlns:a16="http://schemas.microsoft.com/office/drawing/2014/main" id="{69CA1CF3-9ADA-4E76-9339-69B2BC3D11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9b377c9a57437e" /><Relationship Type="http://schemas.openxmlformats.org/officeDocument/2006/relationships/slideLayout" Target="/ppt/slideLayouts/slideLayout1.xml" Id="R67efb67f8d4243df" /><Relationship Type="http://schemas.openxmlformats.org/officeDocument/2006/relationships/slideLayout" Target="/ppt/slideLayouts/slideLayout2.xml" Id="Re626658040ed4634" /><Relationship Type="http://schemas.openxmlformats.org/officeDocument/2006/relationships/slideLayout" Target="/ppt/slideLayouts/slideLayout3.xml" Id="Re82d89c2c6f84873" /><Relationship Type="http://schemas.openxmlformats.org/officeDocument/2006/relationships/slideLayout" Target="/ppt/slideLayouts/slideLayout4.xml" Id="R271c8d23d6264e7c" /><Relationship Type="http://schemas.openxmlformats.org/officeDocument/2006/relationships/slideLayout" Target="/ppt/slideLayouts/slideLayout5.xml" Id="R530922ae8cae4b8f" /><Relationship Type="http://schemas.openxmlformats.org/officeDocument/2006/relationships/slideLayout" Target="/ppt/slideLayouts/slideLayout6.xml" Id="R60f3b520c37641c5" /><Relationship Type="http://schemas.openxmlformats.org/officeDocument/2006/relationships/slideLayout" Target="/ppt/slideLayouts/slideLayout7.xml" Id="R02aec194d89f448f" /><Relationship Type="http://schemas.openxmlformats.org/officeDocument/2006/relationships/slideLayout" Target="/ppt/slideLayouts/slideLayout8.xml" Id="Rd0cf0e2b71a245ee" /><Relationship Type="http://schemas.openxmlformats.org/officeDocument/2006/relationships/slideLayout" Target="/ppt/slideLayouts/slideLayout9.xml" Id="R9acae51bad6b4f40" /><Relationship Type="http://schemas.openxmlformats.org/officeDocument/2006/relationships/slideLayout" Target="/ppt/slideLayouts/slideLayout10.xml" Id="R9e784992bd254044" /><Relationship Type="http://schemas.openxmlformats.org/officeDocument/2006/relationships/slideLayout" Target="/ppt/slideLayouts/slideLayout11.xml" Id="Rc5259df8031d4847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19E6FB78-AFC6-49E3-91D6-326C52AD58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2E90EF0-54CF-4BCC-AB9F-8219A953F9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46FE7135-478F-4950-9973-A0835A8B95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efb67f8d4243df"/>
    <p:sldLayoutId xmlns:r="http://schemas.openxmlformats.org/officeDocument/2006/relationships" id="2147483650" r:id="Re626658040ed4634"/>
    <p:sldLayoutId xmlns:r="http://schemas.openxmlformats.org/officeDocument/2006/relationships" id="2147483651" r:id="Re82d89c2c6f84873"/>
    <p:sldLayoutId xmlns:r="http://schemas.openxmlformats.org/officeDocument/2006/relationships" id="2147483652" r:id="R271c8d23d6264e7c"/>
    <p:sldLayoutId xmlns:r="http://schemas.openxmlformats.org/officeDocument/2006/relationships" id="2147483653" r:id="R530922ae8cae4b8f"/>
    <p:sldLayoutId xmlns:r="http://schemas.openxmlformats.org/officeDocument/2006/relationships" id="2147483654" r:id="R60f3b520c37641c5"/>
    <p:sldLayoutId xmlns:r="http://schemas.openxmlformats.org/officeDocument/2006/relationships" id="2147483655" r:id="R02aec194d89f448f"/>
    <p:sldLayoutId xmlns:r="http://schemas.openxmlformats.org/officeDocument/2006/relationships" id="2147483656" r:id="Rd0cf0e2b71a245ee"/>
    <p:sldLayoutId xmlns:r="http://schemas.openxmlformats.org/officeDocument/2006/relationships" id="2147483657" r:id="R9acae51bad6b4f40"/>
    <p:sldLayoutId xmlns:r="http://schemas.openxmlformats.org/officeDocument/2006/relationships" id="2147483658" r:id="R9e784992bd254044"/>
    <p:sldLayoutId xmlns:r="http://schemas.openxmlformats.org/officeDocument/2006/relationships" id="2147483659" r:id="Rc5259df8031d484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5cb993e0f40ce" /><Relationship Type="http://schemas.openxmlformats.org/officeDocument/2006/relationships/image" Target="/ppt/media/image.png" Id="R8f15089c8ae2438d" /><Relationship Type="http://schemas.openxmlformats.org/officeDocument/2006/relationships/image" Target="/ppt/media/image2.png" Id="R8d432f2f93fe4751" /><Relationship Type="http://schemas.openxmlformats.org/officeDocument/2006/relationships/image" Target="/ppt/media/image3.png" Id="Reb94ed7145c24c4f" /><Relationship Type="http://schemas.openxmlformats.org/officeDocument/2006/relationships/image" Target="/ppt/media/image4.png" Id="R0f33b18492f248aa" /><Relationship Type="http://schemas.openxmlformats.org/officeDocument/2006/relationships/image" Target="/ppt/media/image5.png" Id="R106c56bb3d2b44eb" /><Relationship Type="http://schemas.openxmlformats.org/officeDocument/2006/relationships/image" Target="/ppt/media/image6.png" Id="R924a2ebd56ce4b70" /><Relationship Type="http://schemas.openxmlformats.org/officeDocument/2006/relationships/notesSlide" Target="/ppt/notesSlides/notesSlide1.xml" Id="Rfb9427badeac48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23277054642a2" /><Relationship Type="http://schemas.openxmlformats.org/officeDocument/2006/relationships/image" Target="/ppt/media/image2.png" Id="R0ff73224b19b4638" /><Relationship Type="http://schemas.openxmlformats.org/officeDocument/2006/relationships/image" Target="/ppt/media/image4.png" Id="Rb29ef6d67d214a80" /><Relationship Type="http://schemas.openxmlformats.org/officeDocument/2006/relationships/notesSlide" Target="/ppt/notesSlides/notesSlide2.xml" Id="Rbf14b75ce92445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b5e219c524817" /><Relationship Type="http://schemas.openxmlformats.org/officeDocument/2006/relationships/notesSlide" Target="/ppt/notesSlides/notesSlide3.xml" Id="R93493b7b14c049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e41ff235f466c" /><Relationship Type="http://schemas.openxmlformats.org/officeDocument/2006/relationships/image" Target="/ppt/media/image7.png" Id="Rd83b2cd865f94389" /><Relationship Type="http://schemas.openxmlformats.org/officeDocument/2006/relationships/notesSlide" Target="/ppt/notesSlides/notesSlide4.xml" Id="R854e26d4fe6b46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10d8b90244adf" /><Relationship Type="http://schemas.openxmlformats.org/officeDocument/2006/relationships/image" Target="/ppt/media/image2.png" Id="R50599fdabe6944e7" /><Relationship Type="http://schemas.openxmlformats.org/officeDocument/2006/relationships/image" Target="/ppt/media/image4.png" Id="R637dbd2ed4d74956" /><Relationship Type="http://schemas.openxmlformats.org/officeDocument/2006/relationships/notesSlide" Target="/ppt/notesSlides/notesSlide5.xml" Id="R040fb6a7cf5147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cf2eb467a4815" /><Relationship Type="http://schemas.openxmlformats.org/officeDocument/2006/relationships/notesSlide" Target="/ppt/notesSlides/notesSlide6.xml" Id="R3a69095f7fc043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00f1bd4cf43c6" /><Relationship Type="http://schemas.openxmlformats.org/officeDocument/2006/relationships/image" Target="/ppt/media/image8.png" Id="Rf90c974483c34496" /><Relationship Type="http://schemas.openxmlformats.org/officeDocument/2006/relationships/notesSlide" Target="/ppt/notesSlides/notesSlide7.xml" Id="Rc791398bb8da41a4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f15089c8ae2438d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5EEC42DA-8703-4738-9222-C208497D57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432f2f93fe475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C44914E-5B83-45B9-8F84-DFEB9E5CD0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4ed7145c24c4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448900" y="2873025"/>
            <a:ext cx="7264075" cy="3239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3FBF972A-9EC2-4ECD-BDCD-6C2EB632B6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3b18492f248a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Google Shape;58;p13">
            <a:extLst xmlns:a="http://schemas.openxmlformats.org/drawingml/2006/main">
              <a:ext uri="{FF2B5EF4-FFF2-40B4-BE49-F238E27FC236}">
                <a16:creationId xmlns:a16="http://schemas.microsoft.com/office/drawing/2014/main" id="{F0322A6D-31C1-426D-86D0-E3CA29FE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37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StreamVault.cash</a:t>
            </a:r>
            <a:endParaRPr sz="33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59" name="Google Shape;59;p13">
            <a:extLst xmlns:a="http://schemas.openxmlformats.org/drawingml/2006/main">
              <a:ext uri="{FF2B5EF4-FFF2-40B4-BE49-F238E27FC236}">
                <a16:creationId xmlns:a16="http://schemas.microsoft.com/office/drawing/2014/main" id="{055C2683-3852-4F22-BB26-6E4528B1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0"/>
            <a:ext cx="557100" cy="6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>
            <a:extLst xmlns:a="http://schemas.openxmlformats.org/drawingml/2006/main">
              <a:ext uri="{FF2B5EF4-FFF2-40B4-BE49-F238E27FC236}">
                <a16:creationId xmlns:a16="http://schemas.microsoft.com/office/drawing/2014/main" id="{2407FB17-0D14-4A7B-BD88-27BDAED5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778" y="4402200"/>
            <a:ext cx="2256000" cy="3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GitHub</a:t>
            </a:r>
            <a:endParaRPr sz="16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61" name="Google Shape;61;p13">
            <a:extLst xmlns:a="http://schemas.openxmlformats.org/drawingml/2006/main">
              <a:ext uri="{FF2B5EF4-FFF2-40B4-BE49-F238E27FC236}">
                <a16:creationId xmlns:a16="http://schemas.microsoft.com/office/drawing/2014/main" id="{BC73584D-82EE-4AB5-BD9A-5E53BD76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425" y="4402200"/>
            <a:ext cx="1492200" cy="3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Live demo</a:t>
            </a:r>
            <a:endParaRPr sz="16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62" name="Google Shape;62;p13">
            <a:extLst xmlns:a="http://schemas.openxmlformats.org/drawingml/2006/main">
              <a:ext uri="{FF2B5EF4-FFF2-40B4-BE49-F238E27FC236}">
                <a16:creationId xmlns:a16="http://schemas.microsoft.com/office/drawing/2014/main" id="{F35C66E0-7743-4C79-A28B-13821308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700" y="4402200"/>
            <a:ext cx="1752000" cy="3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PUSD on BCH</a:t>
            </a:r>
            <a:endParaRPr sz="16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69" name="Google Shape;69;p13">
            <a:extLst xmlns:a="http://schemas.openxmlformats.org/drawingml/2006/main">
              <a:ext uri="{FF2B5EF4-FFF2-40B4-BE49-F238E27FC236}">
                <a16:creationId xmlns:a16="http://schemas.microsoft.com/office/drawing/2014/main" id="{3876EC62-F5E7-44F4-892E-926FF52F89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c56bb3d2b44e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7627" y="66125"/>
            <a:ext cx="523850" cy="5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3">
            <a:extLst xmlns:a="http://schemas.openxmlformats.org/drawingml/2006/main">
              <a:ext uri="{FF2B5EF4-FFF2-40B4-BE49-F238E27FC236}">
                <a16:creationId xmlns:a16="http://schemas.microsoft.com/office/drawing/2014/main" id="{BD24AC87-F108-4EB5-86D7-FF520BF9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050" y="3025350"/>
            <a:ext cx="3982500" cy="8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6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Team Autonomous Cash: Jason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91AA2A8-327D-402D-9AB7-078CD52048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a2ebd56ce4b70"/>
          <a:stretch xmlns:a="http://schemas.openxmlformats.org/drawingml/2006/main"/>
        </p:blipFill>
        <p:spPr>
          <a:xfrm xmlns:a="http://schemas.openxmlformats.org/drawingml/2006/main">
            <a:off x="4812242" y="1362075"/>
            <a:ext cx="3996267" cy="2247900"/>
          </a:xfrm>
          <a:prstGeom xmlns:a="http://schemas.openxmlformats.org/drawingml/2006/main" prst="rect">
            <a:avLst/>
          </a:prstGeom>
        </p:spPr>
      </p:pic>
      <p:sp>
        <p:nvSpPr>
          <p:cNvPr id="72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618B9D4-D1AF-4F13-94AF-8C85F763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rPr>
              <a:t>Give an AI an allowance,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pPr>
            <a:r>
              <a:rPr sz="1275" b="0">
                <a:solidFill>
                  <a:srgbClr val="E6D8DA"/>
                </a:solidFill>
                <a:latin typeface="Montserrat"/>
                <a:ea typeface="Montserrat"/>
                <a:cs typeface="Montserrat"/>
              </a:rPr>
              <a:t>not your bank account.</a:t>
            </a:r>
          </a:p>
        </p:txBody>
      </p:sp>
    </p:spTree>
    <p:extLst>
      <p:ext uri="{BB962C8B-B14F-4D97-AF65-F5344CB8AC3E}">
        <p14:creationId xmlns:p14="http://schemas.microsoft.com/office/powerpoint/2010/main" val="681636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4">
            <a:extLst xmlns:a="http://schemas.openxmlformats.org/drawingml/2006/main">
              <a:ext uri="{FF2B5EF4-FFF2-40B4-BE49-F238E27FC236}">
                <a16:creationId xmlns:a16="http://schemas.microsoft.com/office/drawing/2014/main" id="{6CBA31EC-4BFC-4DA7-BEAE-40A4F7C4FB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73224b19b463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93450"/>
            <a:ext cx="9144000" cy="495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4">
            <a:extLst xmlns:a="http://schemas.openxmlformats.org/drawingml/2006/main">
              <a:ext uri="{FF2B5EF4-FFF2-40B4-BE49-F238E27FC236}">
                <a16:creationId xmlns:a16="http://schemas.microsoft.com/office/drawing/2014/main" id="{DA161DA4-AD90-43E2-95F2-7C7EE932D0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9ef6d67d214a8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4">
            <a:extLst xmlns:a="http://schemas.openxmlformats.org/drawingml/2006/main">
              <a:ext uri="{FF2B5EF4-FFF2-40B4-BE49-F238E27FC236}">
                <a16:creationId xmlns:a16="http://schemas.microsoft.com/office/drawing/2014/main" id="{D28FB8CD-A0E5-4451-9C7D-31D346B3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00125"/>
            <a:ext cx="7429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marL="0" lvl="0" indent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Prompts set intent.</a:t>
            </a:r>
            <a:endParaRPr sz="43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  <a:p xmlns:a="http://schemas.openxmlformats.org/drawingml/2006/main">
            <a:pPr marL="0" lvl="0" indent="0"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The transaction enforces the limit.</a:t>
            </a:r>
            <a:endParaRPr sz="35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79" name="promise-rule">
            <a:extLst xmlns:a="http://schemas.openxmlformats.org/drawingml/2006/main">
              <a:ext uri="{FF2B5EF4-FFF2-40B4-BE49-F238E27FC236}">
                <a16:creationId xmlns:a16="http://schemas.microsoft.com/office/drawing/2014/main" id="{EDC04CE4-4923-4941-8E26-FE5EA4D9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209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promise-support">
            <a:extLst xmlns:a="http://schemas.openxmlformats.org/drawingml/2006/main">
              <a:ext uri="{FF2B5EF4-FFF2-40B4-BE49-F238E27FC236}">
                <a16:creationId xmlns:a16="http://schemas.microsoft.com/office/drawing/2014/main" id="{D24979D8-CA22-4D45-B96C-F98F6C81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14700"/>
            <a:ext cx="628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rPr>
              <a:t>Per-period PUSD budgets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E6D8DA"/>
                </a:solidFill>
                <a:latin typeface="Montserrat"/>
                <a:ea typeface="Montserrat"/>
                <a:cs typeface="Montserrat"/>
              </a:rPr>
              <a:t>for people and AI agents.</a:t>
            </a:r>
          </a:p>
        </p:txBody>
      </p:sp>
      <p:sp>
        <p:nvSpPr>
          <p:cNvPr id="81" name="promise-url">
            <a:extLst xmlns:a="http://schemas.openxmlformats.org/drawingml/2006/main">
              <a:ext uri="{FF2B5EF4-FFF2-40B4-BE49-F238E27FC236}">
                <a16:creationId xmlns:a16="http://schemas.microsoft.com/office/drawing/2014/main" id="{A34D02C0-AFD4-4874-B051-831625F4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B9A6A9"/>
                </a:solidFill>
                <a:latin typeface="Montserrat"/>
                <a:ea typeface="Montserrat"/>
                <a:cs typeface="Montserrat"/>
              </a:rPr>
              <a:t>streamvault-cash.vercel.app</a:t>
            </a:r>
          </a:p>
        </p:txBody>
      </p:sp>
    </p:spTree>
    <p:extLst>
      <p:ext uri="{BB962C8B-B14F-4D97-AF65-F5344CB8AC3E}">
        <p14:creationId xmlns:p14="http://schemas.microsoft.com/office/powerpoint/2010/main" val="527552504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90607"/>
            </a:gs>
            <a:gs pos="68000">
              <a:srgbClr val="17090C"/>
            </a:gs>
            <a:gs pos="100000">
              <a:srgbClr val="240B10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5">
            <a:extLst xmlns:a="http://schemas.openxmlformats.org/drawingml/2006/main">
              <a:ext uri="{FF2B5EF4-FFF2-40B4-BE49-F238E27FC236}">
                <a16:creationId xmlns:a16="http://schemas.microsoft.com/office/drawing/2014/main" id="{29B732E7-6438-4C28-84C8-D8323A0F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0825" y="4652075"/>
            <a:ext cx="2028300" cy="26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CC0000"/>
                </a:solidFill>
                <a:latin typeface="Montserrat"/>
                <a:ea typeface="Montserrat"/>
                <a:cs typeface="Montserrat"/>
              </a:rPr>
              <a:t>www.bchblaze.cash</a:t>
            </a:r>
            <a:endParaRPr sz="1300">
              <a:solidFill>
                <a:srgbClr val="CC0000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94" name="Google Shape;94;p15">
            <a:extLst xmlns:a="http://schemas.openxmlformats.org/drawingml/2006/main">
              <a:ext uri="{FF2B5EF4-FFF2-40B4-BE49-F238E27FC236}">
                <a16:creationId xmlns:a16="http://schemas.microsoft.com/office/drawing/2014/main" id="{B25439D2-F47D-4881-86A3-E530A5B3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75" y="425625"/>
            <a:ext cx="5788800" cy="39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5">
            <a:extLst xmlns:a="http://schemas.openxmlformats.org/drawingml/2006/main">
              <a:ext uri="{FF2B5EF4-FFF2-40B4-BE49-F238E27FC236}">
                <a16:creationId xmlns:a16="http://schemas.microsoft.com/office/drawing/2014/main" id="{01C3B497-7949-43C7-B771-1A2CAB12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025" y="339825"/>
            <a:ext cx="5341800" cy="59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>
            <a:def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27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The trust gap</a:t>
            </a:r>
            <a:endParaRPr sz="25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96" name="trust-rule-1">
            <a:extLst xmlns:a="http://schemas.openxmlformats.org/drawingml/2006/main">
              <a:ext uri="{FF2B5EF4-FFF2-40B4-BE49-F238E27FC236}">
                <a16:creationId xmlns:a16="http://schemas.microsoft.com/office/drawing/2014/main" id="{CF14A204-D417-46E3-B21A-106409A2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B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trust-label-1">
            <a:extLst xmlns:a="http://schemas.openxmlformats.org/drawingml/2006/main">
              <a:ext uri="{FF2B5EF4-FFF2-40B4-BE49-F238E27FC236}">
                <a16:creationId xmlns:a16="http://schemas.microsoft.com/office/drawing/2014/main" id="{188F3259-3477-45F2-8828-8AD3AA3E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7B6B6E"/>
                </a:solidFill>
                <a:latin typeface="Montserrat"/>
                <a:ea typeface="Montserrat"/>
                <a:cs typeface="Montserrat"/>
              </a:rPr>
              <a:t>PROMPT CAP</a:t>
            </a:r>
          </a:p>
        </p:txBody>
      </p:sp>
      <p:sp>
        <p:nvSpPr>
          <p:cNvPr id="98" name="trust-headline-1">
            <a:extLst xmlns:a="http://schemas.openxmlformats.org/drawingml/2006/main">
              <a:ext uri="{FF2B5EF4-FFF2-40B4-BE49-F238E27FC236}">
                <a16:creationId xmlns:a16="http://schemas.microsoft.com/office/drawing/2014/main" id="{215328B6-E71C-4577-9A31-929FD587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Can be ignored</a:t>
            </a:r>
          </a:p>
        </p:txBody>
      </p:sp>
      <p:sp>
        <p:nvSpPr>
          <p:cNvPr id="99" name="trust-body-1">
            <a:extLst xmlns:a="http://schemas.openxmlformats.org/drawingml/2006/main">
              <a:ext uri="{FF2B5EF4-FFF2-40B4-BE49-F238E27FC236}">
                <a16:creationId xmlns:a16="http://schemas.microsoft.com/office/drawing/2014/main" id="{DEEDD970-9257-47E3-975D-27CB725A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rPr>
              <a:t>A natural-language instruction is not a transaction rule.</a:t>
            </a:r>
          </a:p>
        </p:txBody>
      </p:sp>
      <p:sp>
        <p:nvSpPr>
          <p:cNvPr id="100" name="trust-result-1">
            <a:extLst xmlns:a="http://schemas.openxmlformats.org/drawingml/2006/main">
              <a:ext uri="{FF2B5EF4-FFF2-40B4-BE49-F238E27FC236}">
                <a16:creationId xmlns:a16="http://schemas.microsoft.com/office/drawing/2014/main" id="{14D9CB5C-8E0C-4053-9E1B-38041AD0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7B6B6E"/>
                </a:solidFill>
                <a:latin typeface="Montserrat"/>
                <a:ea typeface="Montserrat"/>
                <a:cs typeface="Montserrat"/>
              </a:rPr>
              <a:t>No enforcement</a:t>
            </a:r>
          </a:p>
        </p:txBody>
      </p:sp>
      <p:sp>
        <p:nvSpPr>
          <p:cNvPr id="101" name="trust-rule-2">
            <a:extLst xmlns:a="http://schemas.openxmlformats.org/drawingml/2006/main">
              <a:ext uri="{FF2B5EF4-FFF2-40B4-BE49-F238E27FC236}">
                <a16:creationId xmlns:a16="http://schemas.microsoft.com/office/drawing/2014/main" id="{41F1BAD1-F432-4C77-AB29-D59A7C1F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763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0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trust-label-2">
            <a:extLst xmlns:a="http://schemas.openxmlformats.org/drawingml/2006/main">
              <a:ext uri="{FF2B5EF4-FFF2-40B4-BE49-F238E27FC236}">
                <a16:creationId xmlns:a16="http://schemas.microsoft.com/office/drawing/2014/main" id="{62A37450-F284-43AC-B00F-15177A86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A00A2C"/>
                </a:solidFill>
                <a:latin typeface="Montserrat"/>
                <a:ea typeface="Montserrat"/>
                <a:cs typeface="Montserrat"/>
              </a:rPr>
              <a:t>CUSTODY</a:t>
            </a:r>
          </a:p>
        </p:txBody>
      </p:sp>
      <p:sp>
        <p:nvSpPr>
          <p:cNvPr id="103" name="trust-headline-2">
            <a:extLst xmlns:a="http://schemas.openxmlformats.org/drawingml/2006/main">
              <a:ext uri="{FF2B5EF4-FFF2-40B4-BE49-F238E27FC236}">
                <a16:creationId xmlns:a16="http://schemas.microsoft.com/office/drawing/2014/main" id="{8421233D-7EBE-4883-BC13-1ED4D6C1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764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Can freeze funds</a:t>
            </a:r>
          </a:p>
        </p:txBody>
      </p:sp>
      <p:sp>
        <p:nvSpPr>
          <p:cNvPr id="104" name="trust-body-2">
            <a:extLst xmlns:a="http://schemas.openxmlformats.org/drawingml/2006/main">
              <a:ext uri="{FF2B5EF4-FFF2-40B4-BE49-F238E27FC236}">
                <a16:creationId xmlns:a16="http://schemas.microsoft.com/office/drawing/2014/main" id="{FA9A16A5-F0BE-4FDE-9F75-5A141B72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rPr>
              <a:t>A third party controls the key and the release path.</a:t>
            </a:r>
          </a:p>
        </p:txBody>
      </p:sp>
      <p:sp>
        <p:nvSpPr>
          <p:cNvPr id="105" name="trust-result-2">
            <a:extLst xmlns:a="http://schemas.openxmlformats.org/drawingml/2006/main">
              <a:ext uri="{FF2B5EF4-FFF2-40B4-BE49-F238E27FC236}">
                <a16:creationId xmlns:a16="http://schemas.microsoft.com/office/drawing/2014/main" id="{DE9A85D1-7E77-4BDD-868D-5D9EFE4D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671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A00A2C"/>
                </a:solidFill>
                <a:latin typeface="Montserrat"/>
                <a:ea typeface="Montserrat"/>
                <a:cs typeface="Montserrat"/>
              </a:rPr>
              <a:t>Counterparty risk</a:t>
            </a:r>
          </a:p>
        </p:txBody>
      </p:sp>
      <p:sp>
        <p:nvSpPr>
          <p:cNvPr id="106" name="trust-rule-3">
            <a:extLst xmlns:a="http://schemas.openxmlformats.org/drawingml/2006/main">
              <a:ext uri="{FF2B5EF4-FFF2-40B4-BE49-F238E27FC236}">
                <a16:creationId xmlns:a16="http://schemas.microsoft.com/office/drawing/2014/main" id="{84C9607D-49ED-4B8D-8D02-329635E0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763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C1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trust-label-3">
            <a:extLst xmlns:a="http://schemas.openxmlformats.org/drawingml/2006/main">
              <a:ext uri="{FF2B5EF4-FFF2-40B4-BE49-F238E27FC236}">
                <a16:creationId xmlns:a16="http://schemas.microsoft.com/office/drawing/2014/main" id="{2CBAF111-8CFD-42E2-87BD-EE197799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0AC18E"/>
                </a:solidFill>
                <a:latin typeface="Montserrat"/>
                <a:ea typeface="Montserrat"/>
                <a:cs typeface="Montserrat"/>
              </a:rPr>
              <a:t>COVENANT</a:t>
            </a:r>
          </a:p>
        </p:txBody>
      </p:sp>
      <p:sp>
        <p:nvSpPr>
          <p:cNvPr id="108" name="trust-headline-3">
            <a:extLst xmlns:a="http://schemas.openxmlformats.org/drawingml/2006/main">
              <a:ext uri="{FF2B5EF4-FFF2-40B4-BE49-F238E27FC236}">
                <a16:creationId xmlns:a16="http://schemas.microsoft.com/office/drawing/2014/main" id="{3DBCDF6B-FE23-41B2-836E-805A2DF8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764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VM-enforced</a:t>
            </a:r>
          </a:p>
        </p:txBody>
      </p:sp>
      <p:sp>
        <p:nvSpPr>
          <p:cNvPr id="109" name="trust-body-3">
            <a:extLst xmlns:a="http://schemas.openxmlformats.org/drawingml/2006/main">
              <a:ext uri="{FF2B5EF4-FFF2-40B4-BE49-F238E27FC236}">
                <a16:creationId xmlns:a16="http://schemas.microsoft.com/office/drawing/2014/main" id="{DEFCA14A-EE8B-4407-87F8-E5E23731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8605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D8CBCD"/>
                </a:solidFill>
                <a:latin typeface="Montserrat"/>
                <a:ea typeface="Montserrat"/>
                <a:cs typeface="Montserrat"/>
              </a:rPr>
              <a:t>Category, amount, age and outputs are checked on spend.</a:t>
            </a:r>
          </a:p>
        </p:txBody>
      </p:sp>
      <p:sp>
        <p:nvSpPr>
          <p:cNvPr id="110" name="trust-result-3">
            <a:extLst xmlns:a="http://schemas.openxmlformats.org/drawingml/2006/main">
              <a:ext uri="{FF2B5EF4-FFF2-40B4-BE49-F238E27FC236}">
                <a16:creationId xmlns:a16="http://schemas.microsoft.com/office/drawing/2014/main" id="{7B18FB89-756B-41B3-BCF2-331BB549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671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defRPr>
            </a:pPr>
            <a:r>
              <a:rPr sz="1125" b="1">
                <a:solidFill>
                  <a:srgbClr val="0AC18E"/>
                </a:solidFill>
                <a:latin typeface="Montserrat"/>
                <a:ea typeface="Montserrat"/>
                <a:cs typeface="Montserrat"/>
              </a:rPr>
              <a:t>Rules execute</a:t>
            </a:r>
          </a:p>
        </p:txBody>
      </p:sp>
      <p:sp>
        <p:nvSpPr>
          <p:cNvPr id="111" name="trust-insight">
            <a:extLst xmlns:a="http://schemas.openxmlformats.org/drawingml/2006/main">
              <a:ext uri="{FF2B5EF4-FFF2-40B4-BE49-F238E27FC236}">
                <a16:creationId xmlns:a16="http://schemas.microsoft.com/office/drawing/2014/main" id="{05409BD4-7DED-419C-9D79-1C63B88D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1575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The spending limit must live in the transaction, not the prompt.</a:t>
            </a:r>
          </a:p>
        </p:txBody>
      </p:sp>
    </p:spTree>
    <p:extLst>
      <p:ext uri="{BB962C8B-B14F-4D97-AF65-F5344CB8AC3E}">
        <p14:creationId xmlns:p14="http://schemas.microsoft.com/office/powerpoint/2010/main" val="448567386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90607"/>
            </a:gs>
            <a:gs pos="68000">
              <a:srgbClr val="17090C"/>
            </a:gs>
            <a:gs pos="100000">
              <a:srgbClr val="240B10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16">
            <a:extLst xmlns:a="http://schemas.openxmlformats.org/drawingml/2006/main">
              <a:ext uri="{FF2B5EF4-FFF2-40B4-BE49-F238E27FC236}">
                <a16:creationId xmlns:a16="http://schemas.microsoft.com/office/drawing/2014/main" id="{00977F6E-06BD-4F69-B50A-8B4FF19E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50" y="2243200"/>
            <a:ext cx="6835500" cy="10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5" name="Google Shape;105;p16">
            <a:extLst xmlns:a="http://schemas.openxmlformats.org/drawingml/2006/main">
              <a:ext uri="{FF2B5EF4-FFF2-40B4-BE49-F238E27FC236}">
                <a16:creationId xmlns:a16="http://schemas.microsoft.com/office/drawing/2014/main" id="{D2949730-BD55-4BF3-BBFC-6E5FE4B0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950" y="307250"/>
            <a:ext cx="5274600" cy="440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118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>
            <a:extLst xmlns:a="http://schemas.openxmlformats.org/drawingml/2006/main">
              <a:ext uri="{FF2B5EF4-FFF2-40B4-BE49-F238E27FC236}">
                <a16:creationId xmlns:a16="http://schemas.microsoft.com/office/drawing/2014/main" id="{F13DDDC3-A153-40E4-AECE-B6B45A3C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425" y="2440350"/>
            <a:ext cx="823800" cy="26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6">
            <a:extLst xmlns:a="http://schemas.openxmlformats.org/drawingml/2006/main">
              <a:ext uri="{FF2B5EF4-FFF2-40B4-BE49-F238E27FC236}">
                <a16:creationId xmlns:a16="http://schemas.microsoft.com/office/drawing/2014/main" id="{58CCA452-009B-4C6F-86C5-57015348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3875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25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One covenant,</a:t>
            </a:r>
            <a:endParaRPr sz="29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255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three users</a:t>
            </a:r>
            <a:endParaRPr sz="29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08" name="Google Shape;108;p16">
            <a:extLst xmlns:a="http://schemas.openxmlformats.org/drawingml/2006/main">
              <a:ext uri="{FF2B5EF4-FFF2-40B4-BE49-F238E27FC236}">
                <a16:creationId xmlns:a16="http://schemas.microsoft.com/office/drawing/2014/main" id="{DC2BDDC7-0AF5-4DE6-B407-716528B1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450" y="525450"/>
            <a:ext cx="4782900" cy="389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marL="0" indent="0" algn="l">
              <a:lnSpc>
                <a:spcPct val="108000"/>
              </a:lnSpc>
              <a:spcAft>
                <a:spcPts val="14"/>
              </a:spcAft>
              <a:buNone/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01  SPONSOR</a:t>
            </a:r>
            <a:b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</a:b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Locks PUSD. Keeps cancel control.</a:t>
            </a:r>
          </a:p>
          <a:p xmlns:a="http://schemas.openxmlformats.org/drawingml/2006/main">
            <a:pPr marL="0" indent="0" algn="l">
              <a:lnSpc>
                <a:spcPct val="108000"/>
              </a:lnSpc>
              <a:spcAft>
                <a:spcPts val="14"/>
              </a:spcAft>
              <a:buNone/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02  WORKER</a:t>
            </a:r>
            <a:b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</a:b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Claims one tranche per period.</a:t>
            </a:r>
          </a:p>
          <a:p xmlns:a="http://schemas.openxmlformats.org/drawingml/2006/main">
            <a:pPr marL="0" indent="0" algn="l">
              <a:lnSpc>
                <a:spcPct val="108000"/>
              </a:lnSpc>
              <a:spcAft>
                <a:spcPts val="14"/>
              </a:spcAft>
              <a:buNone/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03  AGENT</a:t>
            </a:r>
            <a:b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</a:b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Pays a service per request.</a:t>
            </a:r>
          </a:p>
          <a:p xmlns:a="http://schemas.openxmlformats.org/drawingml/2006/main">
            <a:pPr marL="0" indent="0" algn="l">
              <a:lnSpc>
                <a:spcPct val="108000"/>
              </a:lnSpc>
              <a:spcAft>
                <a:spcPts val="0"/>
              </a:spcAft>
              <a:buNone/>
              <a:def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Shared rules: claim(), cancel(), amountPerPeriod, periodBlocks.</a:t>
            </a:r>
          </a:p>
        </p:txBody>
      </p:sp>
      <p:pic>
        <p:nvPicPr>
          <p:cNvPr id="109" name="Google Shape;109;p16">
            <a:extLst xmlns:a="http://schemas.openxmlformats.org/drawingml/2006/main">
              <a:ext uri="{FF2B5EF4-FFF2-40B4-BE49-F238E27FC236}">
                <a16:creationId xmlns:a16="http://schemas.microsoft.com/office/drawing/2014/main" id="{E1910882-B0B1-4213-881A-76FE24AD8F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2cd865f9438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52025" y="3738825"/>
            <a:ext cx="1750650" cy="1750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89409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511CBA1-0DA9-441C-95D7-C8CC34C65ADC}"/>
              </a:ext>
            </a:extLst>
          </p:cNvPr>
          <p:cNvCxnSpPr>
            <a:stCxn xmlns:a="http://schemas.openxmlformats.org/drawingml/2006/main" id="119" idx="3"/>
            <a:endCxn xmlns:a="http://schemas.openxmlformats.org/drawingml/2006/main" id="121" idx="1"/>
          </p:cNvCxnSpPr>
          <p:nvPr/>
        </p:nvCxnSpPr>
        <p:spPr>
          <a:xfrm xmlns:a="http://schemas.openxmlformats.org/drawingml/2006/main">
            <a:off x="5953125" y="2381250"/>
            <a:ext cx="381000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9A6A9"/>
            </a:solidFill>
            <a:prstDash val="solid"/>
            <a:tailEnd type="arrow" w="med" len="med"/>
          </a:ln>
        </p:spPr>
      </p:cxnSp>
      <p:cxnSp>
        <p:nvCxn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01795BE-E5DD-4715-9409-B664DF891702}"/>
              </a:ext>
            </a:extLst>
          </p:cNvPr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 flipV="1">
            <a:off x="5953125" y="1833563"/>
            <a:ext cx="381000" cy="5476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AC18E"/>
            </a:solidFill>
            <a:prstDash val="solid"/>
            <a:tailEnd type="arrow" w="med" len="med"/>
          </a:ln>
        </p:spPr>
      </p:cxnSp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F24E308-DCEC-44D6-8E5B-9930D827FE22}"/>
              </a:ext>
            </a:extLst>
          </p:cNvPr>
          <p:cNvCxnSpPr>
            <a:stCxn xmlns:a="http://schemas.openxmlformats.org/drawingml/2006/main" id="118" idx="3"/>
            <a:endCxn xmlns:a="http://schemas.openxmlformats.org/drawingml/2006/main" id="119" idx="1"/>
          </p:cNvCxnSpPr>
          <p:nvPr/>
        </p:nvCxnSpPr>
        <p:spPr>
          <a:xfrm xmlns:a="http://schemas.openxmlformats.org/drawingml/2006/main">
            <a:off x="2381250" y="2000250"/>
            <a:ext cx="333375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9A6A9"/>
            </a:solidFill>
            <a:prstDash val="solid"/>
            <a:tailEnd type="arrow" w="med" len="med"/>
          </a:ln>
        </p:spPr>
      </p:cxnSp>
      <p:pic>
        <p:nvPicPr>
          <p:cNvPr id="114" name="Google Shape;114;p17">
            <a:extLst xmlns:a="http://schemas.openxmlformats.org/drawingml/2006/main">
              <a:ext uri="{FF2B5EF4-FFF2-40B4-BE49-F238E27FC236}">
                <a16:creationId xmlns:a16="http://schemas.microsoft.com/office/drawing/2014/main" id="{EDFC7B02-7A67-4FB1-B4B0-FA57FB9D2F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dabe6944e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93450"/>
            <a:ext cx="9144000" cy="495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5" name="Google Shape;115;p17">
            <a:extLst xmlns:a="http://schemas.openxmlformats.org/drawingml/2006/main">
              <a:ext uri="{FF2B5EF4-FFF2-40B4-BE49-F238E27FC236}">
                <a16:creationId xmlns:a16="http://schemas.microsoft.com/office/drawing/2014/main" id="{DF17AB2E-FBB5-4D3D-954A-4345238A32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dbd2ed4d7495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6" name="enforcement-title-bar">
            <a:extLst xmlns:a="http://schemas.openxmlformats.org/drawingml/2006/main">
              <a:ext uri="{FF2B5EF4-FFF2-40B4-BE49-F238E27FC236}">
                <a16:creationId xmlns:a16="http://schemas.microsoft.com/office/drawing/2014/main" id="{A262A8F8-E38A-4C99-AC78-7519D4CC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enforcement-title">
            <a:extLst xmlns:a="http://schemas.openxmlformats.org/drawingml/2006/main">
              <a:ext uri="{FF2B5EF4-FFF2-40B4-BE49-F238E27FC236}">
                <a16:creationId xmlns:a16="http://schemas.microsoft.com/office/drawing/2014/main" id="{63D1254A-5884-4874-9042-BD5D9852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ctr"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2175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The VM checks four things before PUSD moves</a:t>
            </a:r>
          </a:p>
        </p:txBody>
      </p:sp>
      <p:sp>
        <p:nvSpPr>
          <p:cNvPr id="118" name="input-vault">
            <a:extLst xmlns:a="http://schemas.openxmlformats.org/drawingml/2006/main">
              <a:ext uri="{FF2B5EF4-FFF2-40B4-BE49-F238E27FC236}">
                <a16:creationId xmlns:a16="http://schemas.microsoft.com/office/drawing/2014/main" id="{25A5450C-6B4F-4D80-9D77-8BF04FB4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714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0D0F"/>
          </a:solidFill>
          <a:ln xmlns:a="http://schemas.openxmlformats.org/drawingml/2006/main" w="9525">
            <a:solidFill>
              <a:srgbClr val="6F2430"/>
            </a:solidFill>
            <a:prstDash val="solid"/>
          </a:ln>
        </p:spPr>
        <p:txBody>
          <a:bodyPr xmlns:a="http://schemas.openxmlformats.org/drawingml/2006/main" lIns="114300" tIns="95250" rIns="114300" bIns="9525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VAULT UTXO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2.00 PUSD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One input only</a:t>
            </a:r>
          </a:p>
        </p:txBody>
      </p:sp>
      <p:sp>
        <p:nvSpPr>
          <p:cNvPr id="119" name="vm-gates">
            <a:extLst xmlns:a="http://schemas.openxmlformats.org/drawingml/2006/main">
              <a:ext uri="{FF2B5EF4-FFF2-40B4-BE49-F238E27FC236}">
                <a16:creationId xmlns:a16="http://schemas.microsoft.com/office/drawing/2014/main" id="{68F9595D-5F34-4F7B-B638-42EB643E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190625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C">
              <a:alpha val="94000"/>
            </a:srgbClr>
          </a:solidFill>
          <a:ln xmlns:a="http://schemas.openxmlformats.org/drawingml/2006/main" w="19050">
            <a:solidFill>
              <a:srgbClr val="A00A2C"/>
            </a:solidFill>
            <a:prstDash val="solid"/>
          </a:ln>
        </p:spPr>
        <p:txBody>
          <a:bodyPr xmlns:a="http://schemas.openxmlformats.org/drawingml/2006/main" lIns="114300" tIns="95250" rIns="114300" bIns="95250" anchor="ctr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VM REQUIREMENTS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01  category = PUSD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02  0 &lt; amount &lt;= 0.10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03  age &gt;= 2 blocks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04  outputs = 2</a:t>
            </a:r>
          </a:p>
        </p:txBody>
      </p:sp>
      <p:sp>
        <p:nvSpPr>
          <p:cNvPr id="120" name="output-payee">
            <a:extLst xmlns:a="http://schemas.openxmlformats.org/drawingml/2006/main">
              <a:ext uri="{FF2B5EF4-FFF2-40B4-BE49-F238E27FC236}">
                <a16:creationId xmlns:a16="http://schemas.microsoft.com/office/drawing/2014/main" id="{B79C039B-D459-44C7-B569-DA64D72D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143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0D0F"/>
          </a:solidFill>
          <a:ln xmlns:a="http://schemas.openxmlformats.org/drawingml/2006/main" w="9525">
            <a:solidFill>
              <a:srgbClr val="6F2430"/>
            </a:solidFill>
            <a:prstDash val="solid"/>
          </a:ln>
        </p:spPr>
        <p:txBody>
          <a:bodyPr xmlns:a="http://schemas.openxmlformats.org/drawingml/2006/main" lIns="114300" tIns="95250" rIns="114300" bIns="9525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PAYEE TRANCHE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amount PUSD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to the payee</a:t>
            </a:r>
          </a:p>
        </p:txBody>
      </p:sp>
      <p:sp>
        <p:nvSpPr>
          <p:cNvPr id="121" name="output-change">
            <a:extLst xmlns:a="http://schemas.openxmlformats.org/drawingml/2006/main">
              <a:ext uri="{FF2B5EF4-FFF2-40B4-BE49-F238E27FC236}">
                <a16:creationId xmlns:a16="http://schemas.microsoft.com/office/drawing/2014/main" id="{73807978-58C7-41FF-B4AC-68BB93D4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2143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0D0F"/>
          </a:solidFill>
          <a:ln xmlns:a="http://schemas.openxmlformats.org/drawingml/2006/main" w="9525">
            <a:solidFill>
              <a:srgbClr val="6F2430"/>
            </a:solidFill>
            <a:prstDash val="solid"/>
          </a:ln>
        </p:spPr>
        <p:txBody>
          <a:bodyPr xmlns:a="http://schemas.openxmlformats.org/drawingml/2006/main" lIns="114300" tIns="95250" rIns="114300" bIns="95250" anchor="ctr"/>
          <a:lstStyle xmlns:a="http://schemas.openxmlformats.org/drawingml/2006/main">
            <a:def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VAULT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remaining PUSD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same covenant bytecode</a:t>
            </a:r>
          </a:p>
        </p:txBody>
      </p:sp>
      <p:sp>
        <p:nvSpPr>
          <p:cNvPr id="125" name="cancel-rule">
            <a:extLst xmlns:a="http://schemas.openxmlformats.org/drawingml/2006/main">
              <a:ext uri="{FF2B5EF4-FFF2-40B4-BE49-F238E27FC236}">
                <a16:creationId xmlns:a16="http://schemas.microsoft.com/office/drawing/2014/main" id="{56F71848-6AF5-42BA-A505-8B8F36AE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71925"/>
            <a:ext cx="381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0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cancel-path">
            <a:extLst xmlns:a="http://schemas.openxmlformats.org/drawingml/2006/main">
              <a:ext uri="{FF2B5EF4-FFF2-40B4-BE49-F238E27FC236}">
                <a16:creationId xmlns:a16="http://schemas.microsoft.com/office/drawing/2014/main" id="{29B0B5E6-3513-4029-BB47-FBC751EF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52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rPr>
              <a:t>PAYER CANCEL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rPr>
              <a:t>Sweeps 100% of the remaining PUSD.</a:t>
            </a:r>
          </a:p>
        </p:txBody>
      </p:sp>
      <p:sp>
        <p:nvSpPr>
          <p:cNvPr id="127" name="claims-cannot-empty">
            <a:extLst xmlns:a="http://schemas.openxmlformats.org/drawingml/2006/main">
              <a:ext uri="{FF2B5EF4-FFF2-40B4-BE49-F238E27FC236}">
                <a16:creationId xmlns:a16="http://schemas.microsoft.com/office/drawing/2014/main" id="{681899A1-DB52-4F34-AB9D-3AA3A12B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defPPr>
            <a:lvl1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1pPr>
            <a:lvl2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2pPr>
            <a:lvl3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3pPr>
            <a:lvl4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4pPr>
            <a:lvl5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5pPr>
            <a:lvl6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6pPr>
            <a:lvl7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7pPr>
            <a:lvl8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8pPr>
            <a:lvl9pPr algn="r"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E6D8DA"/>
                </a:solidFill>
                <a:latin typeface="Montserrat"/>
                <a:ea typeface="Montserrat"/>
                <a:cs typeface="Montserrat"/>
              </a:rPr>
              <a:t>Claims cannot empty the vault.</a:t>
            </a:r>
          </a:p>
        </p:txBody>
      </p:sp>
    </p:spTree>
    <p:extLst>
      <p:ext uri="{BB962C8B-B14F-4D97-AF65-F5344CB8AC3E}">
        <p14:creationId xmlns:p14="http://schemas.microsoft.com/office/powerpoint/2010/main" val="186105001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90607"/>
            </a:gs>
            <a:gs pos="68000">
              <a:srgbClr val="17090C"/>
            </a:gs>
            <a:gs pos="100000">
              <a:srgbClr val="240B10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8">
            <a:extLst xmlns:a="http://schemas.openxmlformats.org/drawingml/2006/main">
              <a:ext uri="{FF2B5EF4-FFF2-40B4-BE49-F238E27FC236}">
                <a16:creationId xmlns:a16="http://schemas.microsoft.com/office/drawing/2014/main" id="{BD9A2919-4C24-44E1-B4A3-35A82F79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50" y="2243200"/>
            <a:ext cx="6835500" cy="10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B624B27B-3ABE-4D2B-BE91-B4158675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3950" y="307250"/>
            <a:ext cx="5274600" cy="4403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118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925A9B6B-EB9A-4865-9FE2-7AE7D467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425" y="2440350"/>
            <a:ext cx="823800" cy="26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8">
            <a:extLst xmlns:a="http://schemas.openxmlformats.org/drawingml/2006/main">
              <a:ext uri="{FF2B5EF4-FFF2-40B4-BE49-F238E27FC236}">
                <a16:creationId xmlns:a16="http://schemas.microsoft.com/office/drawing/2014/main" id="{FE17AF36-5A5B-483C-A394-9FD50DFA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00" y="525450"/>
            <a:ext cx="2088000" cy="138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l"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33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Why BCH</a:t>
            </a:r>
            <a:endParaRPr sz="29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27" name="why-bch-rule">
            <a:extLst xmlns:a="http://schemas.openxmlformats.org/drawingml/2006/main">
              <a:ext uri="{FF2B5EF4-FFF2-40B4-BE49-F238E27FC236}">
                <a16:creationId xmlns:a16="http://schemas.microsoft.com/office/drawing/2014/main" id="{12373841-88C1-40A0-B4DC-BE8E2A59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3875"/>
            <a:ext cx="381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why-bch-label">
            <a:extLst xmlns:a="http://schemas.openxmlformats.org/drawingml/2006/main">
              <a:ext uri="{FF2B5EF4-FFF2-40B4-BE49-F238E27FC236}">
                <a16:creationId xmlns:a16="http://schemas.microsoft.com/office/drawing/2014/main" id="{F7EDA6C9-4D79-4A75-BA7B-BB614137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38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D08C98"/>
                </a:solidFill>
                <a:latin typeface="Montserrat"/>
                <a:ea typeface="Montserrat"/>
                <a:cs typeface="Montserrat"/>
              </a:rPr>
              <a:t>WHY BCH</a:t>
            </a:r>
          </a:p>
        </p:txBody>
      </p:sp>
      <p:sp>
        <p:nvSpPr>
          <p:cNvPr id="129" name="why-bch-points">
            <a:extLst xmlns:a="http://schemas.openxmlformats.org/drawingml/2006/main">
              <a:ext uri="{FF2B5EF4-FFF2-40B4-BE49-F238E27FC236}">
                <a16:creationId xmlns:a16="http://schemas.microsoft.com/office/drawing/2014/main" id="{C177A9AA-7712-45C0-84F1-02F96174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838200"/>
            <a:ext cx="4095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01  Sub-cent settlement makes $0.01 calls practical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02  CashTokens conserve PUSD on chain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03  Relative timelocks enforce the period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04  WizardConnect keeps keys in the wallet</a:t>
            </a:r>
          </a:p>
        </p:txBody>
      </p:sp>
      <p:sp>
        <p:nvSpPr>
          <p:cNvPr id="130" name="product-path-rule">
            <a:extLst xmlns:a="http://schemas.openxmlformats.org/drawingml/2006/main">
              <a:ext uri="{FF2B5EF4-FFF2-40B4-BE49-F238E27FC236}">
                <a16:creationId xmlns:a16="http://schemas.microsoft.com/office/drawing/2014/main" id="{59E27DBD-20E2-46FF-83B8-F55917EA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71750"/>
            <a:ext cx="381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C1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product-path-label">
            <a:extLst xmlns:a="http://schemas.openxmlformats.org/drawingml/2006/main">
              <a:ext uri="{FF2B5EF4-FFF2-40B4-BE49-F238E27FC236}">
                <a16:creationId xmlns:a16="http://schemas.microsoft.com/office/drawing/2014/main" id="{8246A867-CE2B-4295-9E6C-BEC21E05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71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8AE6C6"/>
                </a:solidFill>
                <a:latin typeface="Montserrat"/>
                <a:ea typeface="Montserrat"/>
                <a:cs typeface="Montserrat"/>
              </a:rPr>
              <a:t>PRODUCT PATH</a:t>
            </a:r>
          </a:p>
        </p:txBody>
      </p:sp>
      <p:sp>
        <p:nvSpPr>
          <p:cNvPr id="132" name="product-path-points">
            <a:extLst xmlns:a="http://schemas.openxmlformats.org/drawingml/2006/main">
              <a:ext uri="{FF2B5EF4-FFF2-40B4-BE49-F238E27FC236}">
                <a16:creationId xmlns:a16="http://schemas.microsoft.com/office/drawing/2014/main" id="{2BBF17E3-97F9-4BE2-B514-A2088268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886075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Hosted budget console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Provider SDK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Agent billing gateway</a:t>
            </a:r>
          </a:p>
        </p:txBody>
      </p:sp>
      <p:sp>
        <p:nvSpPr>
          <p:cNvPr id="133" name="product-path-note">
            <a:extLst xmlns:a="http://schemas.openxmlformats.org/drawingml/2006/main">
              <a:ext uri="{FF2B5EF4-FFF2-40B4-BE49-F238E27FC236}">
                <a16:creationId xmlns:a16="http://schemas.microsoft.com/office/drawing/2014/main" id="{AF2C6AFD-E339-4D2C-AB2A-3A7FF604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957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defPPr>
            <a:lvl1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1pPr>
            <a:lvl2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2pPr>
            <a:lvl3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3pPr>
            <a:lvl4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4pPr>
            <a:lvl5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5pPr>
            <a:lvl6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6pPr>
            <a:lvl7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7pPr>
            <a:lvl8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8pPr>
            <a:lvl9pPr algn="l"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B9A6A9"/>
                </a:solidFill>
                <a:latin typeface="Montserrat"/>
                <a:ea typeface="Montserrat"/>
                <a:cs typeface="Montserrat"/>
              </a:rPr>
              <a:t>No protocol fee in the covenant.</a:t>
            </a:r>
          </a:p>
        </p:txBody>
      </p:sp>
    </p:spTree>
    <p:extLst>
      <p:ext uri="{BB962C8B-B14F-4D97-AF65-F5344CB8AC3E}">
        <p14:creationId xmlns:p14="http://schemas.microsoft.com/office/powerpoint/2010/main" val="15200568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E6ED4DE4-4B9D-474C-8D9F-BD9485FFA0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c974483c3449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C93C887C-246E-47F1-98D5-27A108B6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50" y="2243200"/>
            <a:ext cx="6835500" cy="10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C662FA92-4226-4E1E-843D-C5BC0DEB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62050"/>
            <a:ext cx="685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def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defPPr>
            <a:lvl1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algn="ctr"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4500" b="1">
                <a:solidFill>
                  <a:srgbClr val="FFFFFF"/>
                </a:solidFill>
                <a:latin typeface="Roboto"/>
                <a:ea typeface="Roboto"/>
                <a:cs typeface="Roboto"/>
              </a:defRPr>
            </a:pPr>
            <a:r>
              <a:rPr sz="4500" b="1">
                <a:solidFill>
                  <a:srgbClr val="FFFFFF"/>
                </a:solidFill>
                <a:latin typeface="Roboto"/>
                <a:ea typeface="Roboto"/>
                <a:cs typeface="Roboto"/>
              </a:rPr>
              <a:t>StreamVault.cash</a:t>
            </a:r>
            <a:endParaRPr sz="7700" b="1">
              <a:solidFill>
                <a:schemeClr val="lt1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C44366B-BD08-493B-811A-11929120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125" y="4247925"/>
            <a:ext cx="1780200" cy="1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C6D056EE-E7DE-4CF6-9084-8B613A17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750" y="4572000"/>
            <a:ext cx="1336500" cy="29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43" name="Google Shape;143;p19">
            <a:extLst xmlns:a="http://schemas.openxmlformats.org/drawingml/2006/main">
              <a:ext uri="{FF2B5EF4-FFF2-40B4-BE49-F238E27FC236}">
                <a16:creationId xmlns:a16="http://schemas.microsoft.com/office/drawing/2014/main" id="{4C486A31-3D3D-40E3-AFEE-112F2503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675" y="4587250"/>
            <a:ext cx="983700" cy="29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44" name="Google Shape;144;p19">
            <a:extLst xmlns:a="http://schemas.openxmlformats.org/drawingml/2006/main">
              <a:ext uri="{FF2B5EF4-FFF2-40B4-BE49-F238E27FC236}">
                <a16:creationId xmlns:a16="http://schemas.microsoft.com/office/drawing/2014/main" id="{46E740A5-88BF-4AD6-8866-7ED9E662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36475" y="1531850"/>
            <a:ext cx="3711900" cy="260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2"/>
              </a:solidFill>
            </a:endParaRPr>
          </a:p>
        </p:txBody>
      </p:sp>
      <p:sp>
        <p:nvSpPr>
          <p:cNvPr id="145" name="cta-tagline">
            <a:extLst xmlns:a="http://schemas.openxmlformats.org/drawingml/2006/main">
              <a:ext uri="{FF2B5EF4-FFF2-40B4-BE49-F238E27FC236}">
                <a16:creationId xmlns:a16="http://schemas.microsoft.com/office/drawing/2014/main" id="{38D78AD0-501C-43A0-B6A0-8E318BB4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43125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Give an AI an allowance,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not your bank account.</a:t>
            </a:r>
          </a:p>
        </p:txBody>
      </p:sp>
      <p:sp>
        <p:nvSpPr>
          <p:cNvPr id="146" name="cta-rule">
            <a:extLst xmlns:a="http://schemas.openxmlformats.org/drawingml/2006/main">
              <a:ext uri="{FF2B5EF4-FFF2-40B4-BE49-F238E27FC236}">
                <a16:creationId xmlns:a16="http://schemas.microsoft.com/office/drawing/2014/main" id="{7BC6B0D5-AA4B-4E29-9B41-6F3DE93B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52750"/>
            <a:ext cx="295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06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cta-links">
            <a:extLst xmlns:a="http://schemas.openxmlformats.org/drawingml/2006/main">
              <a:ext uri="{FF2B5EF4-FFF2-40B4-BE49-F238E27FC236}">
                <a16:creationId xmlns:a16="http://schemas.microsoft.com/office/drawing/2014/main" id="{F252C2D4-23FA-47EA-8423-A46EFE3E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8135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F1E3E5"/>
                </a:solidFill>
                <a:latin typeface="Montserrat"/>
                <a:ea typeface="Montserrat"/>
                <a:cs typeface="Montserrat"/>
              </a:rPr>
              <a:t>Live demo   /   Google Slides   /   GitHub</a:t>
            </a:r>
          </a:p>
        </p:txBody>
      </p:sp>
      <p:sp>
        <p:nvSpPr>
          <p:cNvPr id="148" name="cta-address-label">
            <a:extLst xmlns:a="http://schemas.openxmlformats.org/drawingml/2006/main">
              <a:ext uri="{FF2B5EF4-FFF2-40B4-BE49-F238E27FC236}">
                <a16:creationId xmlns:a16="http://schemas.microsoft.com/office/drawing/2014/main" id="{04AC154C-A2CE-442C-A9E7-A9C626DD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90950"/>
            <a:ext cx="638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defPPr>
            <a:lvl1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1pPr>
            <a:lvl2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2pPr>
            <a:lvl3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3pPr>
            <a:lvl4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4pPr>
            <a:lvl5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5pPr>
            <a:lvl6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6pPr>
            <a:lvl7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7pPr>
            <a:lvl8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8pPr>
            <a:lvl9pPr algn="ctr"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D08C98"/>
                </a:solidFill>
                <a:latin typeface="Montserrat"/>
                <a:ea typeface="Montserrat"/>
                <a:cs typeface="Montserrat"/>
              </a:rPr>
              <a:t>CASHTOKENS (MAINNET)</a:t>
            </a:r>
          </a:p>
        </p:txBody>
      </p:sp>
      <p:sp>
        <p:nvSpPr>
          <p:cNvPr id="149" name="cta-address">
            <a:extLst xmlns:a="http://schemas.openxmlformats.org/drawingml/2006/main">
              <a:ext uri="{FF2B5EF4-FFF2-40B4-BE49-F238E27FC236}">
                <a16:creationId xmlns:a16="http://schemas.microsoft.com/office/drawing/2014/main" id="{B3DBD710-447A-4301-802F-CC3B8892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29075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defPPr>
            <a:lvl1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1pPr>
            <a:lvl2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2pPr>
            <a:lvl3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3pPr>
            <a:lvl4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4pPr>
            <a:lvl5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5pPr>
            <a:lvl6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6pPr>
            <a:lvl7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7pPr>
            <a:lvl8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8pPr>
            <a:lvl9pPr algn="ctr"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defRPr>
            </a:pPr>
            <a:r>
              <a:rPr sz="1275" b="0">
                <a:solidFill>
                  <a:srgbClr val="E6D8DA"/>
                </a:solidFill>
                <a:latin typeface="Roboto Mono"/>
                <a:ea typeface="Roboto Mono"/>
                <a:cs typeface="Roboto Mono"/>
              </a:rPr>
              <a:t>bitcoincash:zzlgvjs8fvqdf43nz9yklcd0eh780x2xd5d9dxrnkv</a:t>
            </a:r>
          </a:p>
        </p:txBody>
      </p:sp>
    </p:spTree>
    <p:extLst>
      <p:ext uri="{BB962C8B-B14F-4D97-AF65-F5344CB8AC3E}">
        <p14:creationId xmlns:p14="http://schemas.microsoft.com/office/powerpoint/2010/main" val="1471564486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2026-10-18T16:22:24.6110000Z</dcterms:created>
  <dcterms:modified xsi:type="dcterms:W3CDTF">2026-10-18T16:22:24.6110000Z</dcterms:modified>
</coreProperties>
</file>