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8f30874327004741" Type="http://schemas.openxmlformats.org/officeDocument/2006/relationships/officeDocument" Target="ppt/presentation.xml"/><Relationship Id="R9ee7fddea45749ff" Type="http://schemas.openxmlformats.org/officeDocument/2006/relationships/extended-properties" Target="docProps/app.xml"/><Relationship Id="Rafd1493748524ab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0969acb1e4a44"/>
  </p:sldMasterIdLst>
  <p:notesMasterIdLst>
    <p:notesMasterId xmlns:r="http://schemas.openxmlformats.org/officeDocument/2006/relationships" r:id="Rf386d95813a44dce"/>
  </p:notesMasterIdLst>
  <p:sldIdLst>
    <p:sldId xmlns:r="http://schemas.openxmlformats.org/officeDocument/2006/relationships" id="256" r:id="R6ba43e5eceb2422f"/>
    <p:sldId xmlns:r="http://schemas.openxmlformats.org/officeDocument/2006/relationships" id="257" r:id="R8f22625503a14570"/>
    <p:sldId xmlns:r="http://schemas.openxmlformats.org/officeDocument/2006/relationships" id="258" r:id="R49841ba227a14ca8"/>
    <p:sldId xmlns:r="http://schemas.openxmlformats.org/officeDocument/2006/relationships" id="259" r:id="R1318275c9b8a4f8b"/>
    <p:sldId xmlns:r="http://schemas.openxmlformats.org/officeDocument/2006/relationships" id="260" r:id="Rdf0cb0edf37248fd"/>
    <p:sldId xmlns:r="http://schemas.openxmlformats.org/officeDocument/2006/relationships" id="261" r:id="Rfc1f982f976a4f8f"/>
    <p:sldId xmlns:r="http://schemas.openxmlformats.org/officeDocument/2006/relationships" id="262" r:id="R1c972b071036436a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<?xml version='1.0' encoding='UTF-8' standalone='yes'?>
<Relationships xmlns="http://schemas.openxmlformats.org/package/2006/relationships"><Relationship Id="R0058ace52dad47bd" Type="http://schemas.openxmlformats.org/officeDocument/2006/relationships/viewProps" Target="viewProps.xml"/><Relationship Id="R1318275c9b8a4f8b" Type="http://schemas.openxmlformats.org/officeDocument/2006/relationships/slide" Target="slides/slide4.xml"/><Relationship Id="R1c972b071036436a" Type="http://schemas.openxmlformats.org/officeDocument/2006/relationships/slide" Target="slides/slide7.xml"/><Relationship Id="R2b7ab069377e4b49" Type="http://schemas.openxmlformats.org/officeDocument/2006/relationships/theme" Target="theme/theme1.xml"/><Relationship Id="R2f749f9cbdca4e9e" Type="http://schemas.openxmlformats.org/officeDocument/2006/relationships/tableStyles" Target="tableStyles.xml"/><Relationship Id="R33050d97eaee4ec5" Type="http://schemas.openxmlformats.org/officeDocument/2006/relationships/presProps" Target="presProps.xml"/><Relationship Id="R49841ba227a14ca8" Type="http://schemas.openxmlformats.org/officeDocument/2006/relationships/slide" Target="slides/slide3.xml"/><Relationship Id="R6ba43e5eceb2422f" Type="http://schemas.openxmlformats.org/officeDocument/2006/relationships/slide" Target="slides/slide1.xml"/><Relationship Id="R8f22625503a14570" Type="http://schemas.openxmlformats.org/officeDocument/2006/relationships/slide" Target="slides/slide2.xml"/><Relationship Id="R9cc0969acb1e4a44" Type="http://schemas.openxmlformats.org/officeDocument/2006/relationships/slideMaster" Target="slideMasters/slideMaster1.xml"/><Relationship Id="Rdf0cb0edf37248fd" Type="http://schemas.openxmlformats.org/officeDocument/2006/relationships/slide" Target="slides/slide5.xml"/><Relationship Id="Rf386d95813a44dce" Type="http://schemas.openxmlformats.org/officeDocument/2006/relationships/notesMaster" Target="notesMasters/notesMaster1.xml"/><Relationship Id="Rfc1f982f976a4f8f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086237575ddb45a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d5feddc7175d4e63" Type="http://schemas.openxmlformats.org/officeDocument/2006/relationships/slide" Target="../slides/slide1.xml"/><Relationship Id="Redddf1dbfe32408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b0e768265ace4879" Type="http://schemas.openxmlformats.org/officeDocument/2006/relationships/notesMaster" Target="../notesMasters/notesMaster1.xml"/><Relationship Id="Rf918261383bf476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b84a4a155fe4ead" Type="http://schemas.openxmlformats.org/officeDocument/2006/relationships/slide" Target="../slides/slide3.xml"/><Relationship Id="Rdfd33dad14ce4e7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9922fa2e236452a" Type="http://schemas.openxmlformats.org/officeDocument/2006/relationships/notesMaster" Target="../notesMasters/notesMaster1.xml"/><Relationship Id="Ra8c7f61fe1ff4d2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26d5daa23b94429" Type="http://schemas.openxmlformats.org/officeDocument/2006/relationships/notesMaster" Target="../notesMasters/notesMaster1.xml"/><Relationship Id="Rfebcb7781e7f4bc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e9567538292474e" Type="http://schemas.openxmlformats.org/officeDocument/2006/relationships/notesMaster" Target="../notesMasters/notesMaster1.xml"/><Relationship Id="R7db5e2f7a2c14a6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b38b9c6c02e44a96" Type="http://schemas.openxmlformats.org/officeDocument/2006/relationships/slide" Target="../slides/slide7.xml"/><Relationship Id="Rdc3f60c5730d43d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demo: https://streamvault-cash.vercel.app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Repository: https://github.com/juangh123/streamvault.cash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Baseline: https://github.com/juangh123/streamvault.cash/tree/v0-prehackathon-baseline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StreamVault combines CashScript covenants, relative timelocks and CashTokens. Demo: https://streamvault-cash.vercel.app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cap is enforced by claim() in the CashScript covenant, not by application code. See docs/STREAM_MECHANICS.md.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covenant supports payroll, subscriptions and agent allowances. See README.md and docs/PRD.md.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v1.2 covenant passes 21 real BCH VM tests, including over-limit, early claim, wrong destination, third output, category mismatch and BCH-buffer drain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BCH: sub-cent fees, CashTokens conservation, relative timelocks and WizardConnect.</a:t>
            </a:r>
          </a:p>
          <a:p xmlns:a="http://schemas.openxmlformats.org/drawingml/2006/main">
            <a:r>
              <a:t>Who pays: agent builders pay for the hosted budget console; API and MCP tool providers integrate the SDK and verifier to sell $0.01 PUSD calls; the hosted gateway charges a small fee per verified call. The covenant has no protocol fee, so self-hosting stays free.</a:t>
            </a:r>
          </a:p>
          <a:p xmlns:a="http://schemas.openxmlformats.org/drawingml/2006/main">
            <a:r>
              <a:t>PUSD category: 2469acc5afa4b10cb5b5c04afb89c3a3ffd61c5da9c01e26d00951cae2a02544.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https://streamvault-cash.vercel.app</a:t>
            </a:r>
          </a:p>
          <a:p xmlns:a="http://schemas.openxmlformats.org/drawingml/2006/main">
            <a:r>
              <a:t>Deck PDF: https://streamvault-cash.vercel.app/StreamVault-BCH-Blaze-2026.pdf</a:t>
            </a:r>
          </a:p>
          <a:p xmlns:a="http://schemas.openxmlformats.org/drawingml/2006/main">
            <a:r>
              <a:t>Repository: https://github.com/juangh123/streamvault.cash</a:t>
            </a:r>
          </a:p>
          <a:p xmlns:a="http://schemas.openxmlformats.org/drawingml/2006/main">
            <a:r>
              <a:t>CashTokens receiving address: bitcoincash:zzlgvjs8fvqdf43nz9yklcd0eh780x2xd5d9dxrnkv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d19f2a208604ca4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c2669ff7bf88492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de3106e236a470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882c504af0545c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17edeeea364cf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1915b09b6fe4f8b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d374f5742d941c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af8336212ba4460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17a230e6f8b94b7a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e244a1d922d3413d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14d7114546d4460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3E57982-C5DA-4FB1-9427-296291C189B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60383" y="16888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A209540-B106-4EA3-B47D-9747B33515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D67AC60-EDB4-457E-BCF8-828AD12F67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71D88E54-F66B-4F4E-B446-EB8641859B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43125" y="426975"/>
            <a:ext cx="2241600" cy="24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AB75424-A276-4158-B2CF-AE0593A3B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00036096-AD7E-4B55-9C8A-3AF7FB8B1D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E7199F50-8526-426A-BC84-8EF01EAC4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A9EE6B79-C7FC-4B7A-9322-D4476749E6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E6521F8E-8F0D-4996-AA91-AAFB2A6A5D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ECCFF8A7-6FE8-4BB0-B100-CEF6E1FD9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58DC35DB-2820-4B8B-B954-B3C52AD07A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282F75BB-668C-451F-82A5-458DFAE614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758B4CF8-34F9-406B-AF54-803643E0B8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EF92629-B8A9-44B1-B60A-E07BCBCD9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6">
            <a:extLst xmlns:a="http://schemas.openxmlformats.org/drawingml/2006/main">
              <a:ext uri="{FF2B5EF4-FFF2-40B4-BE49-F238E27FC236}">
                <a16:creationId xmlns:a16="http://schemas.microsoft.com/office/drawing/2014/main" id="{AAEF36FE-EC37-4949-BA5F-19008A508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F190478-776E-494B-9222-749193D96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22030E95-AB72-4542-BE60-22FA309A1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7">
            <a:extLst xmlns:a="http://schemas.openxmlformats.org/drawingml/2006/main">
              <a:ext uri="{FF2B5EF4-FFF2-40B4-BE49-F238E27FC236}">
                <a16:creationId xmlns:a16="http://schemas.microsoft.com/office/drawing/2014/main" id="{EF64EC07-734E-4CEE-8858-E6C7FF181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AB99CDEF-32F8-4C86-BD87-27F03907A9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5" name="Google Shape;35;p8">
            <a:extLst xmlns:a="http://schemas.openxmlformats.org/drawingml/2006/main">
              <a:ext uri="{FF2B5EF4-FFF2-40B4-BE49-F238E27FC236}">
                <a16:creationId xmlns:a16="http://schemas.microsoft.com/office/drawing/2014/main" id="{CD74232C-686C-4A65-9C18-D1A324BC85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BE3C3F6-55FA-4387-8B00-79BCD9A3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B921AED9-7DA7-48B6-8E1A-85F0AD390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519E2E79-D309-4F63-885C-58062046A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81A295DD-D110-488F-B425-6027823C1A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936051BB-0BF9-4D1C-857A-E44FD4008A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33753386-3B04-4A45-9466-BE192A66A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93AC7B5F-9727-47D7-BE4B-844978759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CAF5BA0-C676-4B7F-BD3E-BB2B83A10F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300FED47-CFCC-4E3A-92D3-EFDC01C4A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BEA1D28D-BD48-47C4-A539-90021DECD0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69CA1CF3-9ADA-4E76-9339-69B2BC3D11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2aec194d89f448f" Type="http://schemas.openxmlformats.org/officeDocument/2006/relationships/slideLayout" Target="../slideLayouts/slideLayout7.xml"/><Relationship Id="R269b377c9a57437e" Type="http://schemas.openxmlformats.org/officeDocument/2006/relationships/theme" Target="theme/theme2.xml"/><Relationship Id="R271c8d23d6264e7c" Type="http://schemas.openxmlformats.org/officeDocument/2006/relationships/slideLayout" Target="../slideLayouts/slideLayout4.xml"/><Relationship Id="R530922ae8cae4b8f" Type="http://schemas.openxmlformats.org/officeDocument/2006/relationships/slideLayout" Target="../slideLayouts/slideLayout5.xml"/><Relationship Id="R60f3b520c37641c5" Type="http://schemas.openxmlformats.org/officeDocument/2006/relationships/slideLayout" Target="../slideLayouts/slideLayout6.xml"/><Relationship Id="R67efb67f8d4243df" Type="http://schemas.openxmlformats.org/officeDocument/2006/relationships/slideLayout" Target="../slideLayouts/slideLayout1.xml"/><Relationship Id="R9acae51bad6b4f40" Type="http://schemas.openxmlformats.org/officeDocument/2006/relationships/slideLayout" Target="../slideLayouts/slideLayout9.xml"/><Relationship Id="R9e784992bd254044" Type="http://schemas.openxmlformats.org/officeDocument/2006/relationships/slideLayout" Target="../slideLayouts/slideLayout10.xml"/><Relationship Id="Rc5259df8031d4847" Type="http://schemas.openxmlformats.org/officeDocument/2006/relationships/slideLayout" Target="../slideLayouts/slideLayout11.xml"/><Relationship Id="Rd0cf0e2b71a245ee" Type="http://schemas.openxmlformats.org/officeDocument/2006/relationships/slideLayout" Target="../slideLayouts/slideLayout8.xml"/><Relationship Id="Re626658040ed4634" Type="http://schemas.openxmlformats.org/officeDocument/2006/relationships/slideLayout" Target="../slideLayouts/slideLayout2.xml"/><Relationship Id="Re82d89c2c6f84873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9E6FB78-AFC6-49E3-91D6-326C52AD5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2E90EF0-54CF-4BCC-AB9F-8219A953F9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6FE7135-478F-4950-9973-A0835A8B95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fb67f8d4243df"/>
    <p:sldLayoutId xmlns:r="http://schemas.openxmlformats.org/officeDocument/2006/relationships" id="2147483650" r:id="Re626658040ed4634"/>
    <p:sldLayoutId xmlns:r="http://schemas.openxmlformats.org/officeDocument/2006/relationships" id="2147483651" r:id="Re82d89c2c6f84873"/>
    <p:sldLayoutId xmlns:r="http://schemas.openxmlformats.org/officeDocument/2006/relationships" id="2147483652" r:id="R271c8d23d6264e7c"/>
    <p:sldLayoutId xmlns:r="http://schemas.openxmlformats.org/officeDocument/2006/relationships" id="2147483653" r:id="R530922ae8cae4b8f"/>
    <p:sldLayoutId xmlns:r="http://schemas.openxmlformats.org/officeDocument/2006/relationships" id="2147483654" r:id="R60f3b520c37641c5"/>
    <p:sldLayoutId xmlns:r="http://schemas.openxmlformats.org/officeDocument/2006/relationships" id="2147483655" r:id="R02aec194d89f448f"/>
    <p:sldLayoutId xmlns:r="http://schemas.openxmlformats.org/officeDocument/2006/relationships" id="2147483656" r:id="Rd0cf0e2b71a245ee"/>
    <p:sldLayoutId xmlns:r="http://schemas.openxmlformats.org/officeDocument/2006/relationships" id="2147483657" r:id="R9acae51bad6b4f40"/>
    <p:sldLayoutId xmlns:r="http://schemas.openxmlformats.org/officeDocument/2006/relationships" id="2147483658" r:id="R9e784992bd254044"/>
    <p:sldLayoutId xmlns:r="http://schemas.openxmlformats.org/officeDocument/2006/relationships" id="2147483659" r:id="Rc5259df8031d484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33b18492f248aa" Type="http://schemas.openxmlformats.org/officeDocument/2006/relationships/image" Target="../media/image4.png"/><Relationship Id="R106c56bb3d2b44eb" Type="http://schemas.openxmlformats.org/officeDocument/2006/relationships/image" Target="../media/image5.png"/><Relationship Id="R8d432f2f93fe4751" Type="http://schemas.openxmlformats.org/officeDocument/2006/relationships/image" Target="../media/image2.png"/><Relationship Id="R8f15089c8ae2438d" Type="http://schemas.openxmlformats.org/officeDocument/2006/relationships/image" Target="../media/image.png"/><Relationship Id="R924a2ebd56ce4b70" Type="http://schemas.openxmlformats.org/officeDocument/2006/relationships/image" Target="../media/image6.png"/><Relationship Id="Rdb55cb993e0f40ce" Type="http://schemas.openxmlformats.org/officeDocument/2006/relationships/slideLayout" Target="../slideLayouts/slideLayout1.xml"/><Relationship Id="Reb94ed7145c24c4f" Type="http://schemas.openxmlformats.org/officeDocument/2006/relationships/image" Target="../media/image3.png"/><Relationship Id="Rfb9427badeac486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ff73224b19b4638" Type="http://schemas.openxmlformats.org/officeDocument/2006/relationships/image" Target="../media/image2.png"/><Relationship Id="R5be23277054642a2" Type="http://schemas.openxmlformats.org/officeDocument/2006/relationships/slideLayout" Target="../slideLayouts/slideLayout1.xml"/><Relationship Id="Rb29ef6d67d214a80" Type="http://schemas.openxmlformats.org/officeDocument/2006/relationships/image" Target="../media/image4.png"/><Relationship Id="Rbf14b75ce924459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3493b7b14c04973" Type="http://schemas.openxmlformats.org/officeDocument/2006/relationships/notesSlide" Target="../notesSlides/notesSlide3.xml"/><Relationship Id="Rcceb5e219c52481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83e41ff235f466c" Type="http://schemas.openxmlformats.org/officeDocument/2006/relationships/slideLayout" Target="../slideLayouts/slideLayout1.xml"/><Relationship Id="R854e26d4fe6b4682" Type="http://schemas.openxmlformats.org/officeDocument/2006/relationships/notesSlide" Target="../notesSlides/notesSlide4.xml"/><Relationship Id="Rd83b2cd865f94389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040fb6a7cf5147b5" Type="http://schemas.openxmlformats.org/officeDocument/2006/relationships/notesSlide" Target="../notesSlides/notesSlide5.xml"/><Relationship Id="R50599fdabe6944e7" Type="http://schemas.openxmlformats.org/officeDocument/2006/relationships/image" Target="../media/image2.png"/><Relationship Id="R637dbd2ed4d74956" Type="http://schemas.openxmlformats.org/officeDocument/2006/relationships/image" Target="../media/image4.png"/><Relationship Id="Rb6e10d8b90244ad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a69095f7fc043d0" Type="http://schemas.openxmlformats.org/officeDocument/2006/relationships/notesSlide" Target="../notesSlides/notesSlide6.xml"/><Relationship Id="Rb91cf2eb467a481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3300f1bd4cf43c6" Type="http://schemas.openxmlformats.org/officeDocument/2006/relationships/slideLayout" Target="../slideLayouts/slideLayout1.xml"/><Relationship Id="Rc791398bb8da41a4" Type="http://schemas.openxmlformats.org/officeDocument/2006/relationships/notesSlide" Target="../notesSlides/notesSlide7.xml"/><Relationship Id="Rf90c974483c34496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f15089c8ae2438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5EEC42DA-8703-4738-9222-C208497D5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32f2f93fe475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0C44914E-5B83-45B9-8F84-DFEB9E5CD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4ed7145c24c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48900" y="2873025"/>
            <a:ext cx="7264075" cy="3239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3FBF972A-9EC2-4ECD-BDCD-6C2EB632B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3b18492f248a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F0322A6D-31C1-426D-86D0-E3CA29FE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7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33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055C2683-3852-4F22-BB26-6E4528B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557100" cy="6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2407FB17-0D14-4A7B-BD88-27BDAED5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8" y="4402200"/>
            <a:ext cx="2256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BC73584D-82EE-4AB5-BD9A-5E53BD7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425" y="4402200"/>
            <a:ext cx="14922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Live demo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F35C66E0-7743-4C79-A28B-1382130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00" y="4402200"/>
            <a:ext cx="1752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PUSD on BCH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3876EC62-F5E7-44F4-892E-926FF52F8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c56bb3d2b44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27" y="66125"/>
            <a:ext cx="523850" cy="5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BD24AC87-F108-4EB5-86D7-FF520BF9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50" y="3025350"/>
            <a:ext cx="3982500" cy="8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Team Autonomous Cash: Jason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1AA2A8-327D-402D-9AB7-078CD52048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a2ebd56ce4b70"/>
          <a:stretch xmlns:a="http://schemas.openxmlformats.org/drawingml/2006/main"/>
        </p:blipFill>
        <p:spPr>
          <a:xfrm xmlns:a="http://schemas.openxmlformats.org/drawingml/2006/main">
            <a:off x="4812242" y="1362075"/>
            <a:ext cx="3996267" cy="2247900"/>
          </a:xfrm>
          <a:prstGeom xmlns:a="http://schemas.openxmlformats.org/drawingml/2006/main" prst="rect">
            <a:avLst/>
          </a:prstGeom>
        </p:spPr>
      </p:pic>
      <p:sp>
        <p:nvSpPr>
          <p:cNvPr id="72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618B9D4-D1AF-4F13-94AF-8C85F76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Give an AI an allowance,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not your bank account.</a:t>
            </a:r>
          </a:p>
        </p:txBody>
      </p:sp>
    </p:spTree>
    <p:extLst>
      <p:ext uri="{BB962C8B-B14F-4D97-AF65-F5344CB8AC3E}">
        <p14:creationId xmlns:p14="http://schemas.microsoft.com/office/powerpoint/2010/main" val="681636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4">
            <a:extLst xmlns:a="http://schemas.openxmlformats.org/drawingml/2006/main">
              <a:ext uri="{FF2B5EF4-FFF2-40B4-BE49-F238E27FC236}">
                <a16:creationId xmlns:a16="http://schemas.microsoft.com/office/drawing/2014/main" id="{6CBA31EC-4BFC-4DA7-BEAE-40A4F7C4F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73224b19b463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DA161DA4-AD90-43E2-95F2-7C7EE932D0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ef6d67d214a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4">
            <a:extLst xmlns:a="http://schemas.openxmlformats.org/drawingml/2006/main">
              <a:ext uri="{FF2B5EF4-FFF2-40B4-BE49-F238E27FC236}">
                <a16:creationId xmlns:a16="http://schemas.microsoft.com/office/drawing/2014/main" id="{D28FB8CD-A0E5-4451-9C7D-31D346B3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96696"/>
            <a:ext cx="8321040" cy="2002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Prompts set intent.</a:t>
            </a:r>
            <a:endParaRPr sz="43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transaction enforces the limit.</a:t>
            </a:r>
            <a:endParaRPr sz="35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9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EDC04CE4-4923-4941-8E26-FE5EA4D9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omise-support">
            <a:extLst xmlns:a="http://schemas.openxmlformats.org/drawingml/2006/main">
              <a:ext uri="{FF2B5EF4-FFF2-40B4-BE49-F238E27FC236}">
                <a16:creationId xmlns:a16="http://schemas.microsoft.com/office/drawing/2014/main" id="{D24979D8-CA22-4D45-B96C-F98F6C81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Per-period PUSD budgets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for people and AI agents.</a:t>
            </a:r>
          </a:p>
        </p:txBody>
      </p:sp>
      <p:sp>
        <p:nvSpPr>
          <p:cNvPr id="81" name="promise-url">
            <a:extLst xmlns:a="http://schemas.openxmlformats.org/drawingml/2006/main">
              <a:ext uri="{FF2B5EF4-FFF2-40B4-BE49-F238E27FC236}">
                <a16:creationId xmlns:a16="http://schemas.microsoft.com/office/drawing/2014/main" id="{A34D02C0-AFD4-4874-B051-831625F4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B9A6A9"/>
                </a:solidFill>
                <a:latin typeface="Montserrat"/>
                <a:ea typeface="Montserrat"/>
                <a:cs typeface="Montserrat"/>
              </a:rPr>
              <a:t>streamvault-cash.vercel.app</a:t>
            </a:r>
          </a:p>
        </p:txBody>
      </p:sp>
    </p:spTree>
    <p:extLst>
      <p:ext uri="{BB962C8B-B14F-4D97-AF65-F5344CB8AC3E}">
        <p14:creationId xmlns:p14="http://schemas.microsoft.com/office/powerpoint/2010/main" val="527552504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29B732E7-6438-4C28-84C8-D8323A0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25" y="4652075"/>
            <a:ext cx="20283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C0000"/>
                </a:solidFill>
                <a:latin typeface="Montserrat"/>
                <a:ea typeface="Montserrat"/>
                <a:cs typeface="Montserrat"/>
              </a:rPr>
              <a:t>www.bchblaze.cash</a:t>
            </a:r>
            <a:endParaRPr sz="1300">
              <a:solidFill>
                <a:srgbClr val="CC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B25439D2-F47D-4881-86A3-E530A5B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425625"/>
            <a:ext cx="578880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01C3B497-7949-43C7-B771-1A2CAB1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25" y="339825"/>
            <a:ext cx="5341800" cy="59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trust gap</a:t>
            </a:r>
            <a:endParaRPr sz="2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" name="trust-rule-1">
            <a:extLst xmlns:a="http://schemas.openxmlformats.org/drawingml/2006/main">
              <a:ext uri="{FF2B5EF4-FFF2-40B4-BE49-F238E27FC236}">
                <a16:creationId xmlns:a16="http://schemas.microsoft.com/office/drawing/2014/main" id="{CF14A204-D417-46E3-B21A-106409A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B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rust-label-1">
            <a:extLst xmlns:a="http://schemas.openxmlformats.org/drawingml/2006/main">
              <a:ext uri="{FF2B5EF4-FFF2-40B4-BE49-F238E27FC236}">
                <a16:creationId xmlns:a16="http://schemas.microsoft.com/office/drawing/2014/main" id="{188F3259-3477-45F2-8828-8AD3AA3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B6B6E"/>
                </a:solidFill>
                <a:latin typeface="Montserrat"/>
                <a:ea typeface="Montserrat"/>
                <a:cs typeface="Montserrat"/>
              </a:rPr>
              <a:t>PROMPT CAP</a:t>
            </a:r>
          </a:p>
        </p:txBody>
      </p:sp>
      <p:sp>
        <p:nvSpPr>
          <p:cNvPr id="98" name="trust-headline-1">
            <a:extLst xmlns:a="http://schemas.openxmlformats.org/drawingml/2006/main">
              <a:ext uri="{FF2B5EF4-FFF2-40B4-BE49-F238E27FC236}">
                <a16:creationId xmlns:a16="http://schemas.microsoft.com/office/drawing/2014/main" id="{215328B6-E71C-4577-9A31-929FD587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Can be ignored</a:t>
            </a:r>
          </a:p>
        </p:txBody>
      </p:sp>
      <p:sp>
        <p:nvSpPr>
          <p:cNvPr id="99" name="trust-body-1">
            <a:extLst xmlns:a="http://schemas.openxmlformats.org/drawingml/2006/main">
              <a:ext uri="{FF2B5EF4-FFF2-40B4-BE49-F238E27FC236}">
                <a16:creationId xmlns:a16="http://schemas.microsoft.com/office/drawing/2014/main" id="{DEEDD970-9257-47E3-975D-27CB725A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A natural-language instruction is not a transaction rule.</a:t>
            </a:r>
          </a:p>
        </p:txBody>
      </p:sp>
      <p:sp>
        <p:nvSpPr>
          <p:cNvPr id="100" name="trust-result-1">
            <a:extLst xmlns:a="http://schemas.openxmlformats.org/drawingml/2006/main">
              <a:ext uri="{FF2B5EF4-FFF2-40B4-BE49-F238E27FC236}">
                <a16:creationId xmlns:a16="http://schemas.microsoft.com/office/drawing/2014/main" id="{14D9CB5C-8E0C-4053-9E1B-38041AD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7B6B6E"/>
                </a:solidFill>
                <a:latin typeface="Montserrat"/>
                <a:ea typeface="Montserrat"/>
                <a:cs typeface="Montserrat"/>
              </a:rPr>
              <a:t>No enforcement</a:t>
            </a:r>
          </a:p>
        </p:txBody>
      </p:sp>
      <p:sp>
        <p:nvSpPr>
          <p:cNvPr id="101" name="trust-rule-2">
            <a:extLst xmlns:a="http://schemas.openxmlformats.org/drawingml/2006/main">
              <a:ext uri="{FF2B5EF4-FFF2-40B4-BE49-F238E27FC236}">
                <a16:creationId xmlns:a16="http://schemas.microsoft.com/office/drawing/2014/main" id="{41F1BAD1-F432-4C77-AB29-D59A7C1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0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trust-label-2">
            <a:extLst xmlns:a="http://schemas.openxmlformats.org/drawingml/2006/main">
              <a:ext uri="{FF2B5EF4-FFF2-40B4-BE49-F238E27FC236}">
                <a16:creationId xmlns:a16="http://schemas.microsoft.com/office/drawing/2014/main" id="{62A37450-F284-43AC-B00F-15177A8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A00A2C"/>
                </a:solidFill>
                <a:latin typeface="Montserrat"/>
                <a:ea typeface="Montserrat"/>
                <a:cs typeface="Montserrat"/>
              </a:rPr>
              <a:t>CUSTODY</a:t>
            </a:r>
          </a:p>
        </p:txBody>
      </p:sp>
      <p:sp>
        <p:nvSpPr>
          <p:cNvPr id="103" name="trust-headline-2">
            <a:extLst xmlns:a="http://schemas.openxmlformats.org/drawingml/2006/main">
              <a:ext uri="{FF2B5EF4-FFF2-40B4-BE49-F238E27FC236}">
                <a16:creationId xmlns:a16="http://schemas.microsoft.com/office/drawing/2014/main" id="{8421233D-7EBE-4883-BC13-1ED4D6C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Can freeze funds</a:t>
            </a:r>
          </a:p>
        </p:txBody>
      </p:sp>
      <p:sp>
        <p:nvSpPr>
          <p:cNvPr id="104" name="trust-body-2">
            <a:extLst xmlns:a="http://schemas.openxmlformats.org/drawingml/2006/main">
              <a:ext uri="{FF2B5EF4-FFF2-40B4-BE49-F238E27FC236}">
                <a16:creationId xmlns:a16="http://schemas.microsoft.com/office/drawing/2014/main" id="{FA9A16A5-F0BE-4FDE-9F75-5A141B72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A third party controls the key and the release path.</a:t>
            </a:r>
          </a:p>
        </p:txBody>
      </p:sp>
      <p:sp>
        <p:nvSpPr>
          <p:cNvPr id="105" name="trust-result-2">
            <a:extLst xmlns:a="http://schemas.openxmlformats.org/drawingml/2006/main">
              <a:ext uri="{FF2B5EF4-FFF2-40B4-BE49-F238E27FC236}">
                <a16:creationId xmlns:a16="http://schemas.microsoft.com/office/drawing/2014/main" id="{DE9A85D1-7E77-4BDD-868D-5D9EFE4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A00A2C"/>
                </a:solidFill>
                <a:latin typeface="Montserrat"/>
                <a:ea typeface="Montserrat"/>
                <a:cs typeface="Montserrat"/>
              </a:rPr>
              <a:t>Counterparty risk</a:t>
            </a:r>
          </a:p>
        </p:txBody>
      </p:sp>
      <p:sp>
        <p:nvSpPr>
          <p:cNvPr id="106" name="trust-rule-3">
            <a:extLst xmlns:a="http://schemas.openxmlformats.org/drawingml/2006/main">
              <a:ext uri="{FF2B5EF4-FFF2-40B4-BE49-F238E27FC236}">
                <a16:creationId xmlns:a16="http://schemas.microsoft.com/office/drawing/2014/main" id="{84C9607D-49ED-4B8D-8D02-329635E0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C1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rust-label-3">
            <a:extLst xmlns:a="http://schemas.openxmlformats.org/drawingml/2006/main">
              <a:ext uri="{FF2B5EF4-FFF2-40B4-BE49-F238E27FC236}">
                <a16:creationId xmlns:a16="http://schemas.microsoft.com/office/drawing/2014/main" id="{2CBAF111-8CFD-42E2-87BD-EE197799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0AC18E"/>
                </a:solidFill>
                <a:latin typeface="Montserrat"/>
                <a:ea typeface="Montserrat"/>
                <a:cs typeface="Montserrat"/>
              </a:rPr>
              <a:t>COVENANT</a:t>
            </a:r>
          </a:p>
        </p:txBody>
      </p:sp>
      <p:sp>
        <p:nvSpPr>
          <p:cNvPr id="108" name="trust-headline-3">
            <a:extLst xmlns:a="http://schemas.openxmlformats.org/drawingml/2006/main">
              <a:ext uri="{FF2B5EF4-FFF2-40B4-BE49-F238E27FC236}">
                <a16:creationId xmlns:a16="http://schemas.microsoft.com/office/drawing/2014/main" id="{3DBCDF6B-FE23-41B2-836E-805A2DF8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VM-enforced</a:t>
            </a:r>
          </a:p>
        </p:txBody>
      </p:sp>
      <p:sp>
        <p:nvSpPr>
          <p:cNvPr id="109" name="trust-body-3">
            <a:extLst xmlns:a="http://schemas.openxmlformats.org/drawingml/2006/main">
              <a:ext uri="{FF2B5EF4-FFF2-40B4-BE49-F238E27FC236}">
                <a16:creationId xmlns:a16="http://schemas.microsoft.com/office/drawing/2014/main" id="{DEFCA14A-EE8B-4407-87F8-E5E23731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D8CBCD"/>
                </a:solidFill>
                <a:latin typeface="Montserrat"/>
                <a:ea typeface="Montserrat"/>
                <a:cs typeface="Montserrat"/>
              </a:rPr>
              <a:t>Category, amount, age and outputs are checked on spend.</a:t>
            </a:r>
          </a:p>
        </p:txBody>
      </p:sp>
      <p:sp>
        <p:nvSpPr>
          <p:cNvPr id="110" name="trust-result-3">
            <a:extLst xmlns:a="http://schemas.openxmlformats.org/drawingml/2006/main">
              <a:ext uri="{FF2B5EF4-FFF2-40B4-BE49-F238E27FC236}">
                <a16:creationId xmlns:a16="http://schemas.microsoft.com/office/drawing/2014/main" id="{7B18FB89-756B-41B3-BCF2-331BB54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AC18E"/>
                </a:solidFill>
                <a:latin typeface="Montserrat"/>
                <a:ea typeface="Montserrat"/>
                <a:cs typeface="Montserrat"/>
              </a:rPr>
              <a:t>Rules execute</a:t>
            </a:r>
          </a:p>
        </p:txBody>
      </p:sp>
      <p:sp>
        <p:nvSpPr>
          <p:cNvPr id="111" name="trust-insight">
            <a:extLst xmlns:a="http://schemas.openxmlformats.org/drawingml/2006/main">
              <a:ext uri="{FF2B5EF4-FFF2-40B4-BE49-F238E27FC236}">
                <a16:creationId xmlns:a16="http://schemas.microsoft.com/office/drawing/2014/main" id="{05409BD4-7DED-419C-9D79-1C63B88D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spending limit must live in the transaction, not the prompt.</a:t>
            </a:r>
          </a:p>
        </p:txBody>
      </p:sp>
    </p:spTree>
    <p:extLst>
      <p:ext uri="{BB962C8B-B14F-4D97-AF65-F5344CB8AC3E}">
        <p14:creationId xmlns:p14="http://schemas.microsoft.com/office/powerpoint/2010/main" val="44856738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00977F6E-06BD-4F69-B50A-8B4FF19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D2949730-BD55-4BF3-BBFC-6E5FE4B0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F13DDDC3-A153-40E4-AECE-B6B45A3C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58CCA452-009B-4C6F-86C5-5701534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3875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covenant,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5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three users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DC2BDDC7-0AF5-4DE6-B407-716528B1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ns0:p xmlns:ns0="http://schemas.openxmlformats.org/drawingml/2006/main">
            <ns0:pPr marL="0" indent="0" algn="l">
              <ns0:lnSpc>
                <ns0:spcPct val="108000"/>
              </ns0:lnSpc>
              <ns0:spcAft>
                <ns0:spcPts val="1400"/>
              </ns0:spcAft>
              <ns0:buNone/>
              <ns0:defRPr sz="1575" b="1">
                <ns0:solidFill>
                  <ns0:srgbClr val="FFFFFF"/>
                </ns0:solidFill>
                <ns0:latin typeface="Montserrat"/>
                <ns0:ea typeface="Montserrat"/>
                <ns0:cs typeface="Montserrat"/>
              </ns0:defRPr>
            </ns0:pPr>
            <ns0:r>
              <ns0:rPr sz="1050">
                <ns0:solidFill>
                  <ns0:srgbClr val="D08C98"/>
                </ns0:solidFill>
              </ns0:rPr>
              <ns0:t>01  SPONSOR</ns0:t>
            </ns0:r>
            <ns0:br/>
            <ns0:r>
              <ns0:rPr sz="1575">
                <ns0:solidFill>
                  <ns0:srgbClr val="FFFFFF"/>
                </ns0:solidFill>
              </ns0:rPr>
              <ns0:t>Locks PUSD. Keeps cancel control.</ns0:t>
            </ns0:r>
          </ns0:p>
          <ns6:p xmlns:ns6="http://schemas.openxmlformats.org/drawingml/2006/main">
            <ns6:pPr marL="0" indent="0" algn="l">
              <ns6:lnSpc>
                <ns6:spcPct val="108000"/>
              </ns6:lnSpc>
              <ns6:spcAft>
                <ns6:spcPts val="1400"/>
              </ns6:spcAft>
              <ns6:buNone/>
              <ns6:defRPr sz="1575" b="1">
                <ns6:solidFill>
                  <ns6:srgbClr val="FFFFFF"/>
                </ns6:solidFill>
                <ns6:latin typeface="Montserrat"/>
                <ns6:ea typeface="Montserrat"/>
                <ns6:cs typeface="Montserrat"/>
              </ns6:defRPr>
            </ns6:pPr>
            <ns6:r>
              <ns6:rPr sz="1050">
                <ns6:solidFill>
                  <ns6:srgbClr val="D08C98"/>
                </ns6:solidFill>
              </ns6:rPr>
              <ns6:t>02  WORKER</ns6:t>
            </ns6:r>
            <ns6:br/>
            <ns6:r>
              <ns6:rPr sz="1575">
                <ns6:solidFill>
                  <ns6:srgbClr val="FFFFFF"/>
                </ns6:solidFill>
              </ns6:rPr>
              <ns6:t>Claims one tranche per period.</ns6:t>
            </ns6:r>
          </ns6:p>
          <ns12:p xmlns:ns12="http://schemas.openxmlformats.org/drawingml/2006/main">
            <ns12:pPr marL="0" indent="0" algn="l">
              <ns12:lnSpc>
                <ns12:spcPct val="108000"/>
              </ns12:lnSpc>
              <ns12:spcAft>
                <ns12:spcPts val="1400"/>
              </ns12:spcAft>
              <ns12:buNone/>
              <ns12:defRPr sz="1575" b="1">
                <ns12:solidFill>
                  <ns12:srgbClr val="FFFFFF"/>
                </ns12:solidFill>
                <ns12:latin typeface="Montserrat"/>
                <ns12:ea typeface="Montserrat"/>
                <ns12:cs typeface="Montserrat"/>
              </ns12:defRPr>
            </ns12:pPr>
            <ns12:r>
              <ns12:rPr sz="1050">
                <ns12:solidFill>
                  <ns12:srgbClr val="D08C98"/>
                </ns12:solidFill>
              </ns12:rPr>
              <ns12:t>03  AGENT</ns12:t>
            </ns12:r>
            <ns12:br/>
            <ns12:r>
              <ns12:rPr sz="1575">
                <ns12:solidFill>
                  <ns12:srgbClr val="FFFFFF"/>
                </ns12:solidFill>
              </ns12:rPr>
              <ns12:t>Pays a service per request.</ns12:t>
            </ns12:r>
          </ns12:p>
          <ns18:p xmlns:ns18="http://schemas.openxmlformats.org/drawingml/2006/main">
            <ns18:pPr marL="0" indent="0" algn="l">
              <ns18:lnSpc>
                <ns18:spcPct val="108000"/>
              </ns18:lnSpc>
              <ns18:spcAft>
                <ns18:spcPts val="0"/>
              </ns18:spcAft>
              <ns18:buNone/>
              <ns18:defRPr sz="1575" b="1">
                <ns18:solidFill>
                  <ns18:srgbClr val="FFFFFF"/>
                </ns18:solidFill>
                <ns18:latin typeface="Montserrat"/>
                <ns18:ea typeface="Montserrat"/>
                <ns18:cs typeface="Montserrat"/>
              </ns18:defRPr>
            </ns18:pPr>
            <ns18:r>
              <ns18:rPr sz="1200">
                <ns18:solidFill>
                  <ns18:srgbClr val="8AE6C6"/>
                </ns18:solidFill>
              </ns18:rPr>
              <ns18:t>Shared rules: claim(), cancel(), amountPerPeriod, periodBlocks.</ns18:t>
            </ns18:r>
          </ns18:p>
        </p:txBody>
      </p:sp>
      <p:pic>
        <p:nvPic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E1910882-B0B1-4213-881A-76FE24AD8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b2cd865f943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covenant-stat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852928"/>
            <a:ext cx="2514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25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ns21:p xmlns:ns21="http://schemas.openxmlformats.org/drawingml/2006/main">
            <ns21:pPr marL="0" lvl="0" indent="0" algn="l">
              <ns21:spcBef>
                <ns21:spcPts val="0"/>
              </ns21:spcBef>
              <ns21:spcAft>
                <ns21:spcPts val="200"/>
              </ns21:spcAft>
              <ns21:buNone/>
              <ns21:defRPr sz="2550" b="1">
                <ns21:solidFill>
                  <ns21:srgbClr val="FFFFFF"/>
                </ns21:solidFill>
                <ns21:latin typeface="Roboto"/>
                <ns21:ea typeface="Roboto"/>
                <ns21:cs typeface="Roboto"/>
              </ns21:defRPr>
            </ns21:pPr>
            <ns21:r>
              <ns21:rPr sz="3000" b="1">
                <ns21:solidFill>
                  <ns21:srgbClr val="FFFFFF"/>
                </ns21:solidFill>
                <ns21:latin typeface="Roboto"/>
                <ns21:ea typeface="Roboto"/>
                <ns21:cs typeface="Roboto"/>
              </ns21:rPr>
              <ns21:t>3</ns21:t>
            </ns21:r>
            <ns21:r>
              <ns21:rPr sz="1300" b="1">
                <ns21:solidFill>
                  <ns21:srgbClr val="FFFFFF"/>
                </ns21:solidFill>
                <ns21:latin typeface="Roboto"/>
                <ns21:ea typeface="Roboto"/>
                <ns21:cs typeface="Roboto"/>
              </ns21:rPr>
              <ns21:t>  spend paths</ns21:t>
            </ns21:r>
          </ns21:p>
          <ns32:p xmlns:ns32="http://schemas.openxmlformats.org/drawingml/2006/main">
            <ns32:pPr marL="0" lvl="0" indent="0" algn="l">
              <ns32:spcBef>
                <ns32:spcPts val="0"/>
              </ns32:spcBef>
              <ns32:spcAft>
                <ns32:spcPts val="1200"/>
              </ns32:spcAft>
              <ns32:buNone/>
              <ns32:defRPr sz="2550" b="1">
                <ns32:solidFill>
                  <ns32:srgbClr val="FFFFFF"/>
                </ns32:solidFill>
                <ns32:latin typeface="Roboto"/>
                <ns32:ea typeface="Roboto"/>
                <ns32:cs typeface="Roboto"/>
              </ns32:defRPr>
            </ns32:pPr>
            <ns32:r>
              <ns32:rPr sz="1000" b="1">
                <ns32:solidFill>
                  <ns32:srgbClr val="D08C98"/>
                </ns32:solidFill>
                <ns32:latin typeface="Montserrat"/>
                <ns32:ea typeface="Montserrat"/>
                <ns32:cs typeface="Montserrat"/>
              </ns32:rPr>
              <ns32:t>claim · topUp · cancel</ns32:t>
            </ns32:r>
          </ns32:p>
          <ns38:p xmlns:ns38="http://schemas.openxmlformats.org/drawingml/2006/main">
            <ns38:pPr marL="0" lvl="0" indent="0" algn="l">
              <ns38:spcBef>
                <ns38:spcPts val="0"/>
              </ns38:spcBef>
              <ns38:spcAft>
                <ns38:spcPts val="200"/>
              </ns38:spcAft>
              <ns38:buNone/>
              <ns38:defRPr sz="2550" b="1">
                <ns38:solidFill>
                  <ns38:srgbClr val="FFFFFF"/>
                </ns38:solidFill>
                <ns38:latin typeface="Roboto"/>
                <ns38:ea typeface="Roboto"/>
                <ns38:cs typeface="Roboto"/>
              </ns38:defRPr>
            </ns38:pPr>
            <ns38:r>
              <ns38:rPr sz="3000" b="1">
                <ns38:solidFill>
                  <ns38:srgbClr val="FFFFFF"/>
                </ns38:solidFill>
                <ns38:latin typeface="Roboto"/>
                <ns38:ea typeface="Roboto"/>
                <ns38:cs typeface="Roboto"/>
              </ns38:rPr>
              <ns38:t>21</ns38:t>
            </ns38:r>
            <ns38:r>
              <ns38:rPr sz="1300" b="1">
                <ns38:solidFill>
                  <ns38:srgbClr val="FFFFFF"/>
                </ns38:solidFill>
                <ns38:latin typeface="Roboto"/>
                <ns38:ea typeface="Roboto"/>
                <ns38:cs typeface="Roboto"/>
              </ns38:rPr>
              <ns38:t>  VM tests</ns38:t>
            </ns38:r>
          </ns38:p>
          <ns49:p xmlns:ns49="http://schemas.openxmlformats.org/drawingml/2006/main">
            <ns49:pPr marL="0" lvl="0" indent="0" algn="l">
              <ns49:spcBef>
                <ns49:spcPts val="0"/>
              </ns49:spcBef>
              <ns49:spcAft>
                <ns49:spcPts val="200"/>
              </ns49:spcAft>
              <ns49:buNone/>
              <ns49:defRPr sz="2550" b="1">
                <ns49:solidFill>
                  <ns49:srgbClr val="FFFFFF"/>
                </ns49:solidFill>
                <ns49:latin typeface="Roboto"/>
                <ns49:ea typeface="Roboto"/>
                <ns49:cs typeface="Roboto"/>
              </ns49:defRPr>
            </ns49:pPr>
            <ns49:r>
              <ns49:rPr sz="1000" b="1">
                <ns49:solidFill>
                  <ns49:srgbClr val="D08C98"/>
                </ns49:solidFill>
                <ns49:latin typeface="Montserrat"/>
                <ns49:ea typeface="Montserrat"/>
                <ns49:cs typeface="Montserrat"/>
              </ns49:rPr>
              <ns49:t>run against the real BCH VM</ns49:t>
            </ns49:r>
          </ns49:p>
        </p:txBody>
      </p:sp>
    </p:spTree>
    <p:extLst>
      <p:ext uri="{BB962C8B-B14F-4D97-AF65-F5344CB8AC3E}">
        <p14:creationId xmlns:p14="http://schemas.microsoft.com/office/powerpoint/2010/main" val="968940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511CBA1-0DA9-441C-95D7-C8CC34C65ADC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5953125" y="2381250"/>
            <a:ext cx="381000" cy="738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A6A9"/>
            </a:solidFill>
            <a:prstDash val="solid"/>
            <a:tailEnd type="arrow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01795BE-E5DD-4715-9409-B664DF891702}"/>
              </a:ext>
            </a:extLst>
          </p:cNvPr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V="1">
            <a:off x="5953125" y="1833563"/>
            <a:ext cx="381000" cy="547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AC18E"/>
            </a:solidFill>
            <a:prstDash val="solid"/>
            <a:tailEnd type="arrow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F24E308-DCEC-44D6-8E5B-9930D827FE22}"/>
              </a:ext>
            </a:extLst>
          </p:cNvPr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381250" y="2000250"/>
            <a:ext cx="333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A6A9"/>
            </a:solidFill>
            <a:prstDash val="solid"/>
            <a:tailEnd type="arrow" w="med" len="med"/>
          </a:ln>
        </p:spPr>
      </p:cxnSp>
      <p:pic>
        <p:nvPic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EDFC7B02-7A67-4FB1-B4B0-FA57FB9D2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99fdabe6944e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DF17AB2E-FBB5-4D3D-954A-4345238A3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dbd2ed4d749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enforcement-title-bar">
            <a:extLst xmlns:a="http://schemas.openxmlformats.org/drawingml/2006/main">
              <a:ext uri="{FF2B5EF4-FFF2-40B4-BE49-F238E27FC236}">
                <a16:creationId xmlns:a16="http://schemas.microsoft.com/office/drawing/2014/main" id="{A262A8F8-E38A-4C99-AC78-7519D4C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nforcement-title">
            <a:extLst xmlns:a="http://schemas.openxmlformats.org/drawingml/2006/main">
              <a:ext uri="{FF2B5EF4-FFF2-40B4-BE49-F238E27FC236}">
                <a16:creationId xmlns:a16="http://schemas.microsoft.com/office/drawing/2014/main" id="{63D1254A-5884-4874-9042-BD5D9852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VM checks four things before PUSD moves</a:t>
            </a:r>
          </a:p>
        </p:txBody>
      </p:sp>
      <p:sp>
        <p:nvSpPr>
          <p:cNvPr id="118" name="input-vault">
            <a:extLst xmlns:a="http://schemas.openxmlformats.org/drawingml/2006/main">
              <a:ext uri="{FF2B5EF4-FFF2-40B4-BE49-F238E27FC236}">
                <a16:creationId xmlns:a16="http://schemas.microsoft.com/office/drawing/2014/main" id="{25A5450C-6B4F-4D80-9D77-8BF04FB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VAULT UTXO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2.00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One input only</a:t>
            </a:r>
          </a:p>
        </p:txBody>
      </p:sp>
      <p:sp>
        <p:nvSpPr>
          <p:cNvPr id="119" name="vm-gates">
            <a:extLst xmlns:a="http://schemas.openxmlformats.org/drawingml/2006/main">
              <a:ext uri="{FF2B5EF4-FFF2-40B4-BE49-F238E27FC236}">
                <a16:creationId xmlns:a16="http://schemas.microsoft.com/office/drawing/2014/main" id="{68F9595D-5F34-4F7B-B638-42EB643E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9062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B0C">
              <a:alpha val="94000"/>
            </a:srgbClr>
          </a:solidFill>
          <a:ln xmlns:a="http://schemas.openxmlformats.org/drawingml/2006/main" w="19050">
            <a:solidFill>
              <a:srgbClr val="A00A2C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VM REQUIREMENTS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category = PUSD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0 &lt; amount &lt;= 0.10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age &gt;= 2 blocks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  outputs = 2</a:t>
            </a:r>
          </a:p>
        </p:txBody>
      </p:sp>
      <p:sp>
        <p:nvSpPr>
          <p:cNvPr id="120" name="output-payee">
            <a:extLst xmlns:a="http://schemas.openxmlformats.org/drawingml/2006/main">
              <a:ext uri="{FF2B5EF4-FFF2-40B4-BE49-F238E27FC236}">
                <a16:creationId xmlns:a16="http://schemas.microsoft.com/office/drawing/2014/main" id="{B79C039B-D459-44C7-B569-DA64D72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381125"/>
            <a:ext cx="2304288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PAYEE TRANCHE</a:t>
            </a:r>
          </a:p>
          <a:p xmlns:a="http://schemas.openxmlformats.org/drawingml/2006/main">
            <a:r>
              <a:rPr sz="1200"/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amount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 the payee</a:t>
            </a:r>
          </a:p>
        </p:txBody>
      </p:sp>
      <p:sp>
        <p:nvSpPr>
          <p:cNvPr id="121" name="output-change">
            <a:extLst xmlns:a="http://schemas.openxmlformats.org/drawingml/2006/main">
              <a:ext uri="{FF2B5EF4-FFF2-40B4-BE49-F238E27FC236}">
                <a16:creationId xmlns:a16="http://schemas.microsoft.com/office/drawing/2014/main" id="{73807978-58C7-41FF-B4AC-68BB93D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667000"/>
            <a:ext cx="2304288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D0F"/>
          </a:solidFill>
          <a:ln xmlns:a="http://schemas.openxmlformats.org/drawingml/2006/main" w="9525">
            <a:solidFill>
              <a:srgbClr val="6F2430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VAULT CHANGE</a:t>
            </a:r>
          </a:p>
          <a:p xmlns:a="http://schemas.openxmlformats.org/drawingml/2006/main">
            <a:r>
              <a:rPr sz="1200"/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remaining PUSD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same covenant bytecode</a:t>
            </a:r>
          </a:p>
        </p:txBody>
      </p:sp>
      <p:sp>
        <p:nvSpPr>
          <p:cNvPr id="125" name="cancel-rule">
            <a:extLst xmlns:a="http://schemas.openxmlformats.org/drawingml/2006/main">
              <a:ext uri="{FF2B5EF4-FFF2-40B4-BE49-F238E27FC236}">
                <a16:creationId xmlns:a16="http://schemas.microsoft.com/office/drawing/2014/main" id="{56F71848-6AF5-42BA-A505-8B8F36AE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0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cancel-path">
            <a:extLst xmlns:a="http://schemas.openxmlformats.org/drawingml/2006/main">
              <a:ext uri="{FF2B5EF4-FFF2-40B4-BE49-F238E27FC236}">
                <a16:creationId xmlns:a16="http://schemas.microsoft.com/office/drawing/2014/main" id="{29B0B5E6-3513-4029-BB47-FBC751EF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05072"/>
            <a:ext cx="406908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PAYER CANCEL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Sweeps 100% of the remaining PUSD.</a:t>
            </a:r>
          </a:p>
        </p:txBody>
      </p:sp>
      <p:sp>
        <p:nvSpPr>
          <p:cNvPr id="127" name="claims-cannot-empty">
            <a:extLst xmlns:a="http://schemas.openxmlformats.org/drawingml/2006/main">
              <a:ext uri="{FF2B5EF4-FFF2-40B4-BE49-F238E27FC236}">
                <a16:creationId xmlns:a16="http://schemas.microsoft.com/office/drawing/2014/main" id="{681899A1-DB52-4F34-AB9D-3AA3A12B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114800"/>
            <a:ext cx="340156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defPPr>
            <a:lvl1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1pPr>
            <a:lvl2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2pPr>
            <a:lvl3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3pPr>
            <a:lvl4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4pPr>
            <a:lvl5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5pPr>
            <a:lvl6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6pPr>
            <a:lvl7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7pPr>
            <a:lvl8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8pPr>
            <a:lvl9pPr algn="r"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E6D8DA"/>
                </a:solidFill>
                <a:latin typeface="Montserrat"/>
                <a:ea typeface="Montserrat"/>
                <a:cs typeface="Montserrat"/>
              </a:rPr>
              <a:t>Claims cannot empty the vault.</a:t>
            </a:r>
          </a:p>
        </p:txBody>
      </p:sp>
    </p:spTree>
    <p:extLst>
      <p:ext uri="{BB962C8B-B14F-4D97-AF65-F5344CB8AC3E}">
        <p14:creationId xmlns:p14="http://schemas.microsoft.com/office/powerpoint/2010/main" val="186105001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90607"/>
            </a:gs>
            <a:gs pos="68000">
              <a:srgbClr val="17090C"/>
            </a:gs>
            <a:gs pos="100000">
              <a:srgbClr val="240B1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BD9A2919-4C24-44E1-B4A3-35A82F79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B624B27B-3ABE-4D2B-BE91-B4158675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925A9B6B-EB9A-4865-9FE2-7AE7D46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FE17AF36-5A5B-483C-A394-9FD50DF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ns0:p xmlns:ns0="http://schemas.openxmlformats.org/drawingml/2006/main">
            <ns0:pPr marL="0" lvl="0" indent="0" algn="l">
              <ns0:spcBef>
                <ns0:spcPts val="0"/>
              </ns0:spcBef>
              <ns0:spcAft>
                <ns0:spcPts val="0"/>
              </ns0:spcAft>
              <ns0:buNone/>
              <ns0:defRPr sz="3300" b="1">
                <ns0:solidFill>
                  <ns0:srgbClr val="FFFFFF"/>
                </ns0:solidFill>
                <ns0:latin typeface="Roboto"/>
                <ns0:ea typeface="Roboto"/>
                <ns0:cs typeface="Roboto"/>
              </ns0:defRPr>
            </ns0:pPr>
            <ns0:r>
              <ns0:rPr sz="3300" b="1">
                <ns0:solidFill>
                  <ns0:srgbClr val="FFFFFF"/>
                </ns0:solidFill>
                <ns0:latin typeface="Roboto"/>
                <ns0:ea typeface="Roboto"/>
                <ns0:cs typeface="Roboto"/>
              </ns0:rPr>
              <ns0:t>Why BCH,</ns0:t>
            </ns0:r>
          </ns0:p>
          <ns6:p xmlns:ns6="http://schemas.openxmlformats.org/drawingml/2006/main">
            <ns6:pPr marL="0" lvl="0" indent="0" algn="l">
              <ns6:spcBef>
                <ns6:spcPts val="0"/>
              </ns6:spcBef>
              <ns6:spcAft>
                <ns6:spcPts val="0"/>
              </ns6:spcAft>
              <ns6:buNone/>
              <ns6:defRPr sz="3300" b="1">
                <ns6:solidFill>
                  <ns6:srgbClr val="FFFFFF"/>
                </ns6:solidFill>
                <ns6:latin typeface="Roboto"/>
                <ns6:ea typeface="Roboto"/>
                <ns6:cs typeface="Roboto"/>
              </ns6:defRPr>
            </ns6:pPr>
            <ns6:r>
              <ns6:rPr sz="3300" b="1">
                <ns6:solidFill>
                  <ns6:srgbClr val="FFFFFF"/>
                </ns6:solidFill>
                <ns6:latin typeface="Roboto"/>
                <ns6:ea typeface="Roboto"/>
                <ns6:cs typeface="Roboto"/>
              </ns6:rPr>
              <ns6:t>who pays</ns6:t>
            </ns6:r>
          </ns6:p>
        </p:txBody>
      </p:sp>
      <p:sp>
        <p:nvSpPr>
          <p:cNvPr id="127" name="why-bch-rule">
            <a:extLst xmlns:a="http://schemas.openxmlformats.org/drawingml/2006/main">
              <a:ext uri="{FF2B5EF4-FFF2-40B4-BE49-F238E27FC236}">
                <a16:creationId xmlns:a16="http://schemas.microsoft.com/office/drawing/2014/main" id="{12373841-88C1-40A0-B4DC-BE8E2A59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3" y="521207"/>
            <a:ext cx="381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why-bch-label">
            <a:extLst xmlns:a="http://schemas.openxmlformats.org/drawingml/2006/main">
              <a:ext uri="{FF2B5EF4-FFF2-40B4-BE49-F238E27FC236}">
                <a16:creationId xmlns:a16="http://schemas.microsoft.com/office/drawing/2014/main" id="{F7EDA6C9-4D79-4A75-BA7B-BB61413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521207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D08C98"/>
                </a:solidFill>
                <a:latin typeface="Montserrat"/>
                <a:ea typeface="Montserrat"/>
                <a:cs typeface="Montserrat"/>
              </a:rPr>
              <a:t>WHY BCH</a:t>
            </a:r>
          </a:p>
        </p:txBody>
      </p:sp>
      <p:sp>
        <p:nvSpPr>
          <p:cNvPr id="129" name="why-bch-points">
            <a:extLst xmlns:a="http://schemas.openxmlformats.org/drawingml/2006/main">
              <a:ext uri="{FF2B5EF4-FFF2-40B4-BE49-F238E27FC236}">
                <a16:creationId xmlns:a16="http://schemas.microsoft.com/office/drawing/2014/main" id="{C177A9AA-7712-45C0-84F1-02F96174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786384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ns12:p xmlns:ns12="http://schemas.openxmlformats.org/drawingml/2006/main">
            <ns12:pPr algn="l">
              <ns12:lnSpc>
                <ns12:spcPct val="114000"/>
              </ns12:lnSpc>
              <ns12:buNone/>
              <ns12:defRPr sz="1275" b="1">
                <ns12:solidFill>
                  <ns12:srgbClr val="FFFFFF"/>
                </ns12:solidFill>
                <ns12:latin typeface="Montserrat"/>
                <ns12:ea typeface="Montserrat"/>
                <ns12:cs typeface="Montserrat"/>
              </ns12:defRPr>
            </ns12:pPr>
            <ns12:r>
              <ns12:rPr sz="1200"/>
              <ns12:t>01  Sub-cent fees make $0.01 calls viable</ns12:t>
            </ns12:r>
          </ns12:p>
          <ns13:p xmlns:ns13="http://schemas.openxmlformats.org/drawingml/2006/main">
            <ns13:pPr algn="l">
              <ns13:lnSpc>
                <ns13:spcPct val="114000"/>
              </ns13:lnSpc>
              <ns13:buNone/>
              <ns13:defRPr sz="1275" b="1">
                <ns13:solidFill>
                  <ns13:srgbClr val="FFFFFF"/>
                </ns13:solidFill>
                <ns13:latin typeface="Montserrat"/>
                <ns13:ea typeface="Montserrat"/>
                <ns13:cs typeface="Montserrat"/>
              </ns13:defRPr>
            </ns13:pPr>
            <ns13:r>
              <ns13:rPr sz="1200"/>
              <ns13:t>02  CashTokens conserve PUSD on chain</ns13:t>
            </ns13:r>
          </ns13:p>
          <ns14:p xmlns:ns14="http://schemas.openxmlformats.org/drawingml/2006/main">
            <ns14:pPr algn="l">
              <ns14:lnSpc>
                <ns14:spcPct val="114000"/>
              </ns14:lnSpc>
              <ns14:buNone/>
              <ns14:defRPr sz="1275" b="1">
                <ns14:solidFill>
                  <ns14:srgbClr val="FFFFFF"/>
                </ns14:solidFill>
                <ns14:latin typeface="Montserrat"/>
                <ns14:ea typeface="Montserrat"/>
                <ns14:cs typeface="Montserrat"/>
              </ns14:defRPr>
            </ns14:pPr>
            <ns14:r>
              <ns14:rPr sz="1200"/>
              <ns14:t>03  Relative timelocks enforce the period</ns14:t>
            </ns14:r>
          </ns14:p>
          <ns15:p xmlns:ns15="http://schemas.openxmlformats.org/drawingml/2006/main">
            <ns15:pPr algn="l">
              <ns15:lnSpc>
                <ns15:spcPct val="114000"/>
              </ns15:lnSpc>
              <ns15:buNone/>
              <ns15:defRPr sz="1275" b="1">
                <ns15:solidFill>
                  <ns15:srgbClr val="FFFFFF"/>
                </ns15:solidFill>
                <ns15:latin typeface="Montserrat"/>
                <ns15:ea typeface="Montserrat"/>
                <ns15:cs typeface="Montserrat"/>
              </ns15:defRPr>
            </ns15:pPr>
            <ns15:r>
              <ns15:rPr sz="1200"/>
              <ns15:t>04  WizardConnect keeps keys in the wallet</ns15:t>
            </ns15:r>
          </ns15:p>
        </p:txBody>
      </p:sp>
      <p:sp>
        <p:nvSpPr>
          <p:cNvPr id="130" name="product-path-rule">
            <a:extLst xmlns:a="http://schemas.openxmlformats.org/drawingml/2006/main">
              <a:ext uri="{FF2B5EF4-FFF2-40B4-BE49-F238E27FC236}">
                <a16:creationId xmlns:a16="http://schemas.microsoft.com/office/drawing/2014/main" id="{59E27DBD-20E2-46FF-83B8-F55917EA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3" y="2121408"/>
            <a:ext cx="381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C1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roduct-path-label">
            <a:extLst xmlns:a="http://schemas.openxmlformats.org/drawingml/2006/main">
              <a:ext uri="{FF2B5EF4-FFF2-40B4-BE49-F238E27FC236}">
                <a16:creationId xmlns:a16="http://schemas.microsoft.com/office/drawing/2014/main" id="{8246A867-CE2B-4295-9E6C-BEC21E0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12140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8AE6C6"/>
                </a:solidFill>
                <a:latin typeface="Montserrat"/>
                <a:ea typeface="Montserrat"/>
                <a:cs typeface="Montserrat"/>
              </a:rPr>
              <a:t>WHO PAYS</a:t>
            </a:r>
          </a:p>
        </p:txBody>
      </p:sp>
      <p:sp>
        <p:nvSpPr>
          <p:cNvPr id="132" name="product-path-points">
            <a:extLst xmlns:a="http://schemas.openxmlformats.org/drawingml/2006/main">
              <a:ext uri="{FF2B5EF4-FFF2-40B4-BE49-F238E27FC236}">
                <a16:creationId xmlns:a16="http://schemas.microsoft.com/office/drawing/2014/main" id="{2BBF17E3-97F9-4BE2-B514-A2088268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377440"/>
            <a:ext cx="44805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ns16:p xmlns:ns16="http://schemas.openxmlformats.org/drawingml/2006/main">
            <ns16:pPr algn="l">
              <ns16:lnSpc>
                <ns16:spcPct val="110000"/>
              </ns16:lnSpc>
              <ns16:spcAft>
                <ns16:spcPts val="900"/>
              </ns16:spcAft>
              <ns16:buNone/>
              <ns16:defRPr sz="1350" b="1">
                <ns16:solidFill>
                  <ns16:srgbClr val="FFFFFF"/>
                </ns16:solidFill>
                <ns16:latin typeface="Montserrat"/>
                <ns16:ea typeface="Montserrat"/>
                <ns16:cs typeface="Montserrat"/>
              </ns16:defRPr>
            </ns16:pPr>
            <ns16:r>
              <ns16:rPr sz="1250" b="1">
                <ns16:solidFill>
                  <ns16:srgbClr val="FFFFFF"/>
                </ns16:solidFill>
              </ns16:rPr>
              <ns16:t>Agent builders</ns16:t>
            </ns16:r>
            <ns16:br/>
            <ns16:r>
              <ns16:rPr sz="1050" b="0">
                <ns16:solidFill>
                  <ns16:srgbClr val="C9B8BB"/>
                </ns16:solidFill>
              </ns16:rPr>
              <ns16:t>Budget console for agent fleets (subscription)</ns16:t>
            </ns16:r>
          </ns16:p>
          <ns22:p xmlns:ns22="http://schemas.openxmlformats.org/drawingml/2006/main">
            <ns22:pPr algn="l">
              <ns22:lnSpc>
                <ns22:spcPct val="110000"/>
              </ns22:lnSpc>
              <ns22:spcAft>
                <ns22:spcPts val="900"/>
              </ns22:spcAft>
              <ns22:buNone/>
              <ns22:defRPr sz="1350" b="1">
                <ns22:solidFill>
                  <ns22:srgbClr val="FFFFFF"/>
                </ns22:solidFill>
                <ns22:latin typeface="Montserrat"/>
                <ns22:ea typeface="Montserrat"/>
                <ns22:cs typeface="Montserrat"/>
              </ns22:defRPr>
            </ns22:pPr>
            <ns22:r>
              <ns22:rPr sz="1250" b="1">
                <ns22:solidFill>
                  <ns22:srgbClr val="FFFFFF"/>
                </ns22:solidFill>
              </ns22:rPr>
              <ns22:t>API &amp; MCP tool providers</ns22:t>
            </ns22:r>
            <ns22:br/>
            <ns22:r>
              <ns22:rPr sz="1050" b="0">
                <ns22:solidFill>
                  <ns22:srgbClr val="C9B8BB"/>
                </ns22:solidFill>
              </ns22:rPr>
              <ns22:t>SDK that verifies each $0.01 PUSD call</ns22:t>
            </ns22:r>
          </ns22:p>
          <ns28:p xmlns:ns28="http://schemas.openxmlformats.org/drawingml/2006/main">
            <ns28:pPr algn="l">
              <ns28:lnSpc>
                <ns28:spcPct val="110000"/>
              </ns28:lnSpc>
              <ns28:spcAft>
                <ns28:spcPts val="0"/>
              </ns28:spcAft>
              <ns28:buNone/>
              <ns28:defRPr sz="1350" b="1">
                <ns28:solidFill>
                  <ns28:srgbClr val="FFFFFF"/>
                </ns28:solidFill>
                <ns28:latin typeface="Montserrat"/>
                <ns28:ea typeface="Montserrat"/>
                <ns28:cs typeface="Montserrat"/>
              </ns28:defRPr>
            </ns28:pPr>
            <ns28:r>
              <ns28:rPr sz="1250" b="1">
                <ns28:solidFill>
                  <ns28:srgbClr val="FFFFFF"/>
                </ns28:solidFill>
              </ns28:rPr>
              <ns28:t>Hosted gateway</ns28:t>
            </ns28:r>
            <ns28:br/>
            <ns28:r>
              <ns28:rPr sz="1050" b="0">
                <ns28:solidFill>
                  <ns28:srgbClr val="C9B8BB"/>
                </ns28:solidFill>
              </ns28:rPr>
              <ns28:t>Small fee per verified call; self-hosting is free</ns28:t>
            </ns28:r>
          </ns28:p>
        </p:txBody>
      </p:sp>
      <p:sp>
        <p:nvSpPr>
          <p:cNvPr id="133" name="product-path-note">
            <a:extLst xmlns:a="http://schemas.openxmlformats.org/drawingml/2006/main">
              <a:ext uri="{FF2B5EF4-FFF2-40B4-BE49-F238E27FC236}">
                <a16:creationId xmlns:a16="http://schemas.microsoft.com/office/drawing/2014/main" id="{AF2C6AFD-E339-4D2C-AB2A-3A7FF604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114800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050" b="0">
                <a:solidFill>
                  <a:srgbClr val="B9A6A9"/>
                </a:solidFill>
                <a:latin typeface="Montserrat"/>
                <a:ea typeface="Montserrat"/>
                <a:cs typeface="Montserrat"/>
              </a:defRPr>
            </a:lvl9pPr>
          </a:lstStyle>
          <ns34:p xmlns:ns34="http://schemas.openxmlformats.org/drawingml/2006/main">
            <ns34:pPr algn="l">
              <ns34:lnSpc>
                <ns34:spcPct val="108000"/>
              </ns34:lnSpc>
              <ns34:buNone/>
              <ns34:defRPr sz="1050" b="0">
                <ns34:solidFill>
                  <ns34:srgbClr val="B9A6A9"/>
                </ns34:solidFill>
                <ns34:latin typeface="Montserrat"/>
                <ns34:ea typeface="Montserrat"/>
                <ns34:cs typeface="Montserrat"/>
              </ns34:defRPr>
            </ns34:pPr>
            <ns34:r>
              <ns34:rPr sz="1050"/>
              <ns34:t>No protocol fee in the covenant.</ns34:t>
            </ns34:r>
          </ns34:p>
          <ns35:p xmlns:ns35="http://schemas.openxmlformats.org/drawingml/2006/main">
            <ns35:pPr algn="l">
              <ns35:lnSpc>
                <ns35:spcPct val="108000"/>
              </ns35:lnSpc>
              <ns35:buNone/>
              <ns35:defRPr sz="1050" b="0">
                <ns35:solidFill>
                  <ns35:srgbClr val="B9A6A9"/>
                </ns35:solidFill>
                <ns35:latin typeface="Montserrat"/>
                <ns35:ea typeface="Montserrat"/>
                <ns35:cs typeface="Montserrat"/>
              </ns35:defRPr>
            </ns35:pPr>
            <ns35:r>
              <ns35:rPr sz="1050"/>
              <ns35:t>First market: paid MCP tools and data APIs.</ns35:t>
            </ns35:r>
          </ns35:p>
        </p:txBody>
      </p:sp>
    </p:spTree>
    <p:extLst>
      <p:ext uri="{BB962C8B-B14F-4D97-AF65-F5344CB8AC3E}">
        <p14:creationId xmlns:p14="http://schemas.microsoft.com/office/powerpoint/2010/main" val="1520056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E6ED4DE4-4B9D-474C-8D9F-BD9485FFA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c974483c344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C93C887C-246E-47F1-98D5-27A108B6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C662FA92-4226-4E1E-843D-C5BC0DE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20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45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77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7C44366B-BD08-493B-811A-11929120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125" y="4247925"/>
            <a:ext cx="1780200" cy="1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C6D056EE-E7DE-4CF6-9084-8B613A17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0" y="4572000"/>
            <a:ext cx="13365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4C486A31-3D3D-40E3-AFEE-112F250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675" y="4587250"/>
            <a:ext cx="9837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46E740A5-88BF-4AD6-8866-7ED9E66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6475" y="1531850"/>
            <a:ext cx="3711900" cy="26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45" name="cta-tagline">
            <a:extLst xmlns:a="http://schemas.openxmlformats.org/drawingml/2006/main">
              <a:ext uri="{FF2B5EF4-FFF2-40B4-BE49-F238E27FC236}">
                <a16:creationId xmlns:a16="http://schemas.microsoft.com/office/drawing/2014/main" id="{38D78AD0-501C-43A0-B6A0-8E318BB4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Give an AI an allowance,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not your bank account.</a:t>
            </a:r>
          </a:p>
        </p:txBody>
      </p:sp>
      <p:sp>
        <p:nvSpPr>
          <p:cNvPr id="146" name="cta-rule">
            <a:extLst xmlns:a="http://schemas.openxmlformats.org/drawingml/2006/main">
              <a:ext uri="{FF2B5EF4-FFF2-40B4-BE49-F238E27FC236}">
                <a16:creationId xmlns:a16="http://schemas.microsoft.com/office/drawing/2014/main" id="{7BC6B0D5-AA4B-4E29-9B41-6F3DE93B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527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cta-links">
            <a:extLst xmlns:a="http://schemas.openxmlformats.org/drawingml/2006/main">
              <a:ext uri="{FF2B5EF4-FFF2-40B4-BE49-F238E27FC236}">
                <a16:creationId xmlns:a16="http://schemas.microsoft.com/office/drawing/2014/main" id="{F252C2D4-23FA-47EA-8423-A46EFE3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81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1E3E5"/>
                </a:solidFill>
                <a:latin typeface="Montserrat"/>
                <a:ea typeface="Montserrat"/>
                <a:cs typeface="Montserrat"/>
              </a:rPr>
              <a:t>Live demo   /   Deck PDF   /   GitHub</a:t>
            </a:r>
          </a:p>
        </p:txBody>
      </p:sp>
      <p:sp>
        <p:nvSpPr>
          <p:cNvPr id="148" name="cta-address-label">
            <a:extLst xmlns:a="http://schemas.openxmlformats.org/drawingml/2006/main">
              <a:ext uri="{FF2B5EF4-FFF2-40B4-BE49-F238E27FC236}">
                <a16:creationId xmlns:a16="http://schemas.microsoft.com/office/drawing/2014/main" id="{04AC154C-A2CE-442C-A9E7-A9C626D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D08C98"/>
                </a:solidFill>
                <a:latin typeface="Montserrat"/>
                <a:ea typeface="Montserrat"/>
                <a:cs typeface="Montserrat"/>
              </a:rPr>
              <a:t>CASHTOKENS (MAINNET)</a:t>
            </a:r>
          </a:p>
        </p:txBody>
      </p:sp>
      <p:sp>
        <p:nvSpPr>
          <p:cNvPr id="149" name="cta-address">
            <a:extLst xmlns:a="http://schemas.openxmlformats.org/drawingml/2006/main">
              <a:ext uri="{FF2B5EF4-FFF2-40B4-BE49-F238E27FC236}">
                <a16:creationId xmlns:a16="http://schemas.microsoft.com/office/drawing/2014/main" id="{B3DBD710-447A-4301-802F-CC3B8892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290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defPPr>
            <a:lvl1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1pPr>
            <a:lvl2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2pPr>
            <a:lvl3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3pPr>
            <a:lvl4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4pPr>
            <a:lvl5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5pPr>
            <a:lvl6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6pPr>
            <a:lvl7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7pPr>
            <a:lvl8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8pPr>
            <a:lvl9pPr algn="ctr"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defRPr>
            </a:pPr>
            <a:r>
              <a:rPr sz="1275" b="0">
                <a:solidFill>
                  <a:srgbClr val="E6D8DA"/>
                </a:solidFill>
                <a:latin typeface="Roboto Mono"/>
                <a:ea typeface="Roboto Mono"/>
                <a:cs typeface="Roboto Mono"/>
              </a:rPr>
              <a:t>bitcoincash:zzlgvjs8fvqdf43nz9yklcd0eh780x2xd5d9dxrnkv</a:t>
            </a:r>
          </a:p>
        </p:txBody>
      </p:sp>
    </p:spTree>
    <p:extLst>
      <p:ext uri="{BB962C8B-B14F-4D97-AF65-F5344CB8AC3E}">
        <p14:creationId xmlns:p14="http://schemas.microsoft.com/office/powerpoint/2010/main" val="147156448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2026-10-18T16:22:24.6110000Z</dcterms:created>
  <dcterms:modified xsi:type="dcterms:W3CDTF">2026-10-18T16:22:24.6110000Z</dcterms:modified>
</coreProperties>
</file>