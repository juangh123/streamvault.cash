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f33f700df6432f" /><Relationship Type="http://schemas.openxmlformats.org/officeDocument/2006/relationships/extended-properties" Target="/docProps/app.xml" Id="R9f41b2fd485a4d22" /><Relationship Type="http://schemas.openxmlformats.org/officeDocument/2006/relationships/officeDocument" Target="/ppt/presentation.xml" Id="R1ec7b76ad62646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98d98742e04abe"/>
  </p:sldMasterIdLst>
  <p:notesMasterIdLst>
    <p:notesMasterId xmlns:r="http://schemas.openxmlformats.org/officeDocument/2006/relationships" r:id="R065365f927584a6a"/>
  </p:notesMasterIdLst>
  <p:sldIdLst>
    <p:sldId xmlns:r="http://schemas.openxmlformats.org/officeDocument/2006/relationships" id="256" r:id="R46d011158e2e4cc4"/>
    <p:sldId xmlns:r="http://schemas.openxmlformats.org/officeDocument/2006/relationships" id="257" r:id="Rad336e1462d64ac0"/>
    <p:sldId xmlns:r="http://schemas.openxmlformats.org/officeDocument/2006/relationships" id="258" r:id="R58500832f03646fc"/>
    <p:sldId xmlns:r="http://schemas.openxmlformats.org/officeDocument/2006/relationships" id="259" r:id="Rf6263d291c734077"/>
    <p:sldId xmlns:r="http://schemas.openxmlformats.org/officeDocument/2006/relationships" id="260" r:id="R1fe747d4bcc644bc"/>
    <p:sldId xmlns:r="http://schemas.openxmlformats.org/officeDocument/2006/relationships" id="261" r:id="R68a3283377c84b88"/>
    <p:sldId xmlns:r="http://schemas.openxmlformats.org/officeDocument/2006/relationships" id="262" r:id="R4186ab2a5fd743f4"/>
  </p:sldIdLst>
  <p:sldSz cx="9144000" cy="51435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e7d19ab6014c7d" /><Relationship Type="http://schemas.openxmlformats.org/officeDocument/2006/relationships/slideMaster" Target="/ppt/slideMasters/slideMaster1.xml" Id="Rdb98d98742e04abe" /><Relationship Type="http://schemas.openxmlformats.org/officeDocument/2006/relationships/notesMaster" Target="/ppt/notesMasters/notesMaster1.xml" Id="R065365f927584a6a" /><Relationship Type="http://schemas.openxmlformats.org/officeDocument/2006/relationships/presProps" Target="/ppt/presProps.xml" Id="R345391da11164177" /><Relationship Type="http://schemas.openxmlformats.org/officeDocument/2006/relationships/viewProps" Target="/ppt/viewProps.xml" Id="R59b428566b72462d" /><Relationship Type="http://schemas.openxmlformats.org/officeDocument/2006/relationships/tableStyles" Target="/ppt/tableStyles.xml" Id="R2913312fc4c9476a" /><Relationship Type="http://schemas.openxmlformats.org/officeDocument/2006/relationships/slide" Target="/ppt/slides/slide1.xml" Id="R46d011158e2e4cc4" /><Relationship Type="http://schemas.openxmlformats.org/officeDocument/2006/relationships/slide" Target="/ppt/slides/slide2.xml" Id="Rad336e1462d64ac0" /><Relationship Type="http://schemas.openxmlformats.org/officeDocument/2006/relationships/slide" Target="/ppt/slides/slide3.xml" Id="R58500832f03646fc" /><Relationship Type="http://schemas.openxmlformats.org/officeDocument/2006/relationships/slide" Target="/ppt/slides/slide4.xml" Id="Rf6263d291c734077" /><Relationship Type="http://schemas.openxmlformats.org/officeDocument/2006/relationships/slide" Target="/ppt/slides/slide5.xml" Id="R1fe747d4bcc644bc" /><Relationship Type="http://schemas.openxmlformats.org/officeDocument/2006/relationships/slide" Target="/ppt/slides/slide6.xml" Id="R68a3283377c84b88" /><Relationship Type="http://schemas.openxmlformats.org/officeDocument/2006/relationships/slide" Target="/ppt/slides/slide7.xml" Id="R4186ab2a5fd743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9798dc334245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f5029201604ec9" /><Relationship Type="http://schemas.openxmlformats.org/officeDocument/2006/relationships/notesMaster" Target="/ppt/notesMasters/notesMaster1.xml" Id="R5aa261a59a5f40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5067aad5a64ece" /><Relationship Type="http://schemas.openxmlformats.org/officeDocument/2006/relationships/notesMaster" Target="/ppt/notesMasters/notesMaster1.xml" Id="R075e459929ed4a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5d99ac3e33460c" /><Relationship Type="http://schemas.openxmlformats.org/officeDocument/2006/relationships/notesMaster" Target="/ppt/notesMasters/notesMaster1.xml" Id="R319b0577d36b4d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cbe1b2155641c4" /><Relationship Type="http://schemas.openxmlformats.org/officeDocument/2006/relationships/notesMaster" Target="/ppt/notesMasters/notesMaster1.xml" Id="R7ee3e65d2cad48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7844c6a4cd48a3" /><Relationship Type="http://schemas.openxmlformats.org/officeDocument/2006/relationships/notesMaster" Target="/ppt/notesMasters/notesMaster1.xml" Id="Rd4b3377b555f42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1d49cdb9de48d5" /><Relationship Type="http://schemas.openxmlformats.org/officeDocument/2006/relationships/notesMaster" Target="/ppt/notesMasters/notesMaster1.xml" Id="Re6e2a26de52a49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d4a43a4b80411d" /><Relationship Type="http://schemas.openxmlformats.org/officeDocument/2006/relationships/notesMaster" Target="/ppt/notesMasters/notesMaster1.xml" Id="R27d82b5b910c4d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Live demo: https://streamvault-cash.vercel.app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Repository: https://github.com/juangh123/streamvault.cash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Baseline: https://github.com/juangh123/streamvault.cash/tree/v0-prehackathon-baseline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StreamVault combines CashScript covenants, relative timelocks and CashTokens. Demo: https://streamvault-cash.vercel.app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cap is enforced by claim() in the CashScript covenant, not by application code. See docs/STREAM_MECHANICS.md.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same covenant supports payroll, subscriptions and agent allowances. See README.md and docs/PRD.md.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v1.2 covenant passes 21 real BCH VM tests, including over-limit, early claim, wrong destination, third output, category mismatch and BCH-buffer drain tests.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PUSD category: 2469acc5afa4b10cb5b5c04afb89c3a3ffd61c5da9c01e26d00951cae2a02544. The app blocks Mainnet if a demo category is configured.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Live demo: https://streamvault-cash.vercel.app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CashTokens receiving address: bitcoincash:zzlgvjs8fvqdf43nz9yklcd0eh780x2xd5d9dxrnkv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542141e8974d5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8af90897854eb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8380e4589749d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5ca14f58674c8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1e77f2cdfa43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2c23593bf3405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a223a0a5e64f5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ab63b71cc7428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e5ab61e31449d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b50b921d844f0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d8c379f6714d52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4D34A5C7-FCB9-41AC-A092-230AD1965F0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60383" y="16888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CE511515-E61D-4229-9204-7C9A89459F1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800B55F6-3336-4688-9A17-F802DBB2E9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55F74AB1-FF70-463F-8A72-200889A946C3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2143125" y="426975"/>
            <a:ext cx="2241600" cy="247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634435C0-89DD-4C4B-9334-DB615A9669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8E29AC18-24E1-4415-8154-96872C0D98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34D67B94-BE73-4107-964D-B665601CC5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318F2D4D-FA58-4DF5-888A-C3B3D50B15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0" name="Google Shape;20;p4">
            <a:extLst xmlns:a="http://schemas.openxmlformats.org/drawingml/2006/main">
              <a:ext uri="{FF2B5EF4-FFF2-40B4-BE49-F238E27FC236}">
                <a16:creationId xmlns:a16="http://schemas.microsoft.com/office/drawing/2014/main" id="{BCDC3BC4-6F06-411D-8B5F-BAB07FA661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E10B8BC9-C556-4E5B-994C-4BE16FEE46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51CE1027-1914-436E-9057-7E41C6E72E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22FE4428-F513-4406-996D-8EA4CC93DB8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DB6E9587-4643-450C-8D02-41E04DB89D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2ABA1BAD-6411-4DF3-A8E1-5A150ECCF1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Google Shape;28;p6">
            <a:extLst xmlns:a="http://schemas.openxmlformats.org/drawingml/2006/main">
              <a:ext uri="{FF2B5EF4-FFF2-40B4-BE49-F238E27FC236}">
                <a16:creationId xmlns:a16="http://schemas.microsoft.com/office/drawing/2014/main" id="{928849AD-A821-43D5-B574-65A7DDF0B1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E754AE94-BFDA-4B38-BA3B-F92573E6A9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9CE43F01-8B4D-4454-911F-8C3AE5DE78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2" name="Google Shape;32;p7">
            <a:extLst xmlns:a="http://schemas.openxmlformats.org/drawingml/2006/main">
              <a:ext uri="{FF2B5EF4-FFF2-40B4-BE49-F238E27FC236}">
                <a16:creationId xmlns:a16="http://schemas.microsoft.com/office/drawing/2014/main" id="{24210CF7-96E2-41CA-823D-908B126451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0FFFA791-0F12-408D-A84D-D17360AB0F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5" name="Google Shape;35;p8">
            <a:extLst xmlns:a="http://schemas.openxmlformats.org/drawingml/2006/main">
              <a:ext uri="{FF2B5EF4-FFF2-40B4-BE49-F238E27FC236}">
                <a16:creationId xmlns:a16="http://schemas.microsoft.com/office/drawing/2014/main" id="{D2554865-9E59-47AA-948D-A2B869D4EC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E5CC9A8C-5C79-4374-8132-E4727083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79ECB716-67A0-45EE-A2B3-0C08CC171E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AA8AD9F2-E45A-49B5-A7B3-2BEB7F135C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2DB39790-442D-4237-AA0B-899D8ECA13B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1" name="Google Shape;41;p9">
            <a:extLst xmlns:a="http://schemas.openxmlformats.org/drawingml/2006/main">
              <a:ext uri="{FF2B5EF4-FFF2-40B4-BE49-F238E27FC236}">
                <a16:creationId xmlns:a16="http://schemas.microsoft.com/office/drawing/2014/main" id="{31F70E33-AB5F-485C-B020-EBC31CBF91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CCB5F220-9140-48F3-BB26-044079A7F3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4" name="Google Shape;44;p10">
            <a:extLst xmlns:a="http://schemas.openxmlformats.org/drawingml/2006/main">
              <a:ext uri="{FF2B5EF4-FFF2-40B4-BE49-F238E27FC236}">
                <a16:creationId xmlns:a16="http://schemas.microsoft.com/office/drawing/2014/main" id="{BF376B79-81F7-474E-BF5A-00828A63B0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A87D7CE8-48F1-4936-BC06-D24DD4C4A47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6A41FB34-4A31-4AA5-A4B9-5F9981F452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8" name="Google Shape;48;p11">
            <a:extLst xmlns:a="http://schemas.openxmlformats.org/drawingml/2006/main">
              <a:ext uri="{FF2B5EF4-FFF2-40B4-BE49-F238E27FC236}">
                <a16:creationId xmlns:a16="http://schemas.microsoft.com/office/drawing/2014/main" id="{F6214796-C69C-418D-B465-DDACC178A2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12">
            <a:extLst xmlns:a="http://schemas.openxmlformats.org/drawingml/2006/main">
              <a:ext uri="{FF2B5EF4-FFF2-40B4-BE49-F238E27FC236}">
                <a16:creationId xmlns:a16="http://schemas.microsoft.com/office/drawing/2014/main" id="{5C014459-9CB0-46BF-AA24-A775C0F587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bbc8e50d8e4bed" /><Relationship Type="http://schemas.openxmlformats.org/officeDocument/2006/relationships/slideLayout" Target="/ppt/slideLayouts/slideLayout1.xml" Id="R406f6497ce4a4df4" /><Relationship Type="http://schemas.openxmlformats.org/officeDocument/2006/relationships/slideLayout" Target="/ppt/slideLayouts/slideLayout2.xml" Id="Ra728e2f16b7e4daa" /><Relationship Type="http://schemas.openxmlformats.org/officeDocument/2006/relationships/slideLayout" Target="/ppt/slideLayouts/slideLayout3.xml" Id="Re4d47e4be7ea4ea2" /><Relationship Type="http://schemas.openxmlformats.org/officeDocument/2006/relationships/slideLayout" Target="/ppt/slideLayouts/slideLayout4.xml" Id="Rfaa9864ab5a54104" /><Relationship Type="http://schemas.openxmlformats.org/officeDocument/2006/relationships/slideLayout" Target="/ppt/slideLayouts/slideLayout5.xml" Id="R9dc03d8083ba423d" /><Relationship Type="http://schemas.openxmlformats.org/officeDocument/2006/relationships/slideLayout" Target="/ppt/slideLayouts/slideLayout6.xml" Id="Rfb7e10c02986449b" /><Relationship Type="http://schemas.openxmlformats.org/officeDocument/2006/relationships/slideLayout" Target="/ppt/slideLayouts/slideLayout7.xml" Id="Rf31b20b3ab3943f1" /><Relationship Type="http://schemas.openxmlformats.org/officeDocument/2006/relationships/slideLayout" Target="/ppt/slideLayouts/slideLayout8.xml" Id="Rdf1ee70c86234a71" /><Relationship Type="http://schemas.openxmlformats.org/officeDocument/2006/relationships/slideLayout" Target="/ppt/slideLayouts/slideLayout9.xml" Id="R3ddb20f1bc7e4ee8" /><Relationship Type="http://schemas.openxmlformats.org/officeDocument/2006/relationships/slideLayout" Target="/ppt/slideLayouts/slideLayout10.xml" Id="Rdb2a1a11d4cc4c86" /><Relationship Type="http://schemas.openxmlformats.org/officeDocument/2006/relationships/slideLayout" Target="/ppt/slideLayouts/slideLayout11.xml" Id="R722913e3ef6e469a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E8191BF5-B9E1-4C85-87A0-F5FF3241AB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8DC18ADE-8FA3-4415-BFF1-86A899013B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ABF0CA14-06B6-41ED-B1F2-9C9FF2EFE7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6f6497ce4a4df4"/>
    <p:sldLayoutId xmlns:r="http://schemas.openxmlformats.org/officeDocument/2006/relationships" id="2147483650" r:id="Ra728e2f16b7e4daa"/>
    <p:sldLayoutId xmlns:r="http://schemas.openxmlformats.org/officeDocument/2006/relationships" id="2147483651" r:id="Re4d47e4be7ea4ea2"/>
    <p:sldLayoutId xmlns:r="http://schemas.openxmlformats.org/officeDocument/2006/relationships" id="2147483652" r:id="Rfaa9864ab5a54104"/>
    <p:sldLayoutId xmlns:r="http://schemas.openxmlformats.org/officeDocument/2006/relationships" id="2147483653" r:id="R9dc03d8083ba423d"/>
    <p:sldLayoutId xmlns:r="http://schemas.openxmlformats.org/officeDocument/2006/relationships" id="2147483654" r:id="Rfb7e10c02986449b"/>
    <p:sldLayoutId xmlns:r="http://schemas.openxmlformats.org/officeDocument/2006/relationships" id="2147483655" r:id="Rf31b20b3ab3943f1"/>
    <p:sldLayoutId xmlns:r="http://schemas.openxmlformats.org/officeDocument/2006/relationships" id="2147483656" r:id="Rdf1ee70c86234a71"/>
    <p:sldLayoutId xmlns:r="http://schemas.openxmlformats.org/officeDocument/2006/relationships" id="2147483657" r:id="R3ddb20f1bc7e4ee8"/>
    <p:sldLayoutId xmlns:r="http://schemas.openxmlformats.org/officeDocument/2006/relationships" id="2147483658" r:id="Rdb2a1a11d4cc4c86"/>
    <p:sldLayoutId xmlns:r="http://schemas.openxmlformats.org/officeDocument/2006/relationships" id="2147483659" r:id="R722913e3ef6e469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e5b8ab7a4452c" /><Relationship Type="http://schemas.openxmlformats.org/officeDocument/2006/relationships/image" Target="/ppt/media/image.png" Id="R43eedb416c4c4c49" /><Relationship Type="http://schemas.openxmlformats.org/officeDocument/2006/relationships/image" Target="/ppt/media/image2.png" Id="R1253f9bf27144727" /><Relationship Type="http://schemas.openxmlformats.org/officeDocument/2006/relationships/image" Target="/ppt/media/image3.png" Id="R056ffe6a504a4bfc" /><Relationship Type="http://schemas.openxmlformats.org/officeDocument/2006/relationships/image" Target="/ppt/media/image4.png" Id="Rf8e74941585b44a5" /><Relationship Type="http://schemas.openxmlformats.org/officeDocument/2006/relationships/image" Target="/ppt/media/image5.png" Id="Rbe5ecf832de1405b" /><Relationship Type="http://schemas.openxmlformats.org/officeDocument/2006/relationships/image" Target="/ppt/media/image6.png" Id="R83b8e34c30b841ba" /><Relationship Type="http://schemas.openxmlformats.org/officeDocument/2006/relationships/notesSlide" Target="/ppt/notesSlides/notesSlide1.xml" Id="Rd51893ec367145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49d36f4fd450a" /><Relationship Type="http://schemas.openxmlformats.org/officeDocument/2006/relationships/image" Target="/ppt/media/image2.png" Id="R1b4b296178d846c7" /><Relationship Type="http://schemas.openxmlformats.org/officeDocument/2006/relationships/image" Target="/ppt/media/image4.png" Id="R366664cff1514c75" /><Relationship Type="http://schemas.openxmlformats.org/officeDocument/2006/relationships/notesSlide" Target="/ppt/notesSlides/notesSlide2.xml" Id="R7dd0650b08e141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ba7d3c1dd407f" /><Relationship Type="http://schemas.openxmlformats.org/officeDocument/2006/relationships/notesSlide" Target="/ppt/notesSlides/notesSlide3.xml" Id="Rd04c79efa08949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46d25ead94986" /><Relationship Type="http://schemas.openxmlformats.org/officeDocument/2006/relationships/image" Target="/ppt/media/image7.png" Id="R2fac2f661c4a41ce" /><Relationship Type="http://schemas.openxmlformats.org/officeDocument/2006/relationships/notesSlide" Target="/ppt/notesSlides/notesSlide4.xml" Id="R16878f66694c4f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3d3478ab04c14" /><Relationship Type="http://schemas.openxmlformats.org/officeDocument/2006/relationships/image" Target="/ppt/media/image2.png" Id="R9c2e73eab8fe4825" /><Relationship Type="http://schemas.openxmlformats.org/officeDocument/2006/relationships/image" Target="/ppt/media/image4.png" Id="R425412f04ed14490" /><Relationship Type="http://schemas.openxmlformats.org/officeDocument/2006/relationships/notesSlide" Target="/ppt/notesSlides/notesSlide5.xml" Id="R3fe36927136c47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2d5aaf0c54351" /><Relationship Type="http://schemas.openxmlformats.org/officeDocument/2006/relationships/notesSlide" Target="/ppt/notesSlides/notesSlide6.xml" Id="R9208cccd38bb4f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942ebd1184c89" /><Relationship Type="http://schemas.openxmlformats.org/officeDocument/2006/relationships/image" Target="/ppt/media/image8.png" Id="R6675e75a2d444f19" /><Relationship Type="http://schemas.openxmlformats.org/officeDocument/2006/relationships/notesSlide" Target="/ppt/notesSlides/notesSlide7.xml" Id="R609bda3cabb84f8d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43eedb416c4c4c49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A0BBB63E-FC3C-4C6F-BB04-6658E50432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53f9bf2714472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C85A6176-35F3-48AC-9E40-C04EE64051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ffe6a504a4bf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48900" y="2873025"/>
            <a:ext cx="7264075" cy="3239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7" name="Google Shape;57;p13">
            <a:extLst xmlns:a="http://schemas.openxmlformats.org/drawingml/2006/main">
              <a:ext uri="{FF2B5EF4-FFF2-40B4-BE49-F238E27FC236}">
                <a16:creationId xmlns:a16="http://schemas.microsoft.com/office/drawing/2014/main" id="{8BA795A1-38D3-4F04-846E-23DB955B4D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74941585b44a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8" name="Google Shape;58;p13">
            <a:extLst xmlns:a="http://schemas.openxmlformats.org/drawingml/2006/main">
              <a:ext uri="{FF2B5EF4-FFF2-40B4-BE49-F238E27FC236}">
                <a16:creationId xmlns:a16="http://schemas.microsoft.com/office/drawing/2014/main" id="{336EA883-736C-4018-A6B0-0041A325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defRPr sz="37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defRPr sz="37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defRPr sz="37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defRPr sz="37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defRPr sz="37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defRPr sz="37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defRPr sz="37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defRPr sz="37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defRPr sz="37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37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375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StreamVault.cash</a:t>
            </a:r>
            <a:endParaRPr sz="33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59" name="Google Shape;59;p13">
            <a:extLst xmlns:a="http://schemas.openxmlformats.org/drawingml/2006/main">
              <a:ext uri="{FF2B5EF4-FFF2-40B4-BE49-F238E27FC236}">
                <a16:creationId xmlns:a16="http://schemas.microsoft.com/office/drawing/2014/main" id="{5E7A2D67-BD62-4AD7-89F0-4915FC7B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557100" cy="68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062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>
            <a:extLst xmlns:a="http://schemas.openxmlformats.org/drawingml/2006/main">
              <a:ext uri="{FF2B5EF4-FFF2-40B4-BE49-F238E27FC236}">
                <a16:creationId xmlns:a16="http://schemas.microsoft.com/office/drawing/2014/main" id="{F0799E54-2A07-42D3-826D-6BFBA290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78" y="4402200"/>
            <a:ext cx="2256000" cy="3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GitHub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61" name="Google Shape;61;p13">
            <a:extLst xmlns:a="http://schemas.openxmlformats.org/drawingml/2006/main">
              <a:ext uri="{FF2B5EF4-FFF2-40B4-BE49-F238E27FC236}">
                <a16:creationId xmlns:a16="http://schemas.microsoft.com/office/drawing/2014/main" id="{32240A6A-6725-4853-A2AD-57147DA8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425" y="4402200"/>
            <a:ext cx="1492200" cy="3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Live demo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62" name="Google Shape;62;p13">
            <a:extLst xmlns:a="http://schemas.openxmlformats.org/drawingml/2006/main">
              <a:ext uri="{FF2B5EF4-FFF2-40B4-BE49-F238E27FC236}">
                <a16:creationId xmlns:a16="http://schemas.microsoft.com/office/drawing/2014/main" id="{F5D6D2DA-B5BE-4C44-BD29-F4704B43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700" y="4402200"/>
            <a:ext cx="1752000" cy="3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PUSD on BCH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69" name="Google Shape;69;p13">
            <a:extLst xmlns:a="http://schemas.openxmlformats.org/drawingml/2006/main">
              <a:ext uri="{FF2B5EF4-FFF2-40B4-BE49-F238E27FC236}">
                <a16:creationId xmlns:a16="http://schemas.microsoft.com/office/drawing/2014/main" id="{350E663A-D13C-456A-91DA-A209C58D4B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5ecf832de1405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7627" y="66125"/>
            <a:ext cx="523850" cy="5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3">
            <a:extLst xmlns:a="http://schemas.openxmlformats.org/drawingml/2006/main">
              <a:ext uri="{FF2B5EF4-FFF2-40B4-BE49-F238E27FC236}">
                <a16:creationId xmlns:a16="http://schemas.microsoft.com/office/drawing/2014/main" id="{A7C7E98F-E4DB-4D8F-950E-640B09DD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50" y="3025350"/>
            <a:ext cx="3982500" cy="8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defRPr sz="16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defRPr sz="16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defRPr sz="16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defRPr sz="16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defRPr sz="16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defRPr sz="16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defRPr sz="16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defRPr sz="16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defRPr sz="16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Team Autonomous Cash: Jason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8124ABF-4CAF-4A5B-AA8F-21C2FAEDDD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8e34c30b841ba"/>
          <a:stretch xmlns:a="http://schemas.openxmlformats.org/drawingml/2006/main"/>
        </p:blipFill>
        <p:spPr>
          <a:xfrm xmlns:a="http://schemas.openxmlformats.org/drawingml/2006/main">
            <a:off x="4812242" y="1362075"/>
            <a:ext cx="3996267" cy="2247900"/>
          </a:xfrm>
          <a:prstGeom xmlns:a="http://schemas.openxmlformats.org/drawingml/2006/main" prst="rect">
            <a:avLst/>
          </a:prstGeom>
        </p:spPr>
      </p:pic>
      <p:sp>
        <p:nvSpPr>
          <p:cNvPr id="72" name="cover-tagline">
            <a:extLst xmlns:a="http://schemas.openxmlformats.org/drawingml/2006/main">
              <a:ext uri="{FF2B5EF4-FFF2-40B4-BE49-F238E27FC236}">
                <a16:creationId xmlns:a16="http://schemas.microsoft.com/office/drawing/2014/main" id="{6AAF7D1C-50F9-444E-B6E5-6F1693D2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2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2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2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2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2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2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2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2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2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E6D8DA"/>
                </a:solidFill>
                <a:latin typeface="Montserrat"/>
                <a:ea typeface="Montserrat"/>
                <a:cs typeface="Montserrat"/>
              </a:rPr>
              <a:t>Give an AI an allowance,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E6D8DA"/>
                </a:solidFill>
                <a:latin typeface="Montserrat"/>
                <a:ea typeface="Montserrat"/>
                <a:cs typeface="Montserrat"/>
              </a:rPr>
              <a:t>not your bank account.</a:t>
            </a:r>
          </a:p>
        </p:txBody>
      </p:sp>
    </p:spTree>
    <p:extLst>
      <p:ext uri="{BB962C8B-B14F-4D97-AF65-F5344CB8AC3E}">
        <p14:creationId xmlns:p14="http://schemas.microsoft.com/office/powerpoint/2010/main" val="13100408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Google Shape;76;p14">
            <a:extLst xmlns:a="http://schemas.openxmlformats.org/drawingml/2006/main">
              <a:ext uri="{FF2B5EF4-FFF2-40B4-BE49-F238E27FC236}">
                <a16:creationId xmlns:a16="http://schemas.microsoft.com/office/drawing/2014/main" id="{9144F57A-032F-4DF5-8F5B-80389A1004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b296178d846c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93450"/>
            <a:ext cx="9144000" cy="495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" name="Google Shape;77;p14">
            <a:extLst xmlns:a="http://schemas.openxmlformats.org/drawingml/2006/main">
              <a:ext uri="{FF2B5EF4-FFF2-40B4-BE49-F238E27FC236}">
                <a16:creationId xmlns:a16="http://schemas.microsoft.com/office/drawing/2014/main" id="{9E3CD8FC-7AD4-42A6-8AF3-1510CFFB26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664cff1514c7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" name="Google Shape;78;p14">
            <a:extLst xmlns:a="http://schemas.openxmlformats.org/drawingml/2006/main">
              <a:ext uri="{FF2B5EF4-FFF2-40B4-BE49-F238E27FC236}">
                <a16:creationId xmlns:a16="http://schemas.microsoft.com/office/drawing/2014/main" id="{E6813904-CEBB-4D03-AA5C-B5D83C33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00125"/>
            <a:ext cx="7429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defPPr algn="ctr">
              <a:defRPr sz="34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ctr">
              <a:defRPr sz="34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ctr">
              <a:defRPr sz="34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ctr">
              <a:defRPr sz="34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ctr">
              <a:defRPr sz="34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ctr">
              <a:defRPr sz="34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ctr">
              <a:defRPr sz="34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ctr">
              <a:defRPr sz="34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ctr">
              <a:defRPr sz="34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ctr">
              <a:defRPr sz="34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lvl="0" indent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34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4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Prompts set intent.</a:t>
            </a:r>
            <a:endParaRPr sz="43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 xmlns:a="http://schemas.openxmlformats.org/drawingml/2006/main">
            <a:pPr marL="0" lvl="0" indent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34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4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The transaction enforces the limit.</a:t>
            </a:r>
            <a:endParaRPr sz="35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79" name="promise-rule">
            <a:extLst xmlns:a="http://schemas.openxmlformats.org/drawingml/2006/main">
              <a:ext uri="{FF2B5EF4-FFF2-40B4-BE49-F238E27FC236}">
                <a16:creationId xmlns:a16="http://schemas.microsoft.com/office/drawing/2014/main" id="{7D312EE9-0B76-48CD-AB8E-B00A069E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06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romise-support">
            <a:extLst xmlns:a="http://schemas.openxmlformats.org/drawingml/2006/main">
              <a:ext uri="{FF2B5EF4-FFF2-40B4-BE49-F238E27FC236}">
                <a16:creationId xmlns:a16="http://schemas.microsoft.com/office/drawing/2014/main" id="{2E14B6C9-38A3-4548-ACEC-5F6A1E31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8137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72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defPPr>
            <a:lvl1pPr algn="ctr">
              <a:defRPr sz="172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1pPr>
            <a:lvl2pPr algn="ctr">
              <a:defRPr sz="172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2pPr>
            <a:lvl3pPr algn="ctr">
              <a:defRPr sz="172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3pPr>
            <a:lvl4pPr algn="ctr">
              <a:defRPr sz="172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4pPr>
            <a:lvl5pPr algn="ctr">
              <a:defRPr sz="172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5pPr>
            <a:lvl6pPr algn="ctr">
              <a:defRPr sz="172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6pPr>
            <a:lvl7pPr algn="ctr">
              <a:defRPr sz="172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7pPr>
            <a:lvl8pPr algn="ctr">
              <a:defRPr sz="172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8pPr>
            <a:lvl9pPr algn="ctr">
              <a:defRPr sz="172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E6D8DA"/>
                </a:solidFill>
                <a:latin typeface="Montserrat"/>
                <a:ea typeface="Montserrat"/>
                <a:cs typeface="Montserrat"/>
              </a:rPr>
              <a:t>Per-period PUSD budgets for people and AI agents.</a:t>
            </a:r>
          </a:p>
        </p:txBody>
      </p:sp>
      <p:sp>
        <p:nvSpPr>
          <p:cNvPr id="81" name="promise-url">
            <a:extLst xmlns:a="http://schemas.openxmlformats.org/drawingml/2006/main">
              <a:ext uri="{FF2B5EF4-FFF2-40B4-BE49-F238E27FC236}">
                <a16:creationId xmlns:a16="http://schemas.microsoft.com/office/drawing/2014/main" id="{F00B2DB3-E294-4882-B1F4-6BEAA748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95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defPPr>
            <a:lvl1pPr algn="ctr">
              <a:defRPr sz="120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1pPr>
            <a:lvl2pPr algn="ctr">
              <a:defRPr sz="120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2pPr>
            <a:lvl3pPr algn="ctr">
              <a:defRPr sz="120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3pPr>
            <a:lvl4pPr algn="ctr">
              <a:defRPr sz="120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4pPr>
            <a:lvl5pPr algn="ctr">
              <a:defRPr sz="120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5pPr>
            <a:lvl6pPr algn="ctr">
              <a:defRPr sz="120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6pPr>
            <a:lvl7pPr algn="ctr">
              <a:defRPr sz="120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7pPr>
            <a:lvl8pPr algn="ctr">
              <a:defRPr sz="120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8pPr>
            <a:lvl9pPr algn="ctr">
              <a:defRPr sz="120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B9A6A9"/>
                </a:solidFill>
                <a:latin typeface="Montserrat"/>
                <a:ea typeface="Montserrat"/>
                <a:cs typeface="Montserrat"/>
              </a:rPr>
              <a:t>streamvault-cash.vercel.app</a:t>
            </a:r>
          </a:p>
        </p:txBody>
      </p:sp>
    </p:spTree>
    <p:extLst>
      <p:ext uri="{BB962C8B-B14F-4D97-AF65-F5344CB8AC3E}">
        <p14:creationId xmlns:p14="http://schemas.microsoft.com/office/powerpoint/2010/main" val="587152948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90607"/>
            </a:gs>
            <a:gs pos="68000">
              <a:srgbClr val="17090C"/>
            </a:gs>
            <a:gs pos="100000">
              <a:srgbClr val="240B10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Google Shape;88;p15">
            <a:extLst xmlns:a="http://schemas.openxmlformats.org/drawingml/2006/main">
              <a:ext uri="{FF2B5EF4-FFF2-40B4-BE49-F238E27FC236}">
                <a16:creationId xmlns:a16="http://schemas.microsoft.com/office/drawing/2014/main" id="{41AF12AC-F313-4BCB-B8C1-22397125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825" y="4652075"/>
            <a:ext cx="2028300" cy="26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CC0000"/>
                </a:solidFill>
                <a:latin typeface="Montserrat"/>
                <a:ea typeface="Montserrat"/>
                <a:cs typeface="Montserrat"/>
              </a:rPr>
              <a:t>www.bchblaze.cash</a:t>
            </a:r>
            <a:endParaRPr sz="1300">
              <a:solidFill>
                <a:srgbClr val="CC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94" name="Google Shape;94;p15">
            <a:extLst xmlns:a="http://schemas.openxmlformats.org/drawingml/2006/main">
              <a:ext uri="{FF2B5EF4-FFF2-40B4-BE49-F238E27FC236}">
                <a16:creationId xmlns:a16="http://schemas.microsoft.com/office/drawing/2014/main" id="{BBC93C3E-AFB1-47B9-ADF1-2F45AE25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75" y="425625"/>
            <a:ext cx="5788800" cy="39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062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>
            <a:extLst xmlns:a="http://schemas.openxmlformats.org/drawingml/2006/main">
              <a:ext uri="{FF2B5EF4-FFF2-40B4-BE49-F238E27FC236}">
                <a16:creationId xmlns:a16="http://schemas.microsoft.com/office/drawing/2014/main" id="{84999F6E-37A1-49B1-B571-35EA5E7D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25" y="339825"/>
            <a:ext cx="5341800" cy="59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defRPr sz="2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defRPr sz="2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defRPr sz="2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defRPr sz="2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defRPr sz="2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defRPr sz="2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defRPr sz="2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defRPr sz="2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defRPr sz="2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27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The trust gap</a:t>
            </a:r>
            <a:endParaRPr sz="25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6" name="trust-rule-1">
            <a:extLst xmlns:a="http://schemas.openxmlformats.org/drawingml/2006/main">
              <a:ext uri="{FF2B5EF4-FFF2-40B4-BE49-F238E27FC236}">
                <a16:creationId xmlns:a16="http://schemas.microsoft.com/office/drawing/2014/main" id="{BD85F124-3C72-47CB-8621-1A65CBB6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B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trust-label-1">
            <a:extLst xmlns:a="http://schemas.openxmlformats.org/drawingml/2006/main">
              <a:ext uri="{FF2B5EF4-FFF2-40B4-BE49-F238E27FC236}">
                <a16:creationId xmlns:a16="http://schemas.microsoft.com/office/drawing/2014/main" id="{8E27C5F7-DE50-45E3-BB5C-966019A9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97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97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97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97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97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97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97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97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97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7B6B6E"/>
                </a:solidFill>
                <a:latin typeface="Montserrat"/>
                <a:ea typeface="Montserrat"/>
                <a:cs typeface="Montserrat"/>
              </a:rPr>
              <a:t>PROMPT CAP</a:t>
            </a:r>
          </a:p>
        </p:txBody>
      </p:sp>
      <p:sp>
        <p:nvSpPr>
          <p:cNvPr id="98" name="trust-headline-1">
            <a:extLst xmlns:a="http://schemas.openxmlformats.org/drawingml/2006/main">
              <a:ext uri="{FF2B5EF4-FFF2-40B4-BE49-F238E27FC236}">
                <a16:creationId xmlns:a16="http://schemas.microsoft.com/office/drawing/2014/main" id="{7B22E0E9-6E5C-4DE6-9285-E8A667C1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Can be ignored</a:t>
            </a:r>
          </a:p>
        </p:txBody>
      </p:sp>
      <p:sp>
        <p:nvSpPr>
          <p:cNvPr id="99" name="trust-body-1">
            <a:extLst xmlns:a="http://schemas.openxmlformats.org/drawingml/2006/main">
              <a:ext uri="{FF2B5EF4-FFF2-40B4-BE49-F238E27FC236}">
                <a16:creationId xmlns:a16="http://schemas.microsoft.com/office/drawing/2014/main" id="{CDEAA39B-644E-4BFF-A930-9C2A69DA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rPr>
              <a:t>A natural-language instruction is not a transaction rule.</a:t>
            </a:r>
          </a:p>
        </p:txBody>
      </p:sp>
      <p:sp>
        <p:nvSpPr>
          <p:cNvPr id="100" name="trust-result-1">
            <a:extLst xmlns:a="http://schemas.openxmlformats.org/drawingml/2006/main">
              <a:ext uri="{FF2B5EF4-FFF2-40B4-BE49-F238E27FC236}">
                <a16:creationId xmlns:a16="http://schemas.microsoft.com/office/drawing/2014/main" id="{58486477-D96C-4DF8-A556-6B7409EA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12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12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12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12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12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12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12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12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12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7B6B6E"/>
                </a:solidFill>
                <a:latin typeface="Montserrat"/>
                <a:ea typeface="Montserrat"/>
                <a:cs typeface="Montserrat"/>
              </a:rPr>
              <a:t>No enforcement</a:t>
            </a:r>
          </a:p>
        </p:txBody>
      </p:sp>
      <p:sp>
        <p:nvSpPr>
          <p:cNvPr id="101" name="trust-rule-2">
            <a:extLst xmlns:a="http://schemas.openxmlformats.org/drawingml/2006/main">
              <a:ext uri="{FF2B5EF4-FFF2-40B4-BE49-F238E27FC236}">
                <a16:creationId xmlns:a16="http://schemas.microsoft.com/office/drawing/2014/main" id="{6ECF770D-8AF5-4C4D-BF1D-B0BA223D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76375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0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trust-label-2">
            <a:extLst xmlns:a="http://schemas.openxmlformats.org/drawingml/2006/main">
              <a:ext uri="{FF2B5EF4-FFF2-40B4-BE49-F238E27FC236}">
                <a16:creationId xmlns:a16="http://schemas.microsoft.com/office/drawing/2014/main" id="{48178F1A-8145-48A6-8887-EA3E6DA2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97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97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97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97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97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97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97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97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97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A00A2C"/>
                </a:solidFill>
                <a:latin typeface="Montserrat"/>
                <a:ea typeface="Montserrat"/>
                <a:cs typeface="Montserrat"/>
              </a:rPr>
              <a:t>CUSTODY</a:t>
            </a:r>
          </a:p>
        </p:txBody>
      </p:sp>
      <p:sp>
        <p:nvSpPr>
          <p:cNvPr id="103" name="trust-headline-2">
            <a:extLst xmlns:a="http://schemas.openxmlformats.org/drawingml/2006/main">
              <a:ext uri="{FF2B5EF4-FFF2-40B4-BE49-F238E27FC236}">
                <a16:creationId xmlns:a16="http://schemas.microsoft.com/office/drawing/2014/main" id="{0035AD82-77F5-4494-8B34-C8FD9BA5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764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Can freeze funds</a:t>
            </a:r>
          </a:p>
        </p:txBody>
      </p:sp>
      <p:sp>
        <p:nvSpPr>
          <p:cNvPr id="104" name="trust-body-2">
            <a:extLst xmlns:a="http://schemas.openxmlformats.org/drawingml/2006/main">
              <a:ext uri="{FF2B5EF4-FFF2-40B4-BE49-F238E27FC236}">
                <a16:creationId xmlns:a16="http://schemas.microsoft.com/office/drawing/2014/main" id="{ED3507B8-0019-49AF-8D4D-009FE534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860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rPr>
              <a:t>A third party controls the key and the release path.</a:t>
            </a:r>
          </a:p>
        </p:txBody>
      </p:sp>
      <p:sp>
        <p:nvSpPr>
          <p:cNvPr id="105" name="trust-result-2">
            <a:extLst xmlns:a="http://schemas.openxmlformats.org/drawingml/2006/main">
              <a:ext uri="{FF2B5EF4-FFF2-40B4-BE49-F238E27FC236}">
                <a16:creationId xmlns:a16="http://schemas.microsoft.com/office/drawing/2014/main" id="{F08E2FBE-0ED3-48D3-B606-F2D36A47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671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12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12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12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12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12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12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12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12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12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A00A2C"/>
                </a:solidFill>
                <a:latin typeface="Montserrat"/>
                <a:ea typeface="Montserrat"/>
                <a:cs typeface="Montserrat"/>
              </a:rPr>
              <a:t>Counterparty risk</a:t>
            </a:r>
          </a:p>
        </p:txBody>
      </p:sp>
      <p:sp>
        <p:nvSpPr>
          <p:cNvPr id="106" name="trust-rule-3">
            <a:extLst xmlns:a="http://schemas.openxmlformats.org/drawingml/2006/main">
              <a:ext uri="{FF2B5EF4-FFF2-40B4-BE49-F238E27FC236}">
                <a16:creationId xmlns:a16="http://schemas.microsoft.com/office/drawing/2014/main" id="{53EE3538-1304-41BE-9525-741FF8EF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76375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C1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trust-label-3">
            <a:extLst xmlns:a="http://schemas.openxmlformats.org/drawingml/2006/main">
              <a:ext uri="{FF2B5EF4-FFF2-40B4-BE49-F238E27FC236}">
                <a16:creationId xmlns:a16="http://schemas.microsoft.com/office/drawing/2014/main" id="{97E7E717-9B3F-42D1-84A9-9AE1518E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145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97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97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97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97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97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97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97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97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97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0AC18E"/>
                </a:solidFill>
                <a:latin typeface="Montserrat"/>
                <a:ea typeface="Montserrat"/>
                <a:cs typeface="Montserrat"/>
              </a:rPr>
              <a:t>COVENANT</a:t>
            </a:r>
          </a:p>
        </p:txBody>
      </p:sp>
      <p:sp>
        <p:nvSpPr>
          <p:cNvPr id="108" name="trust-headline-3">
            <a:extLst xmlns:a="http://schemas.openxmlformats.org/drawingml/2006/main">
              <a:ext uri="{FF2B5EF4-FFF2-40B4-BE49-F238E27FC236}">
                <a16:creationId xmlns:a16="http://schemas.microsoft.com/office/drawing/2014/main" id="{5445D806-ACEA-4427-81E9-CD521CAD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764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VM-enforced</a:t>
            </a:r>
          </a:p>
        </p:txBody>
      </p:sp>
      <p:sp>
        <p:nvSpPr>
          <p:cNvPr id="109" name="trust-body-3">
            <a:extLst xmlns:a="http://schemas.openxmlformats.org/drawingml/2006/main">
              <a:ext uri="{FF2B5EF4-FFF2-40B4-BE49-F238E27FC236}">
                <a16:creationId xmlns:a16="http://schemas.microsoft.com/office/drawing/2014/main" id="{79A1AD5B-B594-4DD9-A278-400CC718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860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rPr>
              <a:t>Category, amount, age and outputs are checked on spend.</a:t>
            </a:r>
          </a:p>
        </p:txBody>
      </p:sp>
      <p:sp>
        <p:nvSpPr>
          <p:cNvPr id="110" name="trust-result-3">
            <a:extLst xmlns:a="http://schemas.openxmlformats.org/drawingml/2006/main">
              <a:ext uri="{FF2B5EF4-FFF2-40B4-BE49-F238E27FC236}">
                <a16:creationId xmlns:a16="http://schemas.microsoft.com/office/drawing/2014/main" id="{F70AD57C-1C9B-4F79-B463-DDAAF740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671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12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12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12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12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12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12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12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12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12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0AC18E"/>
                </a:solidFill>
                <a:latin typeface="Montserrat"/>
                <a:ea typeface="Montserrat"/>
                <a:cs typeface="Montserrat"/>
              </a:rPr>
              <a:t>Rules execute</a:t>
            </a:r>
          </a:p>
        </p:txBody>
      </p:sp>
      <p:sp>
        <p:nvSpPr>
          <p:cNvPr id="111" name="trust-insight">
            <a:extLst xmlns:a="http://schemas.openxmlformats.org/drawingml/2006/main">
              <a:ext uri="{FF2B5EF4-FFF2-40B4-BE49-F238E27FC236}">
                <a16:creationId xmlns:a16="http://schemas.microsoft.com/office/drawing/2014/main" id="{0334A3E8-BC66-4033-A8E8-8C9494D1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defRPr sz="15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defRPr sz="15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defRPr sz="15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defRPr sz="15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defRPr sz="15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defRPr sz="15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defRPr sz="15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defRPr sz="15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defRPr sz="15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The spending limit must live in the transaction, not the prompt.</a:t>
            </a:r>
          </a:p>
        </p:txBody>
      </p:sp>
    </p:spTree>
    <p:extLst>
      <p:ext uri="{BB962C8B-B14F-4D97-AF65-F5344CB8AC3E}">
        <p14:creationId xmlns:p14="http://schemas.microsoft.com/office/powerpoint/2010/main" val="24639354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90607"/>
            </a:gs>
            <a:gs pos="68000">
              <a:srgbClr val="17090C"/>
            </a:gs>
            <a:gs pos="100000">
              <a:srgbClr val="240B10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Google Shape;103;p16">
            <a:extLst xmlns:a="http://schemas.openxmlformats.org/drawingml/2006/main">
              <a:ext uri="{FF2B5EF4-FFF2-40B4-BE49-F238E27FC236}">
                <a16:creationId xmlns:a16="http://schemas.microsoft.com/office/drawing/2014/main" id="{92C4C0DB-3701-48C9-9AA3-9A260D03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50" y="2243200"/>
            <a:ext cx="6835500" cy="10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05" name="Google Shape;105;p16">
            <a:extLst xmlns:a="http://schemas.openxmlformats.org/drawingml/2006/main">
              <a:ext uri="{FF2B5EF4-FFF2-40B4-BE49-F238E27FC236}">
                <a16:creationId xmlns:a16="http://schemas.microsoft.com/office/drawing/2014/main" id="{5237E532-7A15-43E1-A98B-3951A394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950" y="307250"/>
            <a:ext cx="5274600" cy="440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118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>
            <a:extLst xmlns:a="http://schemas.openxmlformats.org/drawingml/2006/main">
              <a:ext uri="{FF2B5EF4-FFF2-40B4-BE49-F238E27FC236}">
                <a16:creationId xmlns:a16="http://schemas.microsoft.com/office/drawing/2014/main" id="{705818FE-653A-4C89-9EE7-B425B735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425" y="2440350"/>
            <a:ext cx="823800" cy="26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062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>
            <a:extLst xmlns:a="http://schemas.openxmlformats.org/drawingml/2006/main">
              <a:ext uri="{FF2B5EF4-FFF2-40B4-BE49-F238E27FC236}">
                <a16:creationId xmlns:a16="http://schemas.microsoft.com/office/drawing/2014/main" id="{7FD3283A-4E24-452F-A455-16C8CB60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00" y="525450"/>
            <a:ext cx="2088000" cy="138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defRPr sz="30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defRPr sz="30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defRPr sz="30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defRPr sz="30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defRPr sz="30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defRPr sz="30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defRPr sz="30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defRPr sz="30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defRPr sz="30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3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One covenant,</a:t>
            </a:r>
            <a:endParaRPr sz="29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3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three users</a:t>
            </a:r>
            <a:endParaRPr sz="29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08" name="Google Shape;108;p16">
            <a:extLst xmlns:a="http://schemas.openxmlformats.org/drawingml/2006/main">
              <a:ext uri="{FF2B5EF4-FFF2-40B4-BE49-F238E27FC236}">
                <a16:creationId xmlns:a16="http://schemas.microsoft.com/office/drawing/2014/main" id="{8B25A581-D69A-45F3-BC90-45521DEB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450" y="525450"/>
            <a:ext cx="4782900" cy="389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indent="0" algn="l">
              <a:lnSpc>
                <a:spcPct val="108000"/>
              </a:lnSpc>
              <a:spcAft>
                <a:spcPts val="14"/>
              </a:spcAft>
              <a:buNone/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01  SPONSOR</a:t>
            </a:r>
            <a:b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</a:b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Locks PUSD. Keeps cancel control.</a:t>
            </a:r>
          </a:p>
          <a:p xmlns:a="http://schemas.openxmlformats.org/drawingml/2006/main">
            <a:pPr marL="0" indent="0" algn="l">
              <a:lnSpc>
                <a:spcPct val="108000"/>
              </a:lnSpc>
              <a:spcAft>
                <a:spcPts val="14"/>
              </a:spcAft>
              <a:buNone/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02  WORKER</a:t>
            </a:r>
            <a:b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</a:b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Claims one tranche per period.</a:t>
            </a:r>
          </a:p>
          <a:p xmlns:a="http://schemas.openxmlformats.org/drawingml/2006/main">
            <a:pPr marL="0" indent="0" algn="l">
              <a:lnSpc>
                <a:spcPct val="108000"/>
              </a:lnSpc>
              <a:spcAft>
                <a:spcPts val="14"/>
              </a:spcAft>
              <a:buNone/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03  AGENT</a:t>
            </a:r>
            <a:b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</a:b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Pays a service per request.</a:t>
            </a:r>
          </a:p>
          <a:p xmlns:a="http://schemas.openxmlformats.org/drawingml/2006/main">
            <a:pPr marL="0" indent="0" algn="l">
              <a:lnSpc>
                <a:spcPct val="108000"/>
              </a:lnSpc>
              <a:spcAft>
                <a:spcPts val="0"/>
              </a:spcAft>
              <a:buNone/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Shared rules: claim(), cancel(), amountPerPeriod, periodBlocks.</a:t>
            </a:r>
          </a:p>
        </p:txBody>
      </p:sp>
      <p:pic>
        <p:nvPicPr>
          <p:cNvPr id="109" name="Google Shape;109;p16">
            <a:extLst xmlns:a="http://schemas.openxmlformats.org/drawingml/2006/main">
              <a:ext uri="{FF2B5EF4-FFF2-40B4-BE49-F238E27FC236}">
                <a16:creationId xmlns:a16="http://schemas.microsoft.com/office/drawing/2014/main" id="{132C4273-B9C7-4CA4-99EB-6C77533511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c2f661c4a41c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2025" y="3738825"/>
            <a:ext cx="1750650" cy="1750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8809362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B0818C2-DC69-4B9B-B5E3-0FB77A02B804}"/>
              </a:ext>
            </a:extLst>
          </p:cNvPr>
          <p:cNvCxnSpPr>
            <a:stCxn xmlns:a="http://schemas.openxmlformats.org/drawingml/2006/main" id="119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5953125" y="2381250"/>
            <a:ext cx="381000" cy="738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9A6A9"/>
            </a:solidFill>
            <a:prstDash val="solid"/>
            <a:tailEnd type="arrow" w="med" len="med"/>
          </a:ln>
        </p:spPr>
      </p:cxnSp>
      <p:cxnSp>
        <p:nvCxn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405FD8C-CB07-49B2-B18D-3374EE9B7166}"/>
              </a:ext>
            </a:extLst>
          </p:cNvPr>
          <p:cNvCxnSpPr>
            <a:stCxn xmlns:a="http://schemas.openxmlformats.org/drawingml/2006/main" id="119" idx="3"/>
            <a:endCxn xmlns:a="http://schemas.openxmlformats.org/drawingml/2006/main" id="120" idx="1"/>
          </p:cNvCxnSpPr>
          <p:nvPr/>
        </p:nvCxnSpPr>
        <p:spPr>
          <a:xfrm xmlns:a="http://schemas.openxmlformats.org/drawingml/2006/main" flipV="1">
            <a:off x="5953125" y="1833563"/>
            <a:ext cx="381000" cy="547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AC18E"/>
            </a:solidFill>
            <a:prstDash val="solid"/>
            <a:tailEnd type="arrow" w="med" len="med"/>
          </a:ln>
        </p:spPr>
      </p:cxnSp>
      <p:cxnSp>
        <p:nvCxn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E806C46-28C0-45F8-A5A6-DB145AD67DD7}"/>
              </a:ext>
            </a:extLst>
          </p:cNvPr>
          <p:cNvCxnSpPr>
            <a:stCxn xmlns:a="http://schemas.openxmlformats.org/drawingml/2006/main" id="118" idx="3"/>
            <a:endCxn xmlns:a="http://schemas.openxmlformats.org/drawingml/2006/main" id="119" idx="1"/>
          </p:cNvCxnSpPr>
          <p:nvPr/>
        </p:nvCxnSpPr>
        <p:spPr>
          <a:xfrm xmlns:a="http://schemas.openxmlformats.org/drawingml/2006/main">
            <a:off x="2381250" y="2000250"/>
            <a:ext cx="333375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A6A9"/>
            </a:solidFill>
            <a:prstDash val="solid"/>
            <a:tailEnd type="arrow" w="med" len="med"/>
          </a:ln>
        </p:spPr>
      </p:cxnSp>
      <p:pic>
        <p:nvPicPr>
          <p:cNvPr id="114" name="Google Shape;114;p17">
            <a:extLst xmlns:a="http://schemas.openxmlformats.org/drawingml/2006/main">
              <a:ext uri="{FF2B5EF4-FFF2-40B4-BE49-F238E27FC236}">
                <a16:creationId xmlns:a16="http://schemas.microsoft.com/office/drawing/2014/main" id="{49C19566-CEE4-4CB5-B2DB-EB39D8E472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e73eab8fe482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93450"/>
            <a:ext cx="9144000" cy="495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5" name="Google Shape;115;p17">
            <a:extLst xmlns:a="http://schemas.openxmlformats.org/drawingml/2006/main">
              <a:ext uri="{FF2B5EF4-FFF2-40B4-BE49-F238E27FC236}">
                <a16:creationId xmlns:a16="http://schemas.microsoft.com/office/drawing/2014/main" id="{A9F78E7C-F279-4541-A2D2-49E093C48B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412f04ed1449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6" name="enforcement-title-bar">
            <a:extLst xmlns:a="http://schemas.openxmlformats.org/drawingml/2006/main">
              <a:ext uri="{FF2B5EF4-FFF2-40B4-BE49-F238E27FC236}">
                <a16:creationId xmlns:a16="http://schemas.microsoft.com/office/drawing/2014/main" id="{838EAFF4-61BA-4CFF-B56C-003A4B9D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06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enforcement-title">
            <a:extLst xmlns:a="http://schemas.openxmlformats.org/drawingml/2006/main">
              <a:ext uri="{FF2B5EF4-FFF2-40B4-BE49-F238E27FC236}">
                <a16:creationId xmlns:a16="http://schemas.microsoft.com/office/drawing/2014/main" id="{0BFD0142-EB7C-46A2-A5F1-7FC015F5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ctr">
              <a:defRPr sz="21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ctr">
              <a:defRPr sz="21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ctr">
              <a:defRPr sz="21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ctr">
              <a:defRPr sz="21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ctr">
              <a:defRPr sz="21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ctr">
              <a:defRPr sz="21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ctr">
              <a:defRPr sz="21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ctr">
              <a:defRPr sz="21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ctr">
              <a:defRPr sz="21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2175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The VM checks four things before PUSD moves</a:t>
            </a:r>
          </a:p>
        </p:txBody>
      </p:sp>
      <p:sp>
        <p:nvSpPr>
          <p:cNvPr id="118" name="input-vault">
            <a:extLst xmlns:a="http://schemas.openxmlformats.org/drawingml/2006/main">
              <a:ext uri="{FF2B5EF4-FFF2-40B4-BE49-F238E27FC236}">
                <a16:creationId xmlns:a16="http://schemas.microsoft.com/office/drawing/2014/main" id="{3EB79E35-1E3E-4AEB-9B95-43C9C703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714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0D0F"/>
          </a:solidFill>
          <a:ln xmlns:a="http://schemas.openxmlformats.org/drawingml/2006/main" w="9525">
            <a:solidFill>
              <a:srgbClr val="6F2430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VAULT UTXO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2.00 PUSD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One input only</a:t>
            </a:r>
          </a:p>
        </p:txBody>
      </p:sp>
      <p:sp>
        <p:nvSpPr>
          <p:cNvPr id="119" name="vm-gates">
            <a:extLst xmlns:a="http://schemas.openxmlformats.org/drawingml/2006/main">
              <a:ext uri="{FF2B5EF4-FFF2-40B4-BE49-F238E27FC236}">
                <a16:creationId xmlns:a16="http://schemas.microsoft.com/office/drawing/2014/main" id="{B0AF826D-6A94-4204-8D93-F24DBD1B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190625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B0C">
              <a:alpha val="94000"/>
            </a:srgbClr>
          </a:solidFill>
          <a:ln xmlns:a="http://schemas.openxmlformats.org/drawingml/2006/main" w="19050">
            <a:solidFill>
              <a:srgbClr val="A00A2C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VM REQUIREMENTS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01  category = PUSD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02  0 &lt; amount &lt;= 0.10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03  age &gt;= 2 blocks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04  outputs = 2</a:t>
            </a:r>
          </a:p>
        </p:txBody>
      </p:sp>
      <p:sp>
        <p:nvSpPr>
          <p:cNvPr id="120" name="output-payee">
            <a:extLst xmlns:a="http://schemas.openxmlformats.org/drawingml/2006/main">
              <a:ext uri="{FF2B5EF4-FFF2-40B4-BE49-F238E27FC236}">
                <a16:creationId xmlns:a16="http://schemas.microsoft.com/office/drawing/2014/main" id="{8D2E2B54-E9B1-4BCD-9822-2136648D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2143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0D0F"/>
          </a:solidFill>
          <a:ln xmlns:a="http://schemas.openxmlformats.org/drawingml/2006/main" w="9525">
            <a:solidFill>
              <a:srgbClr val="6F2430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PAYEE TRANCHE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amount PUSD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to the payee</a:t>
            </a:r>
          </a:p>
        </p:txBody>
      </p:sp>
      <p:sp>
        <p:nvSpPr>
          <p:cNvPr id="121" name="output-change">
            <a:extLst xmlns:a="http://schemas.openxmlformats.org/drawingml/2006/main">
              <a:ext uri="{FF2B5EF4-FFF2-40B4-BE49-F238E27FC236}">
                <a16:creationId xmlns:a16="http://schemas.microsoft.com/office/drawing/2014/main" id="{32B132A4-CDD3-4245-A708-73181B23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67000"/>
            <a:ext cx="2143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0D0F"/>
          </a:solidFill>
          <a:ln xmlns:a="http://schemas.openxmlformats.org/drawingml/2006/main" w="9525">
            <a:solidFill>
              <a:srgbClr val="6F2430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VAULT CHANGE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remaining PUSD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same covenant bytecode</a:t>
            </a:r>
          </a:p>
        </p:txBody>
      </p:sp>
      <p:sp>
        <p:nvSpPr>
          <p:cNvPr id="125" name="cancel-rule">
            <a:extLst xmlns:a="http://schemas.openxmlformats.org/drawingml/2006/main">
              <a:ext uri="{FF2B5EF4-FFF2-40B4-BE49-F238E27FC236}">
                <a16:creationId xmlns:a16="http://schemas.microsoft.com/office/drawing/2014/main" id="{3164DD76-6599-41DF-9504-B8BE46D3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0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cancel-path">
            <a:extLst xmlns:a="http://schemas.openxmlformats.org/drawingml/2006/main">
              <a:ext uri="{FF2B5EF4-FFF2-40B4-BE49-F238E27FC236}">
                <a16:creationId xmlns:a16="http://schemas.microsoft.com/office/drawing/2014/main" id="{4788737B-A5FD-4882-89F7-9C4B2399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rPr>
              <a:t>PAYER CANCEL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rPr>
              <a:t>Sweeps 100% of the remaining PUSD.</a:t>
            </a:r>
          </a:p>
        </p:txBody>
      </p:sp>
      <p:sp>
        <p:nvSpPr>
          <p:cNvPr id="127" name="claims-cannot-empty">
            <a:extLst xmlns:a="http://schemas.openxmlformats.org/drawingml/2006/main">
              <a:ext uri="{FF2B5EF4-FFF2-40B4-BE49-F238E27FC236}">
                <a16:creationId xmlns:a16="http://schemas.microsoft.com/office/drawing/2014/main" id="{5E136158-DF0C-4895-87C9-A5F51009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148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425" b="1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defPPr>
            <a:lvl1pPr algn="r">
              <a:defRPr sz="1425" b="1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1pPr>
            <a:lvl2pPr algn="r">
              <a:defRPr sz="1425" b="1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2pPr>
            <a:lvl3pPr algn="r">
              <a:defRPr sz="1425" b="1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3pPr>
            <a:lvl4pPr algn="r">
              <a:defRPr sz="1425" b="1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4pPr>
            <a:lvl5pPr algn="r">
              <a:defRPr sz="1425" b="1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5pPr>
            <a:lvl6pPr algn="r">
              <a:defRPr sz="1425" b="1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6pPr>
            <a:lvl7pPr algn="r">
              <a:defRPr sz="1425" b="1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7pPr>
            <a:lvl8pPr algn="r">
              <a:defRPr sz="1425" b="1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8pPr>
            <a:lvl9pPr algn="r">
              <a:defRPr sz="1425" b="1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E6D8DA"/>
                </a:solidFill>
                <a:latin typeface="Montserrat"/>
                <a:ea typeface="Montserrat"/>
                <a:cs typeface="Montserrat"/>
              </a:rPr>
              <a:t>Claims cannot empty the vault.</a:t>
            </a:r>
          </a:p>
        </p:txBody>
      </p:sp>
    </p:spTree>
    <p:extLst>
      <p:ext uri="{BB962C8B-B14F-4D97-AF65-F5344CB8AC3E}">
        <p14:creationId xmlns:p14="http://schemas.microsoft.com/office/powerpoint/2010/main" val="175648352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90607"/>
            </a:gs>
            <a:gs pos="68000">
              <a:srgbClr val="17090C"/>
            </a:gs>
            <a:gs pos="100000">
              <a:srgbClr val="240B10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Google Shape;122;p18">
            <a:extLst xmlns:a="http://schemas.openxmlformats.org/drawingml/2006/main">
              <a:ext uri="{FF2B5EF4-FFF2-40B4-BE49-F238E27FC236}">
                <a16:creationId xmlns:a16="http://schemas.microsoft.com/office/drawing/2014/main" id="{1C40CEDA-4756-40AF-9F93-720C0E8A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50" y="2243200"/>
            <a:ext cx="6835500" cy="10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C9BF1873-BCF9-4762-9A38-74616C9C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950" y="307250"/>
            <a:ext cx="5274600" cy="440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118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>
            <a:extLst xmlns:a="http://schemas.openxmlformats.org/drawingml/2006/main">
              <a:ext uri="{FF2B5EF4-FFF2-40B4-BE49-F238E27FC236}">
                <a16:creationId xmlns:a16="http://schemas.microsoft.com/office/drawing/2014/main" id="{EB4B5D38-F470-4B1A-B283-D117C6C4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425" y="2440350"/>
            <a:ext cx="823800" cy="26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062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">
            <a:extLst xmlns:a="http://schemas.openxmlformats.org/drawingml/2006/main">
              <a:ext uri="{FF2B5EF4-FFF2-40B4-BE49-F238E27FC236}">
                <a16:creationId xmlns:a16="http://schemas.microsoft.com/office/drawing/2014/main" id="{6DC62F68-6DB1-4181-8F2A-47FD4A8B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00" y="525450"/>
            <a:ext cx="2088000" cy="138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defRPr sz="33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defRPr sz="33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defRPr sz="33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defRPr sz="33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defRPr sz="33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defRPr sz="33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defRPr sz="33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defRPr sz="33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defRPr sz="33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33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Why BCH</a:t>
            </a:r>
            <a:endParaRPr sz="29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27" name="why-bch-rule">
            <a:extLst xmlns:a="http://schemas.openxmlformats.org/drawingml/2006/main">
              <a:ext uri="{FF2B5EF4-FFF2-40B4-BE49-F238E27FC236}">
                <a16:creationId xmlns:a16="http://schemas.microsoft.com/office/drawing/2014/main" id="{5599F58A-F2B2-490F-ACD9-526DE878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3875"/>
            <a:ext cx="381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06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why-bch-label">
            <a:extLst xmlns:a="http://schemas.openxmlformats.org/drawingml/2006/main">
              <a:ext uri="{FF2B5EF4-FFF2-40B4-BE49-F238E27FC236}">
                <a16:creationId xmlns:a16="http://schemas.microsoft.com/office/drawing/2014/main" id="{2E850C34-4BBF-408D-ADC7-8371AD50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238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975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975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975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975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975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975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975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975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975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D08C98"/>
                </a:solidFill>
                <a:latin typeface="Montserrat"/>
                <a:ea typeface="Montserrat"/>
                <a:cs typeface="Montserrat"/>
              </a:rPr>
              <a:t>WHY BCH</a:t>
            </a:r>
          </a:p>
        </p:txBody>
      </p:sp>
      <p:sp>
        <p:nvSpPr>
          <p:cNvPr id="129" name="why-bch-points">
            <a:extLst xmlns:a="http://schemas.openxmlformats.org/drawingml/2006/main">
              <a:ext uri="{FF2B5EF4-FFF2-40B4-BE49-F238E27FC236}">
                <a16:creationId xmlns:a16="http://schemas.microsoft.com/office/drawing/2014/main" id="{721AA6DE-D36B-4000-BCD9-849CE14D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38200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01  Sub-cent settlement makes $0.01 calls practical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02  CashTokens conserve PUSD on chain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03  Relative timelocks enforce the period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04  WizardConnect keeps keys in the wallet</a:t>
            </a:r>
          </a:p>
        </p:txBody>
      </p:sp>
      <p:sp>
        <p:nvSpPr>
          <p:cNvPr id="130" name="product-path-rule">
            <a:extLst xmlns:a="http://schemas.openxmlformats.org/drawingml/2006/main">
              <a:ext uri="{FF2B5EF4-FFF2-40B4-BE49-F238E27FC236}">
                <a16:creationId xmlns:a16="http://schemas.microsoft.com/office/drawing/2014/main" id="{80B0592A-B963-4CB4-AD99-5256CE91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381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C1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roduct-path-label">
            <a:extLst xmlns:a="http://schemas.openxmlformats.org/drawingml/2006/main">
              <a:ext uri="{FF2B5EF4-FFF2-40B4-BE49-F238E27FC236}">
                <a16:creationId xmlns:a16="http://schemas.microsoft.com/office/drawing/2014/main" id="{AE3EAD2A-AFA3-4D8E-8087-678E3820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571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8AE6C6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975" b="1">
                <a:solidFill>
                  <a:srgbClr val="8AE6C6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975" b="1">
                <a:solidFill>
                  <a:srgbClr val="8AE6C6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975" b="1">
                <a:solidFill>
                  <a:srgbClr val="8AE6C6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975" b="1">
                <a:solidFill>
                  <a:srgbClr val="8AE6C6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975" b="1">
                <a:solidFill>
                  <a:srgbClr val="8AE6C6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975" b="1">
                <a:solidFill>
                  <a:srgbClr val="8AE6C6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975" b="1">
                <a:solidFill>
                  <a:srgbClr val="8AE6C6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975" b="1">
                <a:solidFill>
                  <a:srgbClr val="8AE6C6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975" b="1">
                <a:solidFill>
                  <a:srgbClr val="8AE6C6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E6C6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8AE6C6"/>
                </a:solidFill>
                <a:latin typeface="Montserrat"/>
                <a:ea typeface="Montserrat"/>
                <a:cs typeface="Montserrat"/>
              </a:rPr>
              <a:t>PRODUCT PATH</a:t>
            </a:r>
          </a:p>
        </p:txBody>
      </p:sp>
      <p:sp>
        <p:nvSpPr>
          <p:cNvPr id="132" name="product-path-points">
            <a:extLst xmlns:a="http://schemas.openxmlformats.org/drawingml/2006/main">
              <a:ext uri="{FF2B5EF4-FFF2-40B4-BE49-F238E27FC236}">
                <a16:creationId xmlns:a16="http://schemas.microsoft.com/office/drawing/2014/main" id="{E115E04A-70C5-48A9-9FFD-08794CB7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886075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Hosted budget console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Provider SDK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Agent billing gateway</a:t>
            </a:r>
          </a:p>
        </p:txBody>
      </p:sp>
      <p:sp>
        <p:nvSpPr>
          <p:cNvPr id="133" name="product-path-note">
            <a:extLst xmlns:a="http://schemas.openxmlformats.org/drawingml/2006/main">
              <a:ext uri="{FF2B5EF4-FFF2-40B4-BE49-F238E27FC236}">
                <a16:creationId xmlns:a16="http://schemas.microsoft.com/office/drawing/2014/main" id="{F3A45817-3B1C-48EE-872C-8BCE74E1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09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05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05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05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05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05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05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05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05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05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B9A6A9"/>
                </a:solidFill>
                <a:latin typeface="Montserrat"/>
                <a:ea typeface="Montserrat"/>
                <a:cs typeface="Montserrat"/>
              </a:rPr>
              <a:t>No protocol fee in the covenant.</a:t>
            </a:r>
          </a:p>
        </p:txBody>
      </p:sp>
    </p:spTree>
    <p:extLst>
      <p:ext uri="{BB962C8B-B14F-4D97-AF65-F5344CB8AC3E}">
        <p14:creationId xmlns:p14="http://schemas.microsoft.com/office/powerpoint/2010/main" val="7528614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3" name="Google Shape;133;p19">
            <a:extLst xmlns:a="http://schemas.openxmlformats.org/drawingml/2006/main">
              <a:ext uri="{FF2B5EF4-FFF2-40B4-BE49-F238E27FC236}">
                <a16:creationId xmlns:a16="http://schemas.microsoft.com/office/drawing/2014/main" id="{E19CC4AC-C048-4E98-B3BC-FBEDD0F113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5e75a2d444f1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4" name="Google Shape;134;p19">
            <a:extLst xmlns:a="http://schemas.openxmlformats.org/drawingml/2006/main">
              <a:ext uri="{FF2B5EF4-FFF2-40B4-BE49-F238E27FC236}">
                <a16:creationId xmlns:a16="http://schemas.microsoft.com/office/drawing/2014/main" id="{DA0212FD-E417-4C6E-BF33-C1C0DB61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50" y="2243200"/>
            <a:ext cx="6835500" cy="10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35" name="Google Shape;135;p19">
            <a:extLst xmlns:a="http://schemas.openxmlformats.org/drawingml/2006/main">
              <a:ext uri="{FF2B5EF4-FFF2-40B4-BE49-F238E27FC236}">
                <a16:creationId xmlns:a16="http://schemas.microsoft.com/office/drawing/2014/main" id="{ED7A8F0A-07DE-4AC1-8621-48764C26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6205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defPPr algn="ctr">
              <a:defRPr sz="45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ctr">
              <a:defRPr sz="45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ctr">
              <a:defRPr sz="45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ctr">
              <a:defRPr sz="45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ctr">
              <a:defRPr sz="45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ctr">
              <a:defRPr sz="45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ctr">
              <a:defRPr sz="45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ctr">
              <a:defRPr sz="45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ctr">
              <a:defRPr sz="45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ctr">
              <a:defRPr sz="45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45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StreamVault.cash</a:t>
            </a:r>
            <a:endParaRPr sz="77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41" name="Google Shape;141;p19">
            <a:extLst xmlns:a="http://schemas.openxmlformats.org/drawingml/2006/main">
              <a:ext uri="{FF2B5EF4-FFF2-40B4-BE49-F238E27FC236}">
                <a16:creationId xmlns:a16="http://schemas.microsoft.com/office/drawing/2014/main" id="{D494A449-F32B-47C8-8428-D29953DD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125" y="4247925"/>
            <a:ext cx="1780200" cy="1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2" name="Google Shape;142;p19">
            <a:extLst xmlns:a="http://schemas.openxmlformats.org/drawingml/2006/main">
              <a:ext uri="{FF2B5EF4-FFF2-40B4-BE49-F238E27FC236}">
                <a16:creationId xmlns:a16="http://schemas.microsoft.com/office/drawing/2014/main" id="{722EBD22-7300-408D-AB1B-857E8C14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750" y="4572000"/>
            <a:ext cx="1336500" cy="29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43" name="Google Shape;143;p19">
            <a:extLst xmlns:a="http://schemas.openxmlformats.org/drawingml/2006/main">
              <a:ext uri="{FF2B5EF4-FFF2-40B4-BE49-F238E27FC236}">
                <a16:creationId xmlns:a16="http://schemas.microsoft.com/office/drawing/2014/main" id="{9DA77833-2568-44EB-9435-0EA48DD7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675" y="4587250"/>
            <a:ext cx="983700" cy="29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44" name="Google Shape;144;p19">
            <a:extLst xmlns:a="http://schemas.openxmlformats.org/drawingml/2006/main">
              <a:ext uri="{FF2B5EF4-FFF2-40B4-BE49-F238E27FC236}">
                <a16:creationId xmlns:a16="http://schemas.microsoft.com/office/drawing/2014/main" id="{816539A4-5679-4E61-9BA1-F0B612E3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36475" y="1531850"/>
            <a:ext cx="3711900" cy="260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2"/>
              </a:solidFill>
            </a:endParaRPr>
          </a:p>
        </p:txBody>
      </p:sp>
      <p:sp>
        <p:nvSpPr>
          <p:cNvPr id="145" name="cta-tagline">
            <a:extLst xmlns:a="http://schemas.openxmlformats.org/drawingml/2006/main">
              <a:ext uri="{FF2B5EF4-FFF2-40B4-BE49-F238E27FC236}">
                <a16:creationId xmlns:a16="http://schemas.microsoft.com/office/drawing/2014/main" id="{729557CA-38A3-4E06-BA84-2E31F1BC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38375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ctr"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ctr"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ctr"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ctr"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ctr"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ctr"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ctr"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ctr"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ctr"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Give an AI an allowance, not your bank account.</a:t>
            </a:r>
          </a:p>
        </p:txBody>
      </p:sp>
      <p:sp>
        <p:nvSpPr>
          <p:cNvPr id="146" name="cta-rule">
            <a:extLst xmlns:a="http://schemas.openxmlformats.org/drawingml/2006/main">
              <a:ext uri="{FF2B5EF4-FFF2-40B4-BE49-F238E27FC236}">
                <a16:creationId xmlns:a16="http://schemas.microsoft.com/office/drawing/2014/main" id="{0FC77828-6D16-4AE1-9E71-69101161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857500"/>
            <a:ext cx="295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06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cta-links">
            <a:extLst xmlns:a="http://schemas.openxmlformats.org/drawingml/2006/main">
              <a:ext uri="{FF2B5EF4-FFF2-40B4-BE49-F238E27FC236}">
                <a16:creationId xmlns:a16="http://schemas.microsoft.com/office/drawing/2014/main" id="{328B24DE-3599-4365-8923-41A3595F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95625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defPPr>
            <a:lvl1pPr algn="ctr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1pPr>
            <a:lvl2pPr algn="ctr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2pPr>
            <a:lvl3pPr algn="ctr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3pPr>
            <a:lvl4pPr algn="ctr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4pPr>
            <a:lvl5pPr algn="ctr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5pPr>
            <a:lvl6pPr algn="ctr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6pPr>
            <a:lvl7pPr algn="ctr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7pPr>
            <a:lvl8pPr algn="ctr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8pPr>
            <a:lvl9pPr algn="ctr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rPr>
              <a:t>Live demo   /   Google Slides   /   GitHub</a:t>
            </a:r>
          </a:p>
        </p:txBody>
      </p:sp>
      <p:sp>
        <p:nvSpPr>
          <p:cNvPr id="148" name="cta-address-label">
            <a:extLst xmlns:a="http://schemas.openxmlformats.org/drawingml/2006/main">
              <a:ext uri="{FF2B5EF4-FFF2-40B4-BE49-F238E27FC236}">
                <a16:creationId xmlns:a16="http://schemas.microsoft.com/office/drawing/2014/main" id="{59CAA0D1-D10F-487A-AE61-FB5EE56D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33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defPPr>
            <a:lvl1pPr algn="ctr">
              <a:defRPr sz="900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1pPr>
            <a:lvl2pPr algn="ctr">
              <a:defRPr sz="900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2pPr>
            <a:lvl3pPr algn="ctr">
              <a:defRPr sz="900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3pPr>
            <a:lvl4pPr algn="ctr">
              <a:defRPr sz="900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4pPr>
            <a:lvl5pPr algn="ctr">
              <a:defRPr sz="900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5pPr>
            <a:lvl6pPr algn="ctr">
              <a:defRPr sz="900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6pPr>
            <a:lvl7pPr algn="ctr">
              <a:defRPr sz="900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7pPr>
            <a:lvl8pPr algn="ctr">
              <a:defRPr sz="900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8pPr>
            <a:lvl9pPr algn="ctr">
              <a:defRPr sz="900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D08C98"/>
                </a:solidFill>
                <a:latin typeface="Montserrat"/>
                <a:ea typeface="Montserrat"/>
                <a:cs typeface="Montserrat"/>
              </a:rPr>
              <a:t>CASHTOKENS (MAINNET)</a:t>
            </a:r>
          </a:p>
        </p:txBody>
      </p:sp>
      <p:sp>
        <p:nvSpPr>
          <p:cNvPr id="149" name="cta-address">
            <a:extLst xmlns:a="http://schemas.openxmlformats.org/drawingml/2006/main">
              <a:ext uri="{FF2B5EF4-FFF2-40B4-BE49-F238E27FC236}">
                <a16:creationId xmlns:a16="http://schemas.microsoft.com/office/drawing/2014/main" id="{EBA40E79-7574-49A0-8688-35A5C96E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71925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0">
                <a:solidFill>
                  <a:srgbClr val="E6D8DA"/>
                </a:solidFill>
                <a:latin typeface="Roboto Mono"/>
                <a:ea typeface="Roboto Mono"/>
                <a:cs typeface="Roboto Mono"/>
              </a:defRPr>
            </a:defPPr>
            <a:lvl1pPr algn="ctr">
              <a:defRPr sz="1275" b="0">
                <a:solidFill>
                  <a:srgbClr val="E6D8DA"/>
                </a:solidFill>
                <a:latin typeface="Roboto Mono"/>
                <a:ea typeface="Roboto Mono"/>
                <a:cs typeface="Roboto Mono"/>
              </a:defRPr>
            </a:lvl1pPr>
            <a:lvl2pPr algn="ctr">
              <a:defRPr sz="1275" b="0">
                <a:solidFill>
                  <a:srgbClr val="E6D8DA"/>
                </a:solidFill>
                <a:latin typeface="Roboto Mono"/>
                <a:ea typeface="Roboto Mono"/>
                <a:cs typeface="Roboto Mono"/>
              </a:defRPr>
            </a:lvl2pPr>
            <a:lvl3pPr algn="ctr">
              <a:defRPr sz="1275" b="0">
                <a:solidFill>
                  <a:srgbClr val="E6D8DA"/>
                </a:solidFill>
                <a:latin typeface="Roboto Mono"/>
                <a:ea typeface="Roboto Mono"/>
                <a:cs typeface="Roboto Mono"/>
              </a:defRPr>
            </a:lvl3pPr>
            <a:lvl4pPr algn="ctr">
              <a:defRPr sz="1275" b="0">
                <a:solidFill>
                  <a:srgbClr val="E6D8DA"/>
                </a:solidFill>
                <a:latin typeface="Roboto Mono"/>
                <a:ea typeface="Roboto Mono"/>
                <a:cs typeface="Roboto Mono"/>
              </a:defRPr>
            </a:lvl4pPr>
            <a:lvl5pPr algn="ctr">
              <a:defRPr sz="1275" b="0">
                <a:solidFill>
                  <a:srgbClr val="E6D8DA"/>
                </a:solidFill>
                <a:latin typeface="Roboto Mono"/>
                <a:ea typeface="Roboto Mono"/>
                <a:cs typeface="Roboto Mono"/>
              </a:defRPr>
            </a:lvl5pPr>
            <a:lvl6pPr algn="ctr">
              <a:defRPr sz="1275" b="0">
                <a:solidFill>
                  <a:srgbClr val="E6D8DA"/>
                </a:solidFill>
                <a:latin typeface="Roboto Mono"/>
                <a:ea typeface="Roboto Mono"/>
                <a:cs typeface="Roboto Mono"/>
              </a:defRPr>
            </a:lvl6pPr>
            <a:lvl7pPr algn="ctr">
              <a:defRPr sz="1275" b="0">
                <a:solidFill>
                  <a:srgbClr val="E6D8DA"/>
                </a:solidFill>
                <a:latin typeface="Roboto Mono"/>
                <a:ea typeface="Roboto Mono"/>
                <a:cs typeface="Roboto Mono"/>
              </a:defRPr>
            </a:lvl7pPr>
            <a:lvl8pPr algn="ctr">
              <a:defRPr sz="1275" b="0">
                <a:solidFill>
                  <a:srgbClr val="E6D8DA"/>
                </a:solidFill>
                <a:latin typeface="Roboto Mono"/>
                <a:ea typeface="Roboto Mono"/>
                <a:cs typeface="Roboto Mono"/>
              </a:defRPr>
            </a:lvl8pPr>
            <a:lvl9pPr algn="ctr">
              <a:defRPr sz="1275" b="0">
                <a:solidFill>
                  <a:srgbClr val="E6D8DA"/>
                </a:solidFill>
                <a:latin typeface="Roboto Mono"/>
                <a:ea typeface="Roboto Mono"/>
                <a:cs typeface="Roboto Mono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6D8DA"/>
                </a:solidFill>
                <a:latin typeface="Roboto Mono"/>
                <a:ea typeface="Roboto Mono"/>
                <a:cs typeface="Roboto Mono"/>
              </a:defRPr>
            </a:pPr>
            <a:r>
              <a:rPr sz="1275" b="0">
                <a:solidFill>
                  <a:srgbClr val="E6D8DA"/>
                </a:solidFill>
                <a:latin typeface="Roboto Mono"/>
                <a:ea typeface="Roboto Mono"/>
                <a:cs typeface="Roboto Mono"/>
              </a:rPr>
              <a:t>bitcoincash:zzlgvjs8fvqdf43nz9yklcd0eh780x2xd5d9dxrnkv</a:t>
            </a:r>
          </a:p>
        </p:txBody>
      </p:sp>
    </p:spTree>
    <p:extLst>
      <p:ext uri="{BB962C8B-B14F-4D97-AF65-F5344CB8AC3E}">
        <p14:creationId xmlns:p14="http://schemas.microsoft.com/office/powerpoint/2010/main" val="2106354357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2026-10-18T16:02:49.1850000Z</dcterms:created>
  <dcterms:modified xsi:type="dcterms:W3CDTF">2026-10-18T16:02:49.1850000Z</dcterms:modified>
</coreProperties>
</file>